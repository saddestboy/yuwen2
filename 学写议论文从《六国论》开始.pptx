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67" r:id="rId4"/>
    <p:sldId id="269" r:id="rId5"/>
    <p:sldId id="270" r:id="rId6"/>
    <p:sldId id="306" r:id="rId7"/>
    <p:sldId id="305" r:id="rId8"/>
    <p:sldId id="271" r:id="rId9"/>
    <p:sldId id="307" r:id="rId10"/>
    <p:sldId id="272" r:id="rId11"/>
    <p:sldId id="308" r:id="rId12"/>
    <p:sldId id="304" r:id="rId13"/>
    <p:sldId id="282" r:id="rId14"/>
    <p:sldId id="258" r:id="rId15"/>
    <p:sldId id="261" r:id="rId16"/>
    <p:sldId id="309" r:id="rId17"/>
    <p:sldId id="262" r:id="rId18"/>
    <p:sldId id="273" r:id="rId19"/>
    <p:sldId id="313" r:id="rId20"/>
    <p:sldId id="274" r:id="rId21"/>
    <p:sldId id="311" r:id="rId22"/>
    <p:sldId id="303" r:id="rId23"/>
    <p:sldId id="275" r:id="rId24"/>
    <p:sldId id="276" r:id="rId25"/>
    <p:sldId id="277" r:id="rId26"/>
    <p:sldId id="279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333399"/>
    <a:srgbClr val="F7092B"/>
    <a:srgbClr val="FFFF00"/>
    <a:srgbClr val="8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/>
    <p:restoredTop sz="94601"/>
  </p:normalViewPr>
  <p:slideViewPr>
    <p:cSldViewPr showGuides="1">
      <p:cViewPr varScale="1">
        <p:scale>
          <a:sx n="109" d="100"/>
          <a:sy n="109" d="100"/>
        </p:scale>
        <p:origin x="9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6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5" name="图片 59401" descr="$J6M9HMOLF3]2GQ39[KT2B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35600" y="6165850"/>
            <a:ext cx="3214688" cy="476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kumimoji="0" lang="zh-CN" altLang="en-US" strike="noStrike" noProof="1" smtClean="0"/>
              <a:t>单击此处编辑母版标题样式</a:t>
            </a:r>
            <a:endParaRPr kumimoji="0" 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fontAlgn="auto" latinLnBrk="0" hangingPunct="1"/>
            <a:r>
              <a:rPr lang="zh-CN" altLang="en-US" strike="noStrike" noProof="1" smtClean="0"/>
              <a:t>单击此处编辑母版文本样式</a:t>
            </a:r>
          </a:p>
          <a:p>
            <a:pPr lvl="1" eaLnBrk="1" fontAlgn="auto" latinLnBrk="0" hangingPunct="1"/>
            <a:r>
              <a:rPr lang="zh-CN" altLang="en-US" strike="noStrike" noProof="1" smtClean="0"/>
              <a:t>第二级</a:t>
            </a:r>
          </a:p>
          <a:p>
            <a:pPr lvl="2" eaLnBrk="1" fontAlgn="auto" latinLnBrk="0" hangingPunct="1"/>
            <a:r>
              <a:rPr lang="zh-CN" altLang="en-US" strike="noStrike" noProof="1" smtClean="0"/>
              <a:t>第三级</a:t>
            </a:r>
          </a:p>
          <a:p>
            <a:pPr lvl="3" eaLnBrk="1" fontAlgn="auto" latinLnBrk="0" hangingPunct="1"/>
            <a:r>
              <a:rPr lang="zh-CN" altLang="en-US" strike="noStrike" noProof="1" smtClean="0"/>
              <a:t>第四级</a:t>
            </a:r>
          </a:p>
          <a:p>
            <a:pPr lvl="4" eaLnBrk="1" fontAlgn="auto" latinLnBrk="0" hangingPunct="1"/>
            <a:r>
              <a:rPr lang="zh-CN" altLang="en-US" strike="noStrike" noProof="1" smtClean="0"/>
              <a:t>第五级</a:t>
            </a:r>
            <a:endParaRPr kumimoji="0" lang="en-US" strike="noStrike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lvl="0" algn="ctr" fontAlgn="base"/>
            <a:fld id="{9A0DB2DC-4C9A-4742-B13C-FB6460FD3503}" type="slidenum">
              <a:rPr lang="zh-CN" altLang="en-US" sz="1100" strike="noStrike" noProof="1" dirty="0">
                <a:solidFill>
                  <a:srgbClr val="636363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100" strike="noStrike" noProof="1">
              <a:solidFill>
                <a:srgbClr val="636363"/>
              </a:solidFill>
            </a:endParaRPr>
          </a:p>
        </p:txBody>
      </p:sp>
    </p:spTree>
  </p:cSld>
  <p:clrMapOvr>
    <a:masterClrMapping/>
  </p:clrMapOvr>
  <p:transition>
    <p:comb dir="vert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文本占位符 2"/>
          <p:cNvSpPr>
            <a:spLocks noGrp="1"/>
          </p:cNvSpPr>
          <p:nvPr>
            <p:ph type="body"/>
          </p:nvPr>
        </p:nvSpPr>
        <p:spPr>
          <a:xfrm>
            <a:off x="468313" y="404813"/>
            <a:ext cx="8229600" cy="58816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>
    <p:comb dir="vert"/>
  </p:transition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1"/>
          <p:cNvSpPr>
            <a:spLocks noGrp="1"/>
          </p:cNvSpPr>
          <p:nvPr>
            <p:ph type="title"/>
          </p:nvPr>
        </p:nvSpPr>
        <p:spPr>
          <a:xfrm>
            <a:off x="684213" y="1700213"/>
            <a:ext cx="7772400" cy="2233612"/>
          </a:xfrm>
          <a:prstGeom prst="rect">
            <a:avLst/>
          </a:prstGeom>
          <a:noFill/>
          <a:ln>
            <a:noFill/>
          </a:ln>
        </p:spPr>
        <p:txBody>
          <a:bodyPr vert="horz" wrap="square" anchor="b"/>
          <a:lstStyle/>
          <a:p>
            <a:pPr>
              <a:lnSpc>
                <a:spcPct val="165000"/>
              </a:lnSpc>
            </a:pPr>
            <a:r>
              <a:rPr lang="zh-CN" altLang="en-US" b="1" dirty="0">
                <a:latin typeface="微软雅黑" panose="020B0503020204020204" pitchFamily="34" charset="-122"/>
              </a:rPr>
              <a:t>学写议论文</a:t>
            </a:r>
            <a:br>
              <a:rPr lang="zh-CN" altLang="en-US" b="1" dirty="0">
                <a:latin typeface="微软雅黑" panose="020B0503020204020204" pitchFamily="34" charset="-122"/>
              </a:rPr>
            </a:br>
            <a:r>
              <a:rPr lang="zh-CN" altLang="en-US" b="1" dirty="0">
                <a:latin typeface="微软雅黑" panose="020B0503020204020204" pitchFamily="34" charset="-122"/>
              </a:rPr>
              <a:t>从</a:t>
            </a:r>
            <a:r>
              <a:rPr lang="en-US" altLang="zh-CN" b="1">
                <a:latin typeface="微软雅黑" panose="020B0503020204020204" pitchFamily="34" charset="-122"/>
              </a:rPr>
              <a:t>《</a:t>
            </a:r>
            <a:r>
              <a:rPr lang="zh-CN" altLang="en-US" b="1" dirty="0">
                <a:latin typeface="微软雅黑" panose="020B0503020204020204" pitchFamily="34" charset="-122"/>
              </a:rPr>
              <a:t>六国论</a:t>
            </a:r>
            <a:r>
              <a:rPr lang="en-US" altLang="zh-CN" b="1">
                <a:latin typeface="微软雅黑" panose="020B0503020204020204" pitchFamily="34" charset="-122"/>
              </a:rPr>
              <a:t>》</a:t>
            </a:r>
            <a:r>
              <a:rPr lang="zh-CN" altLang="en-US" b="1" dirty="0">
                <a:latin typeface="微软雅黑" panose="020B0503020204020204" pitchFamily="34" charset="-122"/>
              </a:rPr>
              <a:t>开始 </a:t>
            </a:r>
          </a:p>
        </p:txBody>
      </p:sp>
    </p:spTree>
  </p:cSld>
  <p:clrMapOvr>
    <a:masterClrMapping/>
  </p:clrMapOvr>
  <p:transition>
    <p:comb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矩形 20483"/>
          <p:cNvSpPr/>
          <p:nvPr/>
        </p:nvSpPr>
        <p:spPr>
          <a:xfrm>
            <a:off x="1331913" y="2420938"/>
            <a:ext cx="6769100" cy="7620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sz="4400" b="1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《</a:t>
            </a:r>
            <a:r>
              <a:rPr lang="zh-CN" altLang="en-US" sz="4400" b="1" dirty="0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六国论</a:t>
            </a:r>
            <a:r>
              <a:rPr lang="en-US" altLang="zh-CN" sz="4400" b="1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》</a:t>
            </a:r>
            <a:r>
              <a:rPr lang="zh-CN" altLang="en-US" sz="4400" b="1" dirty="0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之开头</a:t>
            </a:r>
            <a:r>
              <a:rPr lang="en-US" altLang="zh-CN" sz="4400" b="1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——</a:t>
            </a:r>
            <a:r>
              <a:rPr lang="zh-CN" altLang="en-US" sz="4400" b="1" dirty="0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精</a:t>
            </a:r>
          </a:p>
        </p:txBody>
      </p:sp>
    </p:spTree>
  </p:cSld>
  <p:clrMapOvr>
    <a:masterClrMapping/>
  </p:clrMapOvr>
  <p:transition spd="slow"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内容占位符 2"/>
          <p:cNvSpPr>
            <a:spLocks noGrp="1"/>
          </p:cNvSpPr>
          <p:nvPr>
            <p:ph idx="1"/>
          </p:nvPr>
        </p:nvSpPr>
        <p:spPr>
          <a:xfrm>
            <a:off x="395288" y="477838"/>
            <a:ext cx="8351837" cy="3095625"/>
          </a:xfrm>
          <a:ln/>
        </p:spPr>
        <p:txBody>
          <a:bodyPr vert="horz" wrap="square" anchor="t"/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六国破灭，非兵不利，战不善，弊在赂秦。赂秦而力亏，破灭之道也。或曰：“六国互丧，率赂秦耶？”曰：“不赂者以赂者丧，盖失强援，不能独完。故曰，弊在赂秦也。”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508" name="矩形 21507"/>
          <p:cNvSpPr/>
          <p:nvPr/>
        </p:nvSpPr>
        <p:spPr>
          <a:xfrm>
            <a:off x="323850" y="3644900"/>
            <a:ext cx="8496300" cy="228758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开篇点题，体现全文中心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弊在赂秦，语句通顺流畅，开门见山直入题旨，作者的观点一目了然，可谓一“精”字。</a:t>
            </a:r>
          </a:p>
        </p:txBody>
      </p:sp>
    </p:spTree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内容占位符 2"/>
          <p:cNvSpPr>
            <a:spLocks noGrp="1"/>
          </p:cNvSpPr>
          <p:nvPr>
            <p:ph idx="1"/>
          </p:nvPr>
        </p:nvSpPr>
        <p:spPr>
          <a:xfrm>
            <a:off x="468313" y="692150"/>
            <a:ext cx="8351837" cy="5329238"/>
          </a:xfrm>
          <a:ln/>
        </p:spPr>
        <p:txBody>
          <a:bodyPr vert="horz" wrap="square" anchor="t"/>
          <a:lstStyle/>
          <a:p>
            <a:pPr>
              <a:lnSpc>
                <a:spcPct val="135000"/>
              </a:lnSpc>
            </a:pPr>
            <a:r>
              <a:rPr lang="zh-CN" altLang="en-US" b="1" dirty="0">
                <a:ea typeface="微软雅黑" panose="020B0503020204020204" pitchFamily="34" charset="-122"/>
              </a:rPr>
              <a:t>       </a:t>
            </a:r>
            <a:r>
              <a:rPr lang="zh-CN" altLang="zh-CN" b="1" dirty="0">
                <a:ea typeface="微软雅黑" panose="020B0503020204020204" pitchFamily="34" charset="-122"/>
              </a:rPr>
              <a:t>开头是文章的脸面，能统领全文，体现中心，为全文打开思路，使文章顺利展开下去。开头的好坏，直接关系到全文的成败。议论文的开头不仅可以看出你的</a:t>
            </a:r>
            <a:r>
              <a:rPr lang="zh-CN" altLang="zh-CN" b="1" dirty="0">
                <a:solidFill>
                  <a:srgbClr val="FF0000"/>
                </a:solidFill>
                <a:ea typeface="微软雅黑" panose="020B0503020204020204" pitchFamily="34" charset="-122"/>
              </a:rPr>
              <a:t>论点</a:t>
            </a:r>
            <a:r>
              <a:rPr lang="zh-CN" altLang="zh-CN" b="1" dirty="0">
                <a:ea typeface="微软雅黑" panose="020B0503020204020204" pitchFamily="34" charset="-122"/>
              </a:rPr>
              <a:t>是否</a:t>
            </a:r>
            <a:r>
              <a:rPr lang="zh-CN" altLang="zh-CN" b="1" dirty="0">
                <a:solidFill>
                  <a:srgbClr val="FF0000"/>
                </a:solidFill>
                <a:ea typeface="微软雅黑" panose="020B0503020204020204" pitchFamily="34" charset="-122"/>
              </a:rPr>
              <a:t>鲜明</a:t>
            </a:r>
            <a:r>
              <a:rPr lang="zh-CN" altLang="zh-CN" b="1" dirty="0">
                <a:ea typeface="微软雅黑" panose="020B0503020204020204" pitchFamily="34" charset="-122"/>
              </a:rPr>
              <a:t>、根据材料提炼出的</a:t>
            </a:r>
            <a:r>
              <a:rPr lang="zh-CN" altLang="zh-CN" b="1" dirty="0">
                <a:solidFill>
                  <a:srgbClr val="FF0000"/>
                </a:solidFill>
                <a:ea typeface="微软雅黑" panose="020B0503020204020204" pitchFamily="34" charset="-122"/>
              </a:rPr>
              <a:t>观点</a:t>
            </a:r>
            <a:r>
              <a:rPr lang="zh-CN" altLang="zh-CN" b="1" dirty="0">
                <a:ea typeface="微软雅黑" panose="020B0503020204020204" pitchFamily="34" charset="-122"/>
              </a:rPr>
              <a:t>是否</a:t>
            </a:r>
            <a:r>
              <a:rPr lang="zh-CN" altLang="zh-CN" b="1" dirty="0">
                <a:solidFill>
                  <a:srgbClr val="FF0000"/>
                </a:solidFill>
                <a:ea typeface="微软雅黑" panose="020B0503020204020204" pitchFamily="34" charset="-122"/>
              </a:rPr>
              <a:t>切题</a:t>
            </a:r>
            <a:r>
              <a:rPr lang="zh-CN" altLang="zh-CN" b="1" dirty="0">
                <a:ea typeface="微软雅黑" panose="020B0503020204020204" pitchFamily="34" charset="-122"/>
              </a:rPr>
              <a:t>，而且还可以从</a:t>
            </a:r>
            <a:r>
              <a:rPr lang="zh-CN" altLang="zh-CN" b="1" dirty="0">
                <a:solidFill>
                  <a:srgbClr val="FF0000"/>
                </a:solidFill>
                <a:ea typeface="微软雅黑" panose="020B0503020204020204" pitchFamily="34" charset="-122"/>
              </a:rPr>
              <a:t>遣词造句</a:t>
            </a:r>
            <a:r>
              <a:rPr lang="zh-CN" altLang="zh-CN" b="1" dirty="0">
                <a:ea typeface="微软雅黑" panose="020B0503020204020204" pitchFamily="34" charset="-122"/>
              </a:rPr>
              <a:t>是否</a:t>
            </a:r>
            <a:r>
              <a:rPr lang="zh-CN" altLang="zh-CN" b="1" dirty="0">
                <a:solidFill>
                  <a:srgbClr val="FF0000"/>
                </a:solidFill>
                <a:ea typeface="微软雅黑" panose="020B0503020204020204" pitchFamily="34" charset="-122"/>
              </a:rPr>
              <a:t>达意</a:t>
            </a:r>
            <a:r>
              <a:rPr lang="zh-CN" altLang="zh-CN" b="1" dirty="0">
                <a:ea typeface="微软雅黑" panose="020B0503020204020204" pitchFamily="34" charset="-122"/>
              </a:rPr>
              <a:t>、</a:t>
            </a:r>
            <a:r>
              <a:rPr lang="zh-CN" altLang="zh-CN" b="1" dirty="0">
                <a:solidFill>
                  <a:srgbClr val="FF0000"/>
                </a:solidFill>
                <a:ea typeface="微软雅黑" panose="020B0503020204020204" pitchFamily="34" charset="-122"/>
              </a:rPr>
              <a:t>行文</a:t>
            </a:r>
            <a:r>
              <a:rPr lang="zh-CN" altLang="zh-CN" b="1" dirty="0">
                <a:ea typeface="微软雅黑" panose="020B0503020204020204" pitchFamily="34" charset="-122"/>
              </a:rPr>
              <a:t>是否</a:t>
            </a:r>
            <a:r>
              <a:rPr lang="zh-CN" altLang="zh-CN" b="1" dirty="0">
                <a:solidFill>
                  <a:srgbClr val="FF0000"/>
                </a:solidFill>
                <a:ea typeface="微软雅黑" panose="020B0503020204020204" pitchFamily="34" charset="-122"/>
              </a:rPr>
              <a:t>流畅</a:t>
            </a:r>
            <a:r>
              <a:rPr lang="zh-CN" altLang="zh-CN" b="1" dirty="0">
                <a:ea typeface="微软雅黑" panose="020B0503020204020204" pitchFamily="34" charset="-122"/>
              </a:rPr>
              <a:t>上看出写作者的语言基本功，因此看完开头，作文评分的等级已定下了。</a:t>
            </a:r>
            <a:endParaRPr lang="zh-CN" altLang="en-US" b="1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heel spokes="2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395288" y="692150"/>
            <a:ext cx="8424862" cy="5400675"/>
          </a:xfrm>
          <a:ln/>
        </p:spPr>
        <p:txBody>
          <a:bodyPr vert="horz" anchor="t"/>
          <a:lstStyle/>
          <a:p>
            <a:pPr>
              <a:lnSpc>
                <a:spcPct val="13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考场作文，时间紧，文章不求长，开头最好开门见山，直入题旨，尽快鲜明突出地亮出你的观点，千万不能罗嗦，转弯抹角，东扯西拉。如果是</a:t>
            </a:r>
            <a:r>
              <a:rPr lang="zh-CN" altLang="en-US" b="1" dirty="0">
                <a:solidFill>
                  <a:srgbClr val="FF0000"/>
                </a:solidFill>
                <a:ea typeface="微软雅黑" panose="020B0503020204020204" pitchFamily="34" charset="-122"/>
              </a:rPr>
              <a:t>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材料作文则更要注意</a:t>
            </a:r>
            <a:r>
              <a:rPr lang="zh-CN" altLang="en-US" b="1" dirty="0">
                <a:solidFill>
                  <a:srgbClr val="FF0000"/>
                </a:solidFill>
                <a:ea typeface="微软雅黑" panose="020B0503020204020204" pitchFamily="34" charset="-122"/>
              </a:rPr>
              <a:t>简洁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，对较长的材料不能照抄照搬，原封不动，要围绕自己选择的角度，结合自己的中心论点用简洁的语言加以概括。写了二三百字尚未进入主题，最令阅卷老师反感。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newsfla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内容占位符 2"/>
          <p:cNvSpPr/>
          <p:nvPr/>
        </p:nvSpPr>
        <p:spPr>
          <a:xfrm>
            <a:off x="1187450" y="2349500"/>
            <a:ext cx="7200900" cy="10080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en-US" altLang="zh-CN" sz="4400" b="1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《</a:t>
            </a:r>
            <a:r>
              <a:rPr lang="zh-CN" altLang="en-US" sz="4400" b="1" dirty="0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六国论</a:t>
            </a:r>
            <a:r>
              <a:rPr lang="en-US" altLang="zh-CN" sz="4400" b="1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》</a:t>
            </a:r>
            <a:r>
              <a:rPr lang="zh-CN" altLang="en-US" sz="4400" b="1" dirty="0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之论点</a:t>
            </a:r>
            <a:r>
              <a:rPr lang="en-US" altLang="zh-CN" sz="4400" b="1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——</a:t>
            </a:r>
            <a:r>
              <a:rPr lang="zh-CN" altLang="en-US" sz="4400" b="1" dirty="0">
                <a:solidFill>
                  <a:srgbClr val="F7092B"/>
                </a:solidFill>
                <a:latin typeface="Franklin Gothic Medium" panose="020B0603020102020204" pitchFamily="34" charset="0"/>
                <a:ea typeface="微软雅黑" panose="020B0503020204020204" pitchFamily="34" charset="-122"/>
              </a:rPr>
              <a:t>明</a:t>
            </a:r>
          </a:p>
        </p:txBody>
      </p:sp>
    </p:spTree>
  </p:cSld>
  <p:clrMapOvr>
    <a:masterClrMapping/>
  </p:clrMapOvr>
  <p:transition>
    <p:newsfla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446088" y="692150"/>
            <a:ext cx="8229600" cy="5329238"/>
          </a:xfrm>
          <a:prstGeom prst="rect">
            <a:avLst/>
          </a:prstGeom>
          <a:noFill/>
          <a:ln>
            <a:solidFill>
              <a:schemeClr val="bg1"/>
            </a:solidFill>
            <a:miter/>
          </a:ln>
        </p:spPr>
        <p:txBody>
          <a:bodyPr vert="horz" wrap="square" anchor="ctr"/>
          <a:lstStyle/>
          <a:p>
            <a:pPr algn="l">
              <a:lnSpc>
                <a:spcPct val="150000"/>
              </a:lnSpc>
            </a:pPr>
            <a:r>
              <a:rPr lang="en-US" altLang="zh-CN" sz="3200">
                <a:solidFill>
                  <a:srgbClr val="F7092B"/>
                </a:solidFill>
              </a:rPr>
              <a:t>六国破灭，非兵不利，战不善，弊在赂秦</a:t>
            </a:r>
            <a:br>
              <a:rPr lang="en-US" altLang="zh-CN" sz="3200">
                <a:solidFill>
                  <a:srgbClr val="F7092B"/>
                </a:solidFill>
              </a:rPr>
            </a:br>
            <a:r>
              <a:rPr lang="en-US" altLang="zh-CN" sz="3200">
                <a:solidFill>
                  <a:srgbClr val="F7092B"/>
                </a:solidFill>
              </a:rPr>
              <a:t>        </a:t>
            </a:r>
            <a:r>
              <a:rPr lang="zh-CN" altLang="en-US" sz="3200" b="1" dirty="0">
                <a:solidFill>
                  <a:schemeClr val="tx1"/>
                </a:solidFill>
              </a:rPr>
              <a:t>开篇就是观点，明确表明自己的态度、见解，并且以最显而易见</a:t>
            </a:r>
            <a:r>
              <a:rPr lang="en-US" altLang="zh-CN" sz="3200" b="1">
                <a:solidFill>
                  <a:schemeClr val="tx1"/>
                </a:solidFill>
                <a:latin typeface="微软雅黑" panose="020B0503020204020204" pitchFamily="34" charset="-122"/>
              </a:rPr>
              <a:t>——</a:t>
            </a:r>
            <a:r>
              <a:rPr lang="zh-CN" altLang="en-US" sz="3200" b="1" dirty="0">
                <a:solidFill>
                  <a:schemeClr val="tx1"/>
                </a:solidFill>
              </a:rPr>
              <a:t>先否定再肯定的方式表达出来，使人一目了然，可谓一个“</a:t>
            </a:r>
            <a:r>
              <a:rPr lang="zh-CN" altLang="en-US" sz="3200" b="1" dirty="0">
                <a:solidFill>
                  <a:srgbClr val="FF0000"/>
                </a:solidFill>
                <a:latin typeface="Franklin Gothic Book"/>
              </a:rPr>
              <a:t>明</a:t>
            </a:r>
            <a:r>
              <a:rPr lang="zh-CN" altLang="en-US" sz="3200" b="1" dirty="0">
                <a:solidFill>
                  <a:schemeClr val="tx1"/>
                </a:solidFill>
              </a:rPr>
              <a:t>”字。文中作者还从正反两个角度围绕中心论点，提出两个分论点，使自己的观点显得更加明确。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内容占位符 2"/>
          <p:cNvSpPr>
            <a:spLocks noGrp="1"/>
          </p:cNvSpPr>
          <p:nvPr>
            <p:ph idx="1"/>
          </p:nvPr>
        </p:nvSpPr>
        <p:spPr>
          <a:xfrm>
            <a:off x="21590" y="476250"/>
            <a:ext cx="8747760" cy="5184775"/>
          </a:xfrm>
          <a:ln/>
        </p:spPr>
        <p:txBody>
          <a:bodyPr vert="horz" wrap="square" anchor="t"/>
          <a:lstStyle/>
          <a:p>
            <a:r>
              <a:rPr lang="zh-CN" altLang="en-US" sz="4800" b="1" dirty="0"/>
              <a:t>议论文写作最重要的一环就是论点的提出。论点是文章的灵魂、统帅；论点应该鲜明、准确、概括，绝不可模棱两可，让人捉摸不定。任何一篇文章只有一个中心论点，一般可以有二到三个分论点。</a:t>
            </a:r>
          </a:p>
        </p:txBody>
      </p:sp>
    </p:spTree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内容占位符 2"/>
          <p:cNvSpPr/>
          <p:nvPr/>
        </p:nvSpPr>
        <p:spPr>
          <a:xfrm>
            <a:off x="468313" y="620713"/>
            <a:ext cx="8229600" cy="47307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55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 论点提出的方式无外乎四种，即</a:t>
            </a:r>
            <a:r>
              <a:rPr lang="zh-CN" altLang="en-US" sz="3200" b="1" dirty="0">
                <a:solidFill>
                  <a:srgbClr val="FF0000"/>
                </a:solidFill>
                <a:latin typeface="Franklin Gothic Book"/>
                <a:ea typeface="黑体" panose="02010609060101010101" pitchFamily="49" charset="-122"/>
              </a:rPr>
              <a:t>题目即论点</a:t>
            </a: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latin typeface="Franklin Gothic Book"/>
                <a:ea typeface="黑体" panose="02010609060101010101" pitchFamily="49" charset="-122"/>
              </a:rPr>
              <a:t>开门见山提出论点</a:t>
            </a: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、卒章显志归纳论点，再就是读者通观全篇自己总结论点。在这四种方式中，最后一种是高中生在议论文写作当中最不应当采取的，而开门见山提出论点却是我们大力提倡的。</a:t>
            </a:r>
          </a:p>
        </p:txBody>
      </p:sp>
    </p:spTree>
  </p:cSld>
  <p:clrMapOvr>
    <a:masterClrMapping/>
  </p:clrMapOvr>
  <p:transition>
    <p:comb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内容占位符 2"/>
          <p:cNvSpPr>
            <a:spLocks noGrp="1"/>
          </p:cNvSpPr>
          <p:nvPr>
            <p:ph idx="1"/>
          </p:nvPr>
        </p:nvSpPr>
        <p:spPr>
          <a:xfrm>
            <a:off x="611188" y="571500"/>
            <a:ext cx="8208962" cy="5881688"/>
          </a:xfrm>
          <a:ln/>
        </p:spPr>
        <p:txBody>
          <a:bodyPr vert="horz" wrap="square" anchor="t"/>
          <a:lstStyle/>
          <a:p>
            <a:r>
              <a:rPr lang="zh-CN" altLang="en-US" b="1" dirty="0"/>
              <a:t>       议论文就是要</a:t>
            </a:r>
            <a:r>
              <a:rPr lang="zh-CN" altLang="en-US" b="1" dirty="0">
                <a:solidFill>
                  <a:srgbClr val="FF0000"/>
                </a:solidFill>
              </a:rPr>
              <a:t>宣传</a:t>
            </a:r>
            <a:r>
              <a:rPr lang="zh-CN" altLang="en-US" b="1" dirty="0"/>
              <a:t>某个</a:t>
            </a:r>
            <a:r>
              <a:rPr lang="zh-CN" altLang="en-US" b="1" dirty="0">
                <a:solidFill>
                  <a:srgbClr val="FF0000"/>
                </a:solidFill>
              </a:rPr>
              <a:t>论点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发表</a:t>
            </a:r>
            <a:r>
              <a:rPr lang="zh-CN" altLang="en-US" b="1" dirty="0"/>
              <a:t>某个</a:t>
            </a:r>
            <a:r>
              <a:rPr lang="zh-CN" altLang="en-US" b="1" dirty="0">
                <a:solidFill>
                  <a:srgbClr val="FF0000"/>
                </a:solidFill>
              </a:rPr>
              <a:t>见解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讲清</a:t>
            </a:r>
            <a:r>
              <a:rPr lang="zh-CN" altLang="en-US" b="1" dirty="0"/>
              <a:t>某个</a:t>
            </a:r>
            <a:r>
              <a:rPr lang="zh-CN" altLang="en-US" b="1" dirty="0">
                <a:solidFill>
                  <a:srgbClr val="FF0000"/>
                </a:solidFill>
              </a:rPr>
              <a:t>问题</a:t>
            </a:r>
            <a:r>
              <a:rPr lang="zh-CN" altLang="en-US" b="1" dirty="0"/>
              <a:t>；要</a:t>
            </a:r>
            <a:r>
              <a:rPr lang="zh-CN" altLang="en-US" b="1" dirty="0">
                <a:solidFill>
                  <a:srgbClr val="FF0000"/>
                </a:solidFill>
              </a:rPr>
              <a:t>提出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分析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解决</a:t>
            </a:r>
            <a:r>
              <a:rPr lang="zh-CN" altLang="en-US" b="1" dirty="0"/>
              <a:t>问题，以达到说服别人的效果。因此写议论文就应当摆明自己对所议论的问题的主张和见解，肯定什么，否定什么；赞成什么，反对什么，都要</a:t>
            </a:r>
            <a:r>
              <a:rPr lang="zh-CN" altLang="en-US" b="1" dirty="0">
                <a:solidFill>
                  <a:srgbClr val="FF0000"/>
                </a:solidFill>
              </a:rPr>
              <a:t>明白清楚</a:t>
            </a:r>
            <a:r>
              <a:rPr lang="zh-CN" altLang="en-US" b="1" dirty="0"/>
              <a:t>，不能含糊其词，模棱两可，让人看到最后都不知所云。</a:t>
            </a:r>
          </a:p>
        </p:txBody>
      </p:sp>
    </p:spTree>
  </p:cSld>
  <p:clrMapOvr>
    <a:masterClrMapping/>
  </p:clrMapOvr>
  <p:transition spd="slow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内容占位符 2"/>
          <p:cNvSpPr/>
          <p:nvPr/>
        </p:nvSpPr>
        <p:spPr>
          <a:xfrm>
            <a:off x="611188" y="620713"/>
            <a:ext cx="8208962" cy="46799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 最好在文章的开头就直接地、鲜明地亮出自己的观点，甚至可以用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 我认为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zh-CN" altLang="en-US" sz="3200" b="1" dirty="0">
              <a:latin typeface="Franklin Gothic Book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 我的看法是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zh-CN" altLang="en-US" sz="3200" b="1" dirty="0">
              <a:latin typeface="Franklin Gothic Book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 我从中得到启发：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en-US" altLang="zh-CN" sz="3200" b="1">
              <a:latin typeface="Franklin Gothic Book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 等话语，让人一看就明白。</a:t>
            </a:r>
          </a:p>
        </p:txBody>
      </p:sp>
    </p:spTree>
  </p:cSld>
  <p:clrMapOvr>
    <a:masterClrMapping/>
  </p:clrMapOvr>
  <p:transition>
    <p:comb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/>
          </p:cNvSpPr>
          <p:nvPr>
            <p:ph type="title"/>
          </p:nvPr>
        </p:nvSpPr>
        <p:spPr>
          <a:xfrm>
            <a:off x="539750" y="2430463"/>
            <a:ext cx="8229600" cy="1143000"/>
          </a:xfrm>
          <a:prstGeom prst="rect">
            <a:avLst/>
          </a:prstGeom>
          <a:noFill/>
          <a:ln>
            <a:solidFill>
              <a:schemeClr val="bg1"/>
            </a:solidFill>
            <a:miter/>
          </a:ln>
        </p:spPr>
        <p:txBody>
          <a:bodyPr vert="horz" wrap="square" anchor="ctr"/>
          <a:lstStyle/>
          <a:p>
            <a:r>
              <a:rPr lang="en-US" altLang="zh-CN" b="1">
                <a:solidFill>
                  <a:srgbClr val="F7092B"/>
                </a:solidFill>
              </a:rPr>
              <a:t>《</a:t>
            </a:r>
            <a:r>
              <a:rPr lang="zh-CN" altLang="en-US" b="1" dirty="0">
                <a:solidFill>
                  <a:srgbClr val="F7092B"/>
                </a:solidFill>
              </a:rPr>
              <a:t>六国论</a:t>
            </a:r>
            <a:r>
              <a:rPr lang="en-US" altLang="zh-CN" b="1">
                <a:solidFill>
                  <a:srgbClr val="F7092B"/>
                </a:solidFill>
              </a:rPr>
              <a:t>》</a:t>
            </a:r>
            <a:r>
              <a:rPr lang="zh-CN" altLang="en-US" b="1" dirty="0">
                <a:solidFill>
                  <a:srgbClr val="F7092B"/>
                </a:solidFill>
              </a:rPr>
              <a:t>之层次</a:t>
            </a:r>
            <a:r>
              <a:rPr lang="en-US" altLang="zh-CN" b="1">
                <a:solidFill>
                  <a:srgbClr val="F7092B"/>
                </a:solidFill>
              </a:rPr>
              <a:t>——</a:t>
            </a:r>
            <a:r>
              <a:rPr lang="zh-CN" altLang="en-US" b="1" dirty="0">
                <a:solidFill>
                  <a:srgbClr val="F7092B"/>
                </a:solidFill>
              </a:rPr>
              <a:t>清</a:t>
            </a:r>
          </a:p>
        </p:txBody>
      </p:sp>
    </p:spTree>
  </p:cSld>
  <p:clrMapOvr>
    <a:masterClrMapping/>
  </p:clrMapOvr>
  <p:transition>
    <p:pull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5363"/>
          <p:cNvSpPr>
            <a:spLocks noGrp="1"/>
          </p:cNvSpPr>
          <p:nvPr>
            <p:ph type="title"/>
          </p:nvPr>
        </p:nvSpPr>
        <p:spPr>
          <a:xfrm>
            <a:off x="611188" y="620713"/>
            <a:ext cx="8229600" cy="5472112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提出论点：六国破灭，弊在赂秦。</a:t>
            </a:r>
            <a:br>
              <a:rPr lang="zh-CN" altLang="en-US" sz="3200" b="1" dirty="0">
                <a:solidFill>
                  <a:schemeClr val="tx1"/>
                </a:solidFill>
              </a:rPr>
            </a:br>
            <a:r>
              <a:rPr lang="zh-CN" altLang="en-US" sz="3200" b="1" dirty="0">
                <a:solidFill>
                  <a:schemeClr val="tx1"/>
                </a:solidFill>
              </a:rPr>
              <a:t>论证观点：赂秦而力亏</a:t>
            </a:r>
            <a:br>
              <a:rPr lang="zh-CN" altLang="en-US" sz="3200" b="1" dirty="0">
                <a:solidFill>
                  <a:schemeClr val="tx1"/>
                </a:solidFill>
              </a:rPr>
            </a:br>
            <a:r>
              <a:rPr lang="zh-CN" altLang="en-US" sz="3200" b="1" dirty="0">
                <a:solidFill>
                  <a:schemeClr val="tx1"/>
                </a:solidFill>
              </a:rPr>
              <a:t>                    不赂者以赂者丧</a:t>
            </a:r>
            <a:br>
              <a:rPr lang="zh-CN" altLang="en-US" sz="3200" b="1" dirty="0">
                <a:solidFill>
                  <a:schemeClr val="tx1"/>
                </a:solidFill>
              </a:rPr>
            </a:br>
            <a:r>
              <a:rPr lang="zh-CN" altLang="en-US" sz="3200" b="1" dirty="0">
                <a:solidFill>
                  <a:schemeClr val="tx1"/>
                </a:solidFill>
              </a:rPr>
              <a:t>                    不赂秦则六国可不灭</a:t>
            </a:r>
            <a:br>
              <a:rPr lang="zh-CN" altLang="en-US" sz="3200" b="1" dirty="0">
                <a:solidFill>
                  <a:schemeClr val="tx1"/>
                </a:solidFill>
              </a:rPr>
            </a:br>
            <a:r>
              <a:rPr lang="zh-CN" altLang="en-US" sz="3200" b="1" dirty="0">
                <a:solidFill>
                  <a:schemeClr val="tx1"/>
                </a:solidFill>
              </a:rPr>
              <a:t>结        论：为国者无使为积威之所劫 </a:t>
            </a:r>
            <a:br>
              <a:rPr lang="zh-CN" altLang="en-US" sz="3200" b="1" dirty="0">
                <a:solidFill>
                  <a:schemeClr val="tx1"/>
                </a:solidFill>
              </a:rPr>
            </a:br>
            <a:r>
              <a:rPr lang="zh-CN" altLang="en-US" sz="3200" b="1" dirty="0">
                <a:solidFill>
                  <a:schemeClr val="tx1"/>
                </a:solidFill>
              </a:rPr>
              <a:t>联系现实：勿从六国破亡之故事</a:t>
            </a:r>
            <a:br>
              <a:rPr lang="zh-CN" altLang="en-US" sz="3200" b="1" dirty="0">
                <a:solidFill>
                  <a:schemeClr val="tx1"/>
                </a:solidFill>
              </a:rPr>
            </a:br>
            <a:r>
              <a:rPr lang="zh-CN" altLang="en-US" sz="3200" b="1" dirty="0">
                <a:solidFill>
                  <a:srgbClr val="F7092B"/>
                </a:solidFill>
              </a:rPr>
              <a:t>纲目分明，脉络清晰，结构严整</a:t>
            </a:r>
          </a:p>
        </p:txBody>
      </p:sp>
    </p:spTree>
  </p:cSld>
  <p:clrMapOvr>
    <a:masterClrMapping/>
  </p:clrMapOvr>
  <p:transition spd="slow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内容占位符 16388"/>
          <p:cNvSpPr>
            <a:spLocks noGrp="1"/>
          </p:cNvSpPr>
          <p:nvPr>
            <p:ph idx="1"/>
          </p:nvPr>
        </p:nvSpPr>
        <p:spPr>
          <a:xfrm>
            <a:off x="-936625" y="333375"/>
            <a:ext cx="9901555" cy="5616575"/>
          </a:xfrm>
          <a:ln/>
        </p:spPr>
        <p:txBody>
          <a:bodyPr anchor="t"/>
          <a:lstStyle/>
          <a:p>
            <a:pPr marL="1611630" indent="-1611630" algn="ctr">
              <a:lnSpc>
                <a:spcPct val="175000"/>
              </a:lnSpc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起、承、转、合 </a:t>
            </a:r>
          </a:p>
          <a:p>
            <a:pPr marL="1611630" indent="-1611630">
              <a:lnSpc>
                <a:spcPct val="17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“起”，在文章的开头提出观点即阐明观点；</a:t>
            </a:r>
          </a:p>
          <a:p>
            <a:pPr marL="1611630" indent="-1611630">
              <a:lnSpc>
                <a:spcPct val="17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“承”，一般地论证论点；</a:t>
            </a:r>
          </a:p>
          <a:p>
            <a:pPr marL="1611630" indent="-1611630">
              <a:lnSpc>
                <a:spcPct val="17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“转”，在论证的基础上作深入的挖掘，或者从另一个角度进一步论证论点；</a:t>
            </a:r>
          </a:p>
          <a:p>
            <a:pPr marL="1611630" indent="-1611630">
              <a:lnSpc>
                <a:spcPct val="17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“合”，文章的收尾作最后的总结。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矩形 18435"/>
          <p:cNvSpPr/>
          <p:nvPr/>
        </p:nvSpPr>
        <p:spPr>
          <a:xfrm>
            <a:off x="539750" y="333375"/>
            <a:ext cx="8424863" cy="590391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材料作文，提倡：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开头（</a:t>
            </a:r>
            <a:r>
              <a:rPr lang="zh-CN" altLang="en-US" sz="3200" b="1" dirty="0">
                <a:solidFill>
                  <a:srgbClr val="FF0000"/>
                </a:solidFill>
                <a:latin typeface="Franklin Gothic Book"/>
                <a:ea typeface="黑体" panose="02010609060101010101" pitchFamily="49" charset="-122"/>
              </a:rPr>
              <a:t>引</a:t>
            </a: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）概括引材料，明确得观点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然后（</a:t>
            </a:r>
            <a:r>
              <a:rPr lang="zh-CN" altLang="en-US" sz="3200" b="1" dirty="0">
                <a:solidFill>
                  <a:srgbClr val="FF0000"/>
                </a:solidFill>
                <a:latin typeface="Franklin Gothic Book"/>
                <a:ea typeface="黑体" panose="02010609060101010101" pitchFamily="49" charset="-122"/>
              </a:rPr>
              <a:t>议</a:t>
            </a: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）对观点进行论证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接着（</a:t>
            </a:r>
            <a:r>
              <a:rPr lang="zh-CN" altLang="en-US" sz="3200" b="1" dirty="0">
                <a:solidFill>
                  <a:srgbClr val="FF0000"/>
                </a:solidFill>
                <a:latin typeface="Franklin Gothic Book"/>
                <a:ea typeface="黑体" panose="02010609060101010101" pitchFamily="49" charset="-122"/>
              </a:rPr>
              <a:t>联</a:t>
            </a: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）联系现实进行进一步的阐述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最后（</a:t>
            </a:r>
            <a:r>
              <a:rPr lang="zh-CN" altLang="en-US" sz="3200" b="1" dirty="0">
                <a:solidFill>
                  <a:srgbClr val="FF0000"/>
                </a:solidFill>
                <a:latin typeface="Franklin Gothic Book"/>
                <a:ea typeface="黑体" panose="02010609060101010101" pitchFamily="49" charset="-122"/>
              </a:rPr>
              <a:t>结</a:t>
            </a: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）结尾，点明中心，照应开头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    注意：一定要有“联”，联自己，联别人；联社会，联历史，联系实际，运用文章中的观点去解决现实生活中的问题，使文章显得更有针对性，显得更有说服力。</a:t>
            </a:r>
          </a:p>
        </p:txBody>
      </p:sp>
    </p:spTree>
  </p:cSld>
  <p:clrMapOvr>
    <a:masterClrMapping/>
  </p:clrMapOvr>
  <p:transition spd="slow">
    <p:newsfla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>
          <a:xfrm>
            <a:off x="395288" y="2420938"/>
            <a:ext cx="8229600" cy="114300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  <a:miter/>
          </a:ln>
        </p:spPr>
        <p:txBody>
          <a:bodyPr vert="horz" wrap="square" anchor="ctr"/>
          <a:lstStyle/>
          <a:p>
            <a:r>
              <a:rPr lang="en-US" altLang="zh-CN" b="1">
                <a:solidFill>
                  <a:srgbClr val="F7092B"/>
                </a:solidFill>
              </a:rPr>
              <a:t>《</a:t>
            </a:r>
            <a:r>
              <a:rPr lang="zh-CN" altLang="en-US" b="1" dirty="0">
                <a:solidFill>
                  <a:srgbClr val="F7092B"/>
                </a:solidFill>
              </a:rPr>
              <a:t>六国论</a:t>
            </a:r>
            <a:r>
              <a:rPr lang="en-US" altLang="zh-CN" b="1">
                <a:solidFill>
                  <a:srgbClr val="F7092B"/>
                </a:solidFill>
              </a:rPr>
              <a:t>》</a:t>
            </a:r>
            <a:r>
              <a:rPr lang="zh-CN" altLang="en-US" b="1" dirty="0">
                <a:solidFill>
                  <a:srgbClr val="F7092B"/>
                </a:solidFill>
              </a:rPr>
              <a:t>之论证方法</a:t>
            </a:r>
            <a:r>
              <a:rPr lang="en-US" altLang="zh-CN" b="1">
                <a:solidFill>
                  <a:srgbClr val="F7092B"/>
                </a:solidFill>
              </a:rPr>
              <a:t>——</a:t>
            </a:r>
            <a:r>
              <a:rPr lang="zh-CN" altLang="en-US" b="1" dirty="0">
                <a:solidFill>
                  <a:srgbClr val="F7092B"/>
                </a:solidFill>
              </a:rPr>
              <a:t>多</a:t>
            </a:r>
          </a:p>
        </p:txBody>
      </p:sp>
    </p:spTree>
  </p:cSld>
  <p:clrMapOvr>
    <a:masterClrMapping/>
  </p:clrMapOvr>
  <p:transition>
    <p:pull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文本框 19459"/>
          <p:cNvSpPr txBox="1"/>
          <p:nvPr/>
        </p:nvSpPr>
        <p:spPr>
          <a:xfrm>
            <a:off x="468313" y="671513"/>
            <a:ext cx="8137525" cy="5349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1257300" indent="-1257300">
              <a:lnSpc>
                <a:spcPct val="135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例证：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齐、赵、燕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不赂者以赂者丧</a:t>
            </a:r>
          </a:p>
          <a:p>
            <a:pPr marL="1257300" indent="-1257300">
              <a:lnSpc>
                <a:spcPct val="135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引证：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以地事秦，犹抱薪救火，薪不尽，火不灭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形象说明赂秦的危害；</a:t>
            </a:r>
          </a:p>
          <a:p>
            <a:pPr marL="1257300" indent="-1257300">
              <a:lnSpc>
                <a:spcPct val="135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假设论证：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向使三国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或未易量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不赂秦则六国可不灭。</a:t>
            </a:r>
          </a:p>
          <a:p>
            <a:pPr marL="1257300" indent="-1257300">
              <a:lnSpc>
                <a:spcPct val="135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对比论证：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以“赂者”和“不赂者”比，以赂秦之频与“一夕安寝”比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增强了“弊在赂秦”的鲜明性和深刻性。</a:t>
            </a: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468313" y="571500"/>
            <a:ext cx="8229600" cy="5305425"/>
          </a:xfrm>
          <a:ln/>
        </p:spPr>
        <p:txBody>
          <a:bodyPr vert="horz" wrap="square" anchor="t"/>
          <a:lstStyle/>
          <a:p>
            <a:pPr marL="982980" indent="-982980">
              <a:lnSpc>
                <a:spcPct val="135000"/>
              </a:lnSpc>
            </a:pPr>
            <a:r>
              <a:rPr lang="zh-CN" altLang="en-US" b="1" dirty="0"/>
              <a:t>不同论证方法的作用：</a:t>
            </a:r>
          </a:p>
          <a:p>
            <a:pPr marL="982980" indent="-982980">
              <a:lnSpc>
                <a:spcPct val="135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例证法：</a:t>
            </a:r>
            <a:r>
              <a:rPr lang="zh-CN" altLang="en-US" b="1" dirty="0"/>
              <a:t>增加可信度，无可争辩；</a:t>
            </a:r>
          </a:p>
          <a:p>
            <a:pPr marL="982980" indent="-982980">
              <a:lnSpc>
                <a:spcPct val="135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喻证法：</a:t>
            </a:r>
            <a:r>
              <a:rPr lang="zh-CN" altLang="en-US" b="1" dirty="0"/>
              <a:t>增强了作品论证的形象性；</a:t>
            </a:r>
          </a:p>
          <a:p>
            <a:pPr marL="982980" indent="-982980">
              <a:lnSpc>
                <a:spcPct val="135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引证法：</a:t>
            </a:r>
            <a:r>
              <a:rPr lang="zh-CN" altLang="en-US" b="1" dirty="0"/>
              <a:t>加强论证力量，丰富文章的内容，增强议论文的文学性。</a:t>
            </a:r>
          </a:p>
          <a:p>
            <a:pPr marL="982980" indent="-982980">
              <a:lnSpc>
                <a:spcPct val="135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对比论证：</a:t>
            </a:r>
            <a:r>
              <a:rPr lang="zh-CN" altLang="en-US" b="1" dirty="0"/>
              <a:t>增强论证的鲜明性，使读者清楚作者赞成什么，反对什么。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>
          <a:xfrm>
            <a:off x="395288" y="2420938"/>
            <a:ext cx="8229600" cy="114300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  <a:miter/>
          </a:ln>
        </p:spPr>
        <p:txBody>
          <a:bodyPr vert="horz" wrap="square" anchor="ctr"/>
          <a:lstStyle/>
          <a:p>
            <a:r>
              <a:rPr lang="en-US" altLang="zh-CN" b="1" dirty="0">
                <a:solidFill>
                  <a:srgbClr val="F7092B"/>
                </a:solidFill>
              </a:rPr>
              <a:t>《</a:t>
            </a:r>
            <a:r>
              <a:rPr lang="zh-CN" altLang="en-US" b="1" dirty="0">
                <a:solidFill>
                  <a:srgbClr val="F7092B"/>
                </a:solidFill>
              </a:rPr>
              <a:t>六国论</a:t>
            </a:r>
            <a:r>
              <a:rPr lang="en-US" altLang="zh-CN" b="1" dirty="0">
                <a:solidFill>
                  <a:srgbClr val="F7092B"/>
                </a:solidFill>
              </a:rPr>
              <a:t>》</a:t>
            </a:r>
            <a:r>
              <a:rPr lang="zh-CN" altLang="en-US" b="1" dirty="0">
                <a:solidFill>
                  <a:srgbClr val="F7092B"/>
                </a:solidFill>
              </a:rPr>
              <a:t>之</a:t>
            </a:r>
            <a:r>
              <a:rPr lang="zh-CN" altLang="en-US" b="1" dirty="0">
                <a:solidFill>
                  <a:srgbClr val="F7092B"/>
                </a:solidFill>
              </a:rPr>
              <a:t>论证语言</a:t>
            </a:r>
            <a:r>
              <a:rPr lang="en-US" altLang="zh-CN" b="1" dirty="0">
                <a:solidFill>
                  <a:srgbClr val="F7092B"/>
                </a:solidFill>
              </a:rPr>
              <a:t>——</a:t>
            </a:r>
            <a:r>
              <a:rPr lang="zh-CN" altLang="en-US" b="1" dirty="0">
                <a:solidFill>
                  <a:srgbClr val="F7092B"/>
                </a:solidFill>
              </a:rPr>
              <a:t>活</a:t>
            </a:r>
            <a:endParaRPr lang="zh-CN" altLang="en-US" b="1" dirty="0">
              <a:solidFill>
                <a:srgbClr val="F709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377204"/>
      </p:ext>
    </p:extLst>
  </p:cSld>
  <p:clrMapOvr>
    <a:masterClrMapping/>
  </p:clrMapOvr>
  <p:transition>
    <p:pull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xfrm>
            <a:off x="468313" y="571500"/>
            <a:ext cx="8229600" cy="5162550"/>
          </a:xfrm>
          <a:ln/>
        </p:spPr>
        <p:txBody>
          <a:bodyPr vert="horz" wrap="square" anchor="t"/>
          <a:lstStyle/>
          <a:p>
            <a:pPr>
              <a:lnSpc>
                <a:spcPct val="160000"/>
              </a:lnSpc>
            </a:pPr>
            <a:r>
              <a:rPr lang="zh-CN" altLang="en-US" b="1" dirty="0"/>
              <a:t>议论简捷有力   叙述生动感人</a:t>
            </a:r>
          </a:p>
          <a:p>
            <a:pPr>
              <a:lnSpc>
                <a:spcPct val="160000"/>
              </a:lnSpc>
            </a:pPr>
            <a:r>
              <a:rPr lang="zh-CN" altLang="en-US" b="1" dirty="0"/>
              <a:t>    </a:t>
            </a:r>
            <a:r>
              <a:rPr lang="zh-CN" altLang="en-US" b="1" dirty="0">
                <a:ea typeface="微软雅黑" panose="020B0503020204020204" pitchFamily="34" charset="-122"/>
              </a:rPr>
              <a:t>思厥先祖父，暴霜露，斩荆棘，以有尺寸之地。子孙视之不甚惜，举以予人，如弃草芥。</a:t>
            </a:r>
          </a:p>
          <a:p>
            <a:pPr>
              <a:lnSpc>
                <a:spcPct val="160000"/>
              </a:lnSpc>
            </a:pPr>
            <a:r>
              <a:rPr lang="zh-CN" altLang="en-US" b="1" dirty="0"/>
              <a:t>       叙述语言本身带有主观感情，还有描述的特点。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63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charRg st="63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内容占位符 2"/>
          <p:cNvSpPr/>
          <p:nvPr/>
        </p:nvSpPr>
        <p:spPr>
          <a:xfrm>
            <a:off x="468313" y="620713"/>
            <a:ext cx="8229600" cy="50403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不仅有“呜呼”、“悲夫”等感情强烈的叹词，作者还运用引用、对比、比喻等手法，使语言灵活多样，增强了表达效果。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/>
              <a:buChar char="ß"/>
            </a:pPr>
            <a:r>
              <a:rPr lang="zh-CN" altLang="en-US" sz="3200" b="1" dirty="0">
                <a:latin typeface="Franklin Gothic Book"/>
                <a:ea typeface="黑体" panose="02010609060101010101" pitchFamily="49" charset="-122"/>
              </a:rPr>
              <a:t>   本文句式也整饬有度，长短交错，特别是四字句占了一定比例，读起来铿锵有力，掷地有声，富有节奏感。</a:t>
            </a:r>
          </a:p>
        </p:txBody>
      </p:sp>
    </p:spTree>
  </p:cSld>
  <p:clrMapOvr>
    <a:masterClrMapping/>
  </p:clrMapOvr>
  <p:transition>
    <p:comb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>
          <a:xfrm>
            <a:off x="468313" y="2276475"/>
            <a:ext cx="8229600" cy="1143000"/>
          </a:xfrm>
          <a:prstGeom prst="rect">
            <a:avLst/>
          </a:prstGeom>
          <a:noFill/>
          <a:ln>
            <a:solidFill>
              <a:schemeClr val="bg1"/>
            </a:solidFill>
            <a:miter/>
          </a:ln>
        </p:spPr>
        <p:txBody>
          <a:bodyPr vert="horz" wrap="square" anchor="ctr"/>
          <a:lstStyle/>
          <a:p>
            <a:r>
              <a:rPr lang="zh-CN" altLang="en-US" b="1" dirty="0">
                <a:solidFill>
                  <a:srgbClr val="F7092B"/>
                </a:solidFill>
              </a:rPr>
              <a:t>如何使议论文的语言亮起来</a:t>
            </a:r>
          </a:p>
        </p:txBody>
      </p:sp>
    </p:spTree>
  </p:cSld>
  <p:clrMapOvr>
    <a:masterClrMapping/>
  </p:clrMapOvr>
  <p:transition>
    <p:pull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2"/>
          <p:cNvSpPr>
            <a:spLocks noGrp="1"/>
          </p:cNvSpPr>
          <p:nvPr>
            <p:ph idx="1"/>
          </p:nvPr>
        </p:nvSpPr>
        <p:spPr>
          <a:xfrm>
            <a:off x="550863" y="715963"/>
            <a:ext cx="8135937" cy="5089525"/>
          </a:xfrm>
          <a:ln/>
        </p:spPr>
        <p:txBody>
          <a:bodyPr vert="horz" wrap="square" anchor="t"/>
          <a:lstStyle/>
          <a:p>
            <a:pPr>
              <a:lnSpc>
                <a:spcPct val="125000"/>
              </a:lnSpc>
            </a:pPr>
            <a:r>
              <a:rPr lang="en-US" altLang="zh-CN" b="1"/>
              <a:t>1</a:t>
            </a:r>
            <a:r>
              <a:rPr lang="zh-CN" altLang="en-US" b="1" dirty="0"/>
              <a:t>、以实喻虚法：即用比喻的方式来说明抽象的概念的含义。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诚信，是一月的飘雪、三月的春风、五月的花海、七月的骄阳、九月的红枫，是大自然赐予人类的宝贵财富。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       几个比喻分别揭示了诚信这种美德的纯洁、温馨、美好、热烈、珍贵等特征，显得形象生动。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468313" y="693738"/>
            <a:ext cx="8229600" cy="5327650"/>
          </a:xfrm>
          <a:ln/>
        </p:spPr>
        <p:txBody>
          <a:bodyPr vert="horz" wrap="square" anchor="t"/>
          <a:lstStyle/>
          <a:p>
            <a:pPr>
              <a:lnSpc>
                <a:spcPct val="135000"/>
              </a:lnSpc>
            </a:pPr>
            <a:r>
              <a:rPr lang="en-US" altLang="zh-CN" b="1">
                <a:latin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</a:rPr>
              <a:t>、形象阐释法：是指用比喻、类比等方式，用形象化的语言阐释一个抽象概念的内涵或者基本规律。</a:t>
            </a:r>
          </a:p>
          <a:p>
            <a:pPr>
              <a:lnSpc>
                <a:spcPct val="135000"/>
              </a:lnSpc>
            </a:pPr>
            <a:r>
              <a:rPr lang="zh-CN" altLang="en-US" b="1" dirty="0">
                <a:latin typeface="黑体" panose="02010609060101010101" pitchFamily="49" charset="-122"/>
              </a:rPr>
              <a:t>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抓不住的岁月的鸟翼，被火光映在手掌；每一次转折，都形成一道深深的掌纹，比羽毛还要清晰。我多希望，在我们走到长路尽头的时候，那每一道掌纹还能让我们感受到不息的生命力。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内容占位符 2"/>
          <p:cNvSpPr>
            <a:spLocks noGrp="1"/>
          </p:cNvSpPr>
          <p:nvPr>
            <p:ph idx="1"/>
          </p:nvPr>
        </p:nvSpPr>
        <p:spPr>
          <a:xfrm>
            <a:off x="468313" y="549275"/>
            <a:ext cx="8351837" cy="4895850"/>
          </a:xfrm>
          <a:ln/>
        </p:spPr>
        <p:txBody>
          <a:bodyPr vert="horz" wrap="square" anchor="t"/>
          <a:lstStyle/>
          <a:p>
            <a:pPr>
              <a:lnSpc>
                <a:spcPct val="165000"/>
              </a:lnSpc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3、排比例说法：重在通过一系列具体的事例去使一个抽象化的概念具体化。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要注意围绕概念的特征用事实说话，在事例后要加上适当的必要的论说。总之，要在语气、句式和修辞上多下功夫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strips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内容占位符 2"/>
          <p:cNvSpPr>
            <a:spLocks noGrp="1"/>
          </p:cNvSpPr>
          <p:nvPr>
            <p:ph idx="1"/>
          </p:nvPr>
        </p:nvSpPr>
        <p:spPr>
          <a:xfrm>
            <a:off x="468313" y="693738"/>
            <a:ext cx="8229600" cy="5472112"/>
          </a:xfrm>
          <a:ln/>
        </p:spPr>
        <p:txBody>
          <a:bodyPr vert="horz" wrap="square" anchor="t"/>
          <a:lstStyle/>
          <a:p>
            <a:pPr>
              <a:lnSpc>
                <a:spcPct val="13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六国论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构完美的体现了论证的一般方法和规则，堪称古代论说文的典范，对议论文的写作，有着积极的指导意义。当然，要写好议论文，非一日一时之功，不是掌握一些技巧就能完成的，最关键的还是平时的多读、多看、多练，但是，如果在写作中，能注意到这些细节，写作水平和写作成绩必定会有所提高。</a:t>
            </a:r>
          </a:p>
        </p:txBody>
      </p:sp>
    </p:spTree>
  </p:cSld>
  <p:clrMapOvr>
    <a:masterClrMapping/>
  </p:clrMapOvr>
  <p:transition spd="slow">
    <p:strips dir="r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1336</Words>
  <Application>Microsoft Office PowerPoint</Application>
  <PresentationFormat>全屏显示(4:3)</PresentationFormat>
  <Paragraphs>54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黑体</vt:lpstr>
      <vt:lpstr>楷体</vt:lpstr>
      <vt:lpstr>宋体</vt:lpstr>
      <vt:lpstr>微软雅黑</vt:lpstr>
      <vt:lpstr>Arial</vt:lpstr>
      <vt:lpstr>Franklin Gothic Book</vt:lpstr>
      <vt:lpstr>Franklin Gothic Medium</vt:lpstr>
      <vt:lpstr>Wingdings 2</vt:lpstr>
      <vt:lpstr>暗香扑面</vt:lpstr>
      <vt:lpstr>学写议论文 从《六国论》开始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六国破灭，非兵不利，战不善，弊在赂秦         开篇就是观点，明确表明自己的态度、见解，并且以最显而易见——先否定再肯定的方式表达出来，使人一目了然，可谓一个“明”字。文中作者还从正反两个角度围绕中心论点，提出两个分论点，使自己的观点显得更加明确。</vt:lpstr>
      <vt:lpstr>PowerPoint 演示文稿</vt:lpstr>
      <vt:lpstr>PowerPoint 演示文稿</vt:lpstr>
      <vt:lpstr>PowerPoint 演示文稿</vt:lpstr>
      <vt:lpstr>PowerPoint 演示文稿</vt:lpstr>
      <vt:lpstr>《六国论》之层次——清</vt:lpstr>
      <vt:lpstr>提出论点：六国破灭，弊在赂秦。 论证观点：赂秦而力亏                     不赂者以赂者丧                     不赂秦则六国可不灭 结        论：为国者无使为积威之所劫  联系现实：勿从六国破亡之故事 纲目分明，脉络清晰，结构严整</vt:lpstr>
      <vt:lpstr>PowerPoint 演示文稿</vt:lpstr>
      <vt:lpstr>PowerPoint 演示文稿</vt:lpstr>
      <vt:lpstr>《六国论》之论证方法——多</vt:lpstr>
      <vt:lpstr>PowerPoint 演示文稿</vt:lpstr>
      <vt:lpstr>PowerPoint 演示文稿</vt:lpstr>
      <vt:lpstr>《六国论》之论证语言——活</vt:lpstr>
      <vt:lpstr>PowerPoint 演示文稿</vt:lpstr>
      <vt:lpstr>PowerPoint 演示文稿</vt:lpstr>
      <vt:lpstr>如何使议论文的语言亮起来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LJJ</cp:lastModifiedBy>
  <cp:revision>29</cp:revision>
  <dcterms:created xsi:type="dcterms:W3CDTF">2018-05-14T12:28:55Z</dcterms:created>
  <dcterms:modified xsi:type="dcterms:W3CDTF">2021-03-03T09:14:20Z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8</vt:lpwstr>
  </property>
  <property fmtid="{D5CDD505-2E9C-101B-9397-08002B2CF9AE}" pid="3" name="KSOProductBuildVer">
    <vt:lpwstr>2052-11.1.0.7949</vt:lpwstr>
  </property>
</Properties>
</file>