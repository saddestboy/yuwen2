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3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09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5268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4778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12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916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65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497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797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42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182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5B4BFF-5D30-4D44-B0DA-E30DF470DA97}" type="datetimeFigureOut">
              <a:rPr lang="zh-CN" altLang="en-US" smtClean="0"/>
              <a:t>2020/12/28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7FCA0B-1307-43E8-8E44-7F532AA89B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26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4769" y="202222"/>
            <a:ext cx="9144000" cy="1065701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/>
              <a:t> 作者交替使用“你”和“我”两个不同的人称，其中蕴涵着怎样的态度？请结合全文进行分析。（</a:t>
            </a:r>
            <a:r>
              <a:rPr lang="en-US" altLang="zh-CN" sz="2800" dirty="0"/>
              <a:t>6</a:t>
            </a:r>
            <a:r>
              <a:rPr lang="zh-CN" altLang="en-US" sz="2800" dirty="0"/>
              <a:t>分）</a:t>
            </a: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1518010"/>
              </p:ext>
            </p:extLst>
          </p:nvPr>
        </p:nvGraphicFramePr>
        <p:xfrm>
          <a:off x="838200" y="1732085"/>
          <a:ext cx="10515600" cy="3640809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669214657"/>
                    </a:ext>
                  </a:extLst>
                </a:gridCol>
              </a:tblGrid>
              <a:tr h="3276728">
                <a:tc>
                  <a:txBody>
                    <a:bodyPr/>
                    <a:lstStyle/>
                    <a:p>
                      <a:pPr latinLnBrk="1"/>
                      <a:r>
                        <a:rPr lang="en-US" altLang="zh-CN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【</a:t>
                      </a:r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答案</a:t>
                      </a:r>
                      <a:r>
                        <a:rPr lang="en-US" altLang="zh-CN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】</a:t>
                      </a:r>
                      <a:endParaRPr lang="zh-CN" altLang="en-US" u="none" strike="noStrike">
                        <a:solidFill>
                          <a:srgbClr val="1E1E1E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latinLnBrk="1"/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①人称灵活变换使用，使行文更自由流畅、思维不受阻碍，更显出“窗”对人们的无所不在的约束；</a:t>
                      </a:r>
                      <a:endParaRPr lang="zh-CN" altLang="en-US" u="none" strike="noStrike">
                        <a:solidFill>
                          <a:srgbClr val="1E1E1E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latinLnBrk="1"/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②以拉家常的口吻娓娓道来，更显亲切，拉近与读者的距离，易与心灵深处的交流；</a:t>
                      </a:r>
                      <a:endParaRPr lang="zh-CN" altLang="en-US" u="none" strike="noStrike">
                        <a:solidFill>
                          <a:srgbClr val="1E1E1E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latinLnBrk="1"/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③使读者体会到作者的真诚态度，增加了内容的可信度。</a:t>
                      </a:r>
                      <a:endParaRPr lang="zh-CN" altLang="en-US" u="none" strike="noStrike">
                        <a:solidFill>
                          <a:srgbClr val="1E1E1E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latinLnBrk="1"/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（每点</a:t>
                      </a:r>
                      <a:r>
                        <a:rPr lang="en-US" altLang="zh-CN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2</a:t>
                      </a:r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分）</a:t>
                      </a:r>
                      <a:endParaRPr lang="zh-CN" altLang="en-US" u="none" strike="noStrike">
                        <a:solidFill>
                          <a:srgbClr val="1E1E1E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latinLnBrk="1"/>
                      <a:r>
                        <a:rPr lang="en-US" altLang="zh-CN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【</a:t>
                      </a:r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解析</a:t>
                      </a:r>
                      <a:r>
                        <a:rPr lang="en-US" altLang="zh-CN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】</a:t>
                      </a:r>
                      <a:r>
                        <a:rPr lang="zh-CN" altLang="en-US" u="none" strike="noStrike">
                          <a:solidFill>
                            <a:srgbClr val="1E1E1E"/>
                          </a:solidFill>
                          <a:effectLst/>
                          <a:latin typeface="SimSun" panose="02010600030101010101" pitchFamily="2" charset="-122"/>
                          <a:ea typeface="SimSun" panose="02010600030101010101" pitchFamily="2" charset="-122"/>
                        </a:rPr>
                        <a:t>试题分析：本题考查表达技巧。人称的使用非常讲究。第一人称：叙述较为亲切自然，便于直接、自由地表达思想感情，给读者以真实感；第二人称，便于直接对话，利于交流思想情感，增强亲切感，同时使抒情更加强烈感人；第三人称，能够比较直接客观地展现丰富多彩的生活，不受时空限制，反映现实较为灵活自如。</a:t>
                      </a:r>
                      <a:endParaRPr lang="zh-CN" altLang="en-US" u="none" strike="noStrike">
                        <a:solidFill>
                          <a:srgbClr val="1E1E1E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291873"/>
                  </a:ext>
                </a:extLst>
              </a:tr>
              <a:tr h="364081">
                <a:tc>
                  <a:txBody>
                    <a:bodyPr/>
                    <a:lstStyle/>
                    <a:p>
                      <a:endParaRPr lang="zh-CN" altLang="en-US" u="none" strike="noStrike" dirty="0">
                        <a:solidFill>
                          <a:srgbClr val="1E1E1E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466997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Grp="1" noChangeArrowheads="1"/>
          </p:cNvSpPr>
          <p:nvPr>
            <p:ph type="subTitle"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zh-CN" altLang="zh-CN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zh-CN" altLang="zh-CN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72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宋体</vt:lpstr>
      <vt:lpstr>宋体</vt:lpstr>
      <vt:lpstr>Arial</vt:lpstr>
      <vt:lpstr>Office 主题​​</vt:lpstr>
      <vt:lpstr> 作者交替使用“你”和“我”两个不同的人称，其中蕴涵着怎样的态度？请结合全文进行分析。（6分）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 作者交替使用“你”和“我”两个不同的人称，其中蕴涵着怎样的态度？请结合全文进行分析。（6分）</dc:title>
  <dc:creator>LJJ</dc:creator>
  <cp:lastModifiedBy>LJJ</cp:lastModifiedBy>
  <cp:revision>1</cp:revision>
  <dcterms:created xsi:type="dcterms:W3CDTF">2020-12-27T23:39:53Z</dcterms:created>
  <dcterms:modified xsi:type="dcterms:W3CDTF">2020-12-27T23:40:47Z</dcterms:modified>
</cp:coreProperties>
</file>