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3194653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402472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56601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424267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257473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243936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1005729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88262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2215867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3896028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3975260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4B9D2-8B2F-4C50-BE37-86EF146A6B8B}" type="datetimeFigureOut">
              <a:rPr lang="zh-CN" altLang="en-US" smtClean="0"/>
              <a:t>2021/3/1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323628-C7B0-43F3-A22D-238532D79796}" type="slidenum">
              <a:rPr lang="zh-CN" altLang="en-US" smtClean="0"/>
              <a:t>‹#›</a:t>
            </a:fld>
            <a:endParaRPr lang="zh-CN" altLang="en-US"/>
          </a:p>
        </p:txBody>
      </p:sp>
    </p:spTree>
    <p:extLst>
      <p:ext uri="{BB962C8B-B14F-4D97-AF65-F5344CB8AC3E}">
        <p14:creationId xmlns:p14="http://schemas.microsoft.com/office/powerpoint/2010/main" val="1554117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8262" y="-105507"/>
            <a:ext cx="11561884" cy="8171468"/>
          </a:xfrm>
          <a:prstGeom prst="rect">
            <a:avLst/>
          </a:prstGeom>
        </p:spPr>
        <p:txBody>
          <a:bodyPr wrap="square">
            <a:spAutoFit/>
          </a:bodyPr>
          <a:lstStyle/>
          <a:p>
            <a:pPr algn="just">
              <a:lnSpc>
                <a:spcPct val="125000"/>
              </a:lnSpc>
              <a:spcAft>
                <a:spcPts val="0"/>
              </a:spcAft>
            </a:pPr>
            <a:r>
              <a:rPr lang="zh-CN" altLang="zh-CN" sz="2800" kern="100" dirty="0" smtClea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阅读下面的材料，根据要求写作。（</a:t>
            </a:r>
            <a:r>
              <a:rPr lang="en-US" altLang="zh-CN" sz="2800" kern="100" dirty="0" smtClea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60</a:t>
            </a:r>
            <a:r>
              <a:rPr lang="zh-CN" altLang="zh-CN" sz="2800" kern="100" dirty="0" smtClean="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分）</a:t>
            </a:r>
            <a:endParaRPr lang="zh-CN" altLang="zh-CN" sz="2800" kern="100" dirty="0" smtClean="0">
              <a:effectLst/>
              <a:latin typeface="Times New Roman" panose="02020603050405020304" pitchFamily="18" charset="0"/>
              <a:ea typeface="宋体" panose="02010600030101010101" pitchFamily="2" charset="-122"/>
            </a:endParaRPr>
          </a:p>
          <a:p>
            <a:pPr indent="266700" fontAlgn="ctr">
              <a:lnSpc>
                <a:spcPct val="125000"/>
              </a:lnSpc>
            </a:pP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继清华、北大毕业生涌入深圳某中学之后，</a:t>
            </a:r>
            <a:r>
              <a:rPr lang="en-US"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2020</a:t>
            </a: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年</a:t>
            </a:r>
            <a:r>
              <a:rPr lang="en-US"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8</a:t>
            </a: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月，一张杭州余杭区街道招聘公示的截图再度引发网友关注。这份长长的公示名单里，清一色是来自清华、北大的毕业生，他们是哲学、法律、传播学、软件工程、材料科学与工程、地球物理学、生物学等专业的硕士或博士。</a:t>
            </a:r>
            <a:endParaRPr lang="zh-CN" altLang="zh-CN" sz="2800" kern="100" dirty="0" smtClean="0">
              <a:effectLst/>
              <a:latin typeface="Times New Roman" panose="02020603050405020304" pitchFamily="18" charset="0"/>
              <a:ea typeface="宋体" panose="02010600030101010101" pitchFamily="2" charset="-122"/>
            </a:endParaRPr>
          </a:p>
          <a:p>
            <a:pPr indent="266700" fontAlgn="ctr">
              <a:lnSpc>
                <a:spcPct val="125000"/>
              </a:lnSpc>
            </a:pP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有网友评论说：名牌大学硕士、博士到街道工作</a:t>
            </a:r>
            <a:r>
              <a:rPr lang="en-US"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a:t>
            </a: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屈才</a:t>
            </a:r>
            <a:r>
              <a:rPr lang="en-US"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a:t>
            </a:r>
            <a:r>
              <a:rPr lang="zh-CN" altLang="zh-CN" sz="2800" kern="100" dirty="0" smtClean="0">
                <a:effectLst/>
                <a:latin typeface="Times New Roman" panose="02020603050405020304" pitchFamily="18" charset="0"/>
                <a:ea typeface="楷体" panose="02010609060101010101" pitchFamily="49" charset="-122"/>
                <a:cs typeface="楷体" panose="02010609060101010101" pitchFamily="49" charset="-122"/>
              </a:rPr>
              <a:t>了，基层招聘高材生是浪费人才。有关方面负责人认为：招聘优秀大学生到基层是经济社会发展的需要，基层很多工作专业性强，亟需更多的青年才俊。应聘的毕业生们表示：国家号召年轻人到基层去，我们觉得基层很锻炼人；我们看中的是这里的发展潜力和活力，这里有较好的发展空间。</a:t>
            </a:r>
            <a:endParaRPr lang="zh-CN" altLang="zh-CN" sz="2800" kern="100" dirty="0" smtClean="0">
              <a:effectLst/>
              <a:latin typeface="Times New Roman" panose="02020603050405020304" pitchFamily="18" charset="0"/>
              <a:ea typeface="宋体" panose="02010600030101010101" pitchFamily="2" charset="-122"/>
            </a:endParaRPr>
          </a:p>
          <a:p>
            <a:pPr indent="266700" fontAlgn="ctr">
              <a:lnSpc>
                <a:spcPct val="125000"/>
              </a:lnSpc>
            </a:pPr>
            <a:r>
              <a:rPr lang="zh-CN"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上述材料引发了你怎样的感悟和联想？请综合材料内容，写一篇发言稿，参加兴华中学团委与学生会联合举办的</a:t>
            </a:r>
            <a:r>
              <a:rPr lang="en-US"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a:t>
            </a:r>
            <a:r>
              <a:rPr lang="zh-CN"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青年的职业选择与价值实现</a:t>
            </a:r>
            <a:r>
              <a:rPr lang="en-US"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a:t>
            </a:r>
            <a:r>
              <a:rPr lang="zh-CN"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主题座谈会，体现你的思考，表达你的看法。</a:t>
            </a:r>
            <a:endParaRPr lang="zh-CN" altLang="zh-CN" sz="2800" kern="100" dirty="0" smtClean="0">
              <a:effectLst/>
              <a:latin typeface="Times New Roman" panose="02020603050405020304" pitchFamily="18" charset="0"/>
              <a:ea typeface="宋体" panose="02010600030101010101" pitchFamily="2" charset="-122"/>
            </a:endParaRPr>
          </a:p>
          <a:p>
            <a:pPr indent="266700" fontAlgn="ctr">
              <a:lnSpc>
                <a:spcPct val="125000"/>
              </a:lnSpc>
            </a:pPr>
            <a:r>
              <a:rPr lang="zh-CN"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要求：自拟标题，自选角度，确定立意；不要套作，不得抄袭，不得泄露个人信息；不少于</a:t>
            </a:r>
            <a:r>
              <a:rPr lang="en-US"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800</a:t>
            </a:r>
            <a:r>
              <a:rPr lang="zh-CN" altLang="zh-CN" sz="2800" kern="100" dirty="0" smtClean="0">
                <a:effectLst/>
                <a:latin typeface="Times New Roman" panose="02020603050405020304" pitchFamily="18" charset="0"/>
                <a:ea typeface="宋体" panose="02010600030101010101" pitchFamily="2" charset="-122"/>
                <a:cs typeface="宋体" panose="02010600030101010101" pitchFamily="2" charset="-122"/>
              </a:rPr>
              <a:t>字。</a:t>
            </a:r>
            <a:endParaRPr lang="zh-CN" altLang="zh-CN" sz="2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80946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1414"/>
            <a:ext cx="11878408" cy="5693866"/>
          </a:xfrm>
          <a:prstGeom prst="rect">
            <a:avLst/>
          </a:prstGeom>
        </p:spPr>
        <p:txBody>
          <a:bodyPr wrap="square">
            <a:spAutoFit/>
          </a:bodyPr>
          <a:lstStyle/>
          <a:p>
            <a:pPr algn="just">
              <a:spcAft>
                <a:spcPts val="0"/>
              </a:spcAft>
            </a:pPr>
            <a:r>
              <a:rPr lang="zh-CN" altLang="zh-CN" sz="2800" kern="100" dirty="0">
                <a:latin typeface="等线" panose="02010600030101010101" pitchFamily="2" charset="-122"/>
                <a:cs typeface="Times New Roman" panose="02020603050405020304" pitchFamily="18" charset="0"/>
              </a:rPr>
              <a:t>作文题是聚焦社会热点型材料作文题，分为三部分：</a:t>
            </a:r>
          </a:p>
          <a:p>
            <a:pPr algn="just">
              <a:spcAft>
                <a:spcPts val="0"/>
              </a:spcAft>
            </a:pPr>
            <a:r>
              <a:rPr lang="zh-CN" altLang="zh-CN" sz="2800" kern="100" dirty="0">
                <a:latin typeface="等线" panose="02010600030101010101" pitchFamily="2" charset="-122"/>
                <a:cs typeface="Times New Roman" panose="02020603050405020304" pitchFamily="18" charset="0"/>
              </a:rPr>
              <a:t>第一部分是陈述事件，主要告诉我们本次作文的核心，我们要能从中用关键词概括出核心事件——优秀人才（大学生</a:t>
            </a:r>
            <a:r>
              <a:rPr lang="zh-CN" altLang="zh-CN" sz="2800" kern="100" dirty="0" smtClean="0">
                <a:latin typeface="等线" panose="02010600030101010101" pitchFamily="2" charset="-122"/>
                <a:cs typeface="Times New Roman" panose="02020603050405020304" pitchFamily="18" charset="0"/>
              </a:rPr>
              <a:t>）</a:t>
            </a:r>
            <a:r>
              <a:rPr lang="zh-CN" altLang="en-US" sz="2800" kern="100" dirty="0" smtClean="0">
                <a:latin typeface="等线" panose="02010600030101010101" pitchFamily="2" charset="-122"/>
                <a:cs typeface="Times New Roman" panose="02020603050405020304" pitchFamily="18" charset="0"/>
              </a:rPr>
              <a:t>到</a:t>
            </a:r>
            <a:r>
              <a:rPr lang="zh-CN" altLang="zh-CN" sz="2800" kern="100" dirty="0" smtClean="0">
                <a:latin typeface="等线" panose="02010600030101010101" pitchFamily="2" charset="-122"/>
                <a:cs typeface="Times New Roman" panose="02020603050405020304" pitchFamily="18" charset="0"/>
              </a:rPr>
              <a:t>基层</a:t>
            </a:r>
            <a:r>
              <a:rPr lang="zh-CN" altLang="zh-CN" sz="2800" kern="100" dirty="0">
                <a:latin typeface="等线" panose="02010600030101010101" pitchFamily="2" charset="-122"/>
                <a:cs typeface="Times New Roman" panose="02020603050405020304" pitchFamily="18" charset="0"/>
              </a:rPr>
              <a:t>。</a:t>
            </a:r>
          </a:p>
          <a:p>
            <a:pPr algn="just">
              <a:spcAft>
                <a:spcPts val="0"/>
              </a:spcAft>
            </a:pPr>
            <a:r>
              <a:rPr lang="zh-CN" altLang="zh-CN" sz="2800" kern="100" dirty="0">
                <a:latin typeface="等线" panose="02010600030101010101" pitchFamily="2" charset="-122"/>
                <a:cs typeface="Times New Roman" panose="02020603050405020304" pitchFamily="18" charset="0"/>
              </a:rPr>
              <a:t>第二部分是评论，主要告诉我们思考的角度和方向，我们要能结合事件核心、自己的经验积累，从中选出适合自己写的角度。</a:t>
            </a:r>
          </a:p>
          <a:p>
            <a:pPr algn="just">
              <a:spcAft>
                <a:spcPts val="0"/>
              </a:spcAft>
            </a:pPr>
            <a:r>
              <a:rPr lang="zh-CN" altLang="zh-CN" sz="2800" kern="100" dirty="0">
                <a:latin typeface="等线" panose="02010600030101010101" pitchFamily="2" charset="-122"/>
                <a:cs typeface="Times New Roman" panose="02020603050405020304" pitchFamily="18" charset="0"/>
              </a:rPr>
              <a:t>第三部分是任务，也就是作文的具体写作要求。我们要看清并明确写作任务。本题是“引起了你怎样的联想与思考”，适合写议论文；还要求写“发言稿”，这是文体要求，要注意格式要求和对话意识。</a:t>
            </a:r>
          </a:p>
          <a:p>
            <a:pPr indent="266700" algn="just">
              <a:spcAft>
                <a:spcPts val="0"/>
              </a:spcAft>
            </a:pPr>
            <a:r>
              <a:rPr lang="zh-CN" altLang="zh-CN" sz="2800" kern="100" dirty="0">
                <a:latin typeface="等线" panose="02010600030101010101" pitchFamily="2" charset="-122"/>
                <a:cs typeface="Times New Roman" panose="02020603050405020304" pitchFamily="18" charset="0"/>
              </a:rPr>
              <a:t>审题立意要扣住“职业选择和价值实现”两个方面，体现出两者之间的关系，不能只写其中一面，而且“价值实现”体现在材料第二段中的后两种观点，即社会发展的需要，亟需更多的青年才俊，国家的号召，青年人到基层得到锻炼，而网友的评论，认为是浪费人才的观点，并不是正面评价，可以选择作为侧面补充，来阐述怎样选择职业和实现价值。</a:t>
            </a:r>
          </a:p>
        </p:txBody>
      </p:sp>
    </p:spTree>
    <p:extLst>
      <p:ext uri="{BB962C8B-B14F-4D97-AF65-F5344CB8AC3E}">
        <p14:creationId xmlns:p14="http://schemas.microsoft.com/office/powerpoint/2010/main" val="3042265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2576" y="0"/>
            <a:ext cx="11318631" cy="6524863"/>
          </a:xfrm>
          <a:prstGeom prst="rect">
            <a:avLst/>
          </a:prstGeom>
        </p:spPr>
        <p:txBody>
          <a:bodyPr wrap="square">
            <a:spAutoFit/>
          </a:bodyPr>
          <a:lstStyle/>
          <a:p>
            <a:pPr algn="just">
              <a:spcAft>
                <a:spcPts val="0"/>
              </a:spcAft>
            </a:pPr>
            <a:r>
              <a:rPr lang="zh-CN" altLang="zh-CN" sz="2200" kern="100" dirty="0">
                <a:latin typeface="等线" panose="02010600030101010101" pitchFamily="2" charset="-122"/>
                <a:cs typeface="Times New Roman" panose="02020603050405020304" pitchFamily="18" charset="0"/>
              </a:rPr>
              <a:t>【切题立意】</a:t>
            </a:r>
          </a:p>
          <a:p>
            <a:pPr algn="just">
              <a:spcAft>
                <a:spcPts val="0"/>
              </a:spcAft>
            </a:pPr>
            <a:r>
              <a:rPr lang="zh-CN" altLang="zh-CN" sz="2200" kern="100" dirty="0">
                <a:latin typeface="等线" panose="02010600030101010101" pitchFamily="2" charset="-122"/>
                <a:cs typeface="Times New Roman" panose="02020603050405020304" pitchFamily="18" charset="0"/>
              </a:rPr>
              <a:t>（</a:t>
            </a:r>
            <a:r>
              <a:rPr lang="en-US" altLang="zh-CN" sz="2200" kern="100" dirty="0">
                <a:latin typeface="等线" panose="02010600030101010101" pitchFamily="2" charset="-122"/>
                <a:cs typeface="Times New Roman" panose="02020603050405020304" pitchFamily="18" charset="0"/>
              </a:rPr>
              <a:t>1</a:t>
            </a:r>
            <a:r>
              <a:rPr lang="zh-CN" altLang="zh-CN" sz="2200" kern="100" dirty="0">
                <a:latin typeface="等线" panose="02010600030101010101" pitchFamily="2" charset="-122"/>
                <a:cs typeface="Times New Roman" panose="02020603050405020304" pitchFamily="18" charset="0"/>
              </a:rPr>
              <a:t>） 从</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职业选择与价值实现</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的关系角度思考：</a:t>
            </a:r>
          </a:p>
          <a:p>
            <a:pPr algn="just">
              <a:spcAft>
                <a:spcPts val="0"/>
              </a:spcAft>
            </a:pPr>
            <a:r>
              <a:rPr lang="zh-CN" altLang="zh-CN" sz="2200" kern="100" dirty="0">
                <a:latin typeface="等线" panose="02010600030101010101" pitchFamily="2" charset="-122"/>
                <a:cs typeface="Times New Roman" panose="02020603050405020304" pitchFamily="18" charset="0"/>
              </a:rPr>
              <a:t>①有什么样的选择，就会有什么样的人生；</a:t>
            </a:r>
          </a:p>
          <a:p>
            <a:pPr algn="just">
              <a:spcAft>
                <a:spcPts val="0"/>
              </a:spcAft>
            </a:pPr>
            <a:r>
              <a:rPr lang="zh-CN" altLang="zh-CN" sz="2200" kern="100" dirty="0">
                <a:latin typeface="等线" panose="02010600030101010101" pitchFamily="2" charset="-122"/>
                <a:cs typeface="Times New Roman" panose="02020603050405020304" pitchFamily="18" charset="0"/>
              </a:rPr>
              <a:t>②人生的价值决定着职业的选择；</a:t>
            </a:r>
          </a:p>
          <a:p>
            <a:pPr algn="just">
              <a:spcAft>
                <a:spcPts val="0"/>
              </a:spcAft>
            </a:pPr>
            <a:r>
              <a:rPr lang="zh-CN" altLang="zh-CN" sz="2200" kern="100" dirty="0">
                <a:latin typeface="等线" panose="02010600030101010101" pitchFamily="2" charset="-122"/>
                <a:cs typeface="Times New Roman" panose="02020603050405020304" pitchFamily="18" charset="0"/>
              </a:rPr>
              <a:t>③职业的选择决定着人生价值的实现；</a:t>
            </a:r>
          </a:p>
          <a:p>
            <a:pPr algn="just">
              <a:spcAft>
                <a:spcPts val="0"/>
              </a:spcAft>
            </a:pPr>
            <a:r>
              <a:rPr lang="zh-CN" altLang="zh-CN" sz="2200" kern="100" dirty="0">
                <a:latin typeface="等线" panose="02010600030101010101" pitchFamily="2" charset="-122"/>
                <a:cs typeface="Times New Roman" panose="02020603050405020304" pitchFamily="18" charset="0"/>
              </a:rPr>
              <a:t>④“实现人生价值”比“挣钱”更重要；</a:t>
            </a:r>
          </a:p>
          <a:p>
            <a:pPr algn="just">
              <a:spcAft>
                <a:spcPts val="0"/>
              </a:spcAft>
            </a:pPr>
            <a:r>
              <a:rPr lang="zh-CN" altLang="zh-CN" sz="2200" kern="100" dirty="0">
                <a:latin typeface="等线" panose="02010600030101010101" pitchFamily="2" charset="-122"/>
                <a:cs typeface="Times New Roman" panose="02020603050405020304" pitchFamily="18" charset="0"/>
              </a:rPr>
              <a:t>⑤良好的职业选择有助于实现人生价值</a:t>
            </a:r>
            <a:r>
              <a:rPr lang="en-US" altLang="zh-CN" sz="2200" kern="100" dirty="0">
                <a:latin typeface="等线" panose="02010600030101010101" pitchFamily="2" charset="-122"/>
                <a:cs typeface="Times New Roman" panose="02020603050405020304" pitchFamily="18" charset="0"/>
              </a:rPr>
              <a:t>.……</a:t>
            </a:r>
            <a:endParaRPr lang="zh-CN" altLang="zh-CN" sz="2200" kern="100" dirty="0">
              <a:latin typeface="等线" panose="02010600030101010101" pitchFamily="2" charset="-122"/>
              <a:cs typeface="Times New Roman" panose="02020603050405020304" pitchFamily="18" charset="0"/>
            </a:endParaRPr>
          </a:p>
          <a:p>
            <a:pPr algn="just">
              <a:spcAft>
                <a:spcPts val="0"/>
              </a:spcAft>
            </a:pPr>
            <a:r>
              <a:rPr lang="zh-CN" altLang="zh-CN" sz="2200" kern="100" dirty="0">
                <a:latin typeface="等线" panose="02010600030101010101" pitchFamily="2" charset="-122"/>
                <a:cs typeface="Times New Roman" panose="02020603050405020304" pitchFamily="18" charset="0"/>
              </a:rPr>
              <a:t>（</a:t>
            </a:r>
            <a:r>
              <a:rPr lang="en-US" altLang="zh-CN" sz="2200" kern="100" dirty="0">
                <a:latin typeface="等线" panose="02010600030101010101" pitchFamily="2" charset="-122"/>
                <a:cs typeface="Times New Roman" panose="02020603050405020304" pitchFamily="18" charset="0"/>
              </a:rPr>
              <a:t>2</a:t>
            </a:r>
            <a:r>
              <a:rPr lang="zh-CN" altLang="zh-CN" sz="2200" kern="100" dirty="0">
                <a:latin typeface="等线" panose="02010600030101010101" pitchFamily="2" charset="-122"/>
                <a:cs typeface="Times New Roman" panose="02020603050405020304" pitchFamily="18" charset="0"/>
              </a:rPr>
              <a:t>）从</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爱才（惜才）与屈才</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的关系角度思考：</a:t>
            </a:r>
          </a:p>
          <a:p>
            <a:pPr algn="just">
              <a:spcAft>
                <a:spcPts val="0"/>
              </a:spcAft>
            </a:pPr>
            <a:r>
              <a:rPr lang="zh-CN" altLang="zh-CN" sz="2200" kern="100" dirty="0">
                <a:latin typeface="等线" panose="02010600030101010101" pitchFamily="2" charset="-122"/>
                <a:cs typeface="Times New Roman" panose="02020603050405020304" pitchFamily="18" charset="0"/>
              </a:rPr>
              <a:t>①尊重人才，为青年创造施展才华的舞台；</a:t>
            </a:r>
          </a:p>
          <a:p>
            <a:pPr algn="just">
              <a:spcAft>
                <a:spcPts val="0"/>
              </a:spcAft>
            </a:pPr>
            <a:r>
              <a:rPr lang="zh-CN" altLang="zh-CN" sz="2200" kern="100" dirty="0">
                <a:latin typeface="等线" panose="02010600030101010101" pitchFamily="2" charset="-122"/>
                <a:cs typeface="Times New Roman" panose="02020603050405020304" pitchFamily="18" charset="0"/>
              </a:rPr>
              <a:t>②心有凌云志，何惧基层苦；</a:t>
            </a:r>
          </a:p>
          <a:p>
            <a:pPr algn="just">
              <a:spcAft>
                <a:spcPts val="0"/>
              </a:spcAft>
            </a:pPr>
            <a:r>
              <a:rPr lang="zh-CN" altLang="zh-CN" sz="2200" kern="100" dirty="0">
                <a:latin typeface="等线" panose="02010600030101010101" pitchFamily="2" charset="-122"/>
                <a:cs typeface="Times New Roman" panose="02020603050405020304" pitchFamily="18" charset="0"/>
              </a:rPr>
              <a:t>③是人才，到哪里都不会“屈才”；</a:t>
            </a:r>
          </a:p>
          <a:p>
            <a:pPr algn="just">
              <a:spcAft>
                <a:spcPts val="0"/>
              </a:spcAft>
            </a:pPr>
            <a:r>
              <a:rPr lang="zh-CN" altLang="zh-CN" sz="2200" kern="100" dirty="0">
                <a:latin typeface="等线" panose="02010600030101010101" pitchFamily="2" charset="-122"/>
                <a:cs typeface="Times New Roman" panose="02020603050405020304" pitchFamily="18" charset="0"/>
              </a:rPr>
              <a:t>④脚踏实地服务社会，实现人生价值；</a:t>
            </a:r>
          </a:p>
          <a:p>
            <a:pPr algn="just">
              <a:spcAft>
                <a:spcPts val="0"/>
              </a:spcAft>
            </a:pPr>
            <a:r>
              <a:rPr lang="zh-CN" altLang="zh-CN" sz="2200" kern="100" dirty="0">
                <a:latin typeface="等线" panose="02010600030101010101" pitchFamily="2" charset="-122"/>
                <a:cs typeface="Times New Roman" panose="02020603050405020304" pitchFamily="18" charset="0"/>
              </a:rPr>
              <a:t>⑤放下名校包袱，从基层开始历练；</a:t>
            </a:r>
          </a:p>
          <a:p>
            <a:pPr algn="just">
              <a:spcAft>
                <a:spcPts val="0"/>
              </a:spcAft>
            </a:pPr>
            <a:r>
              <a:rPr lang="zh-CN" altLang="zh-CN" sz="2200" kern="100" dirty="0">
                <a:latin typeface="等线" panose="02010600030101010101" pitchFamily="2" charset="-122"/>
                <a:cs typeface="Times New Roman" panose="02020603050405020304" pitchFamily="18" charset="0"/>
              </a:rPr>
              <a:t>（</a:t>
            </a:r>
            <a:r>
              <a:rPr lang="en-US" altLang="zh-CN" sz="2200" kern="100" dirty="0">
                <a:latin typeface="等线" panose="02010600030101010101" pitchFamily="2" charset="-122"/>
                <a:cs typeface="Times New Roman" panose="02020603050405020304" pitchFamily="18" charset="0"/>
              </a:rPr>
              <a:t>3</a:t>
            </a:r>
            <a:r>
              <a:rPr lang="zh-CN" altLang="zh-CN" sz="2200" kern="100" dirty="0">
                <a:latin typeface="等线" panose="02010600030101010101" pitchFamily="2" charset="-122"/>
                <a:cs typeface="Times New Roman" panose="02020603050405020304" pitchFamily="18" charset="0"/>
              </a:rPr>
              <a:t>）从</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环境与发展</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的关系角度思考：</a:t>
            </a:r>
          </a:p>
          <a:p>
            <a:pPr algn="just">
              <a:spcAft>
                <a:spcPts val="0"/>
              </a:spcAft>
            </a:pPr>
            <a:r>
              <a:rPr lang="zh-CN" altLang="zh-CN" sz="2200" kern="100" dirty="0">
                <a:latin typeface="等线" panose="02010600030101010101" pitchFamily="2" charset="-122"/>
                <a:cs typeface="Times New Roman" panose="02020603050405020304" pitchFamily="18" charset="0"/>
              </a:rPr>
              <a:t>①营造良好环境，促进青年成才；</a:t>
            </a:r>
          </a:p>
          <a:p>
            <a:pPr algn="just">
              <a:spcAft>
                <a:spcPts val="0"/>
              </a:spcAft>
            </a:pPr>
            <a:r>
              <a:rPr lang="zh-CN" altLang="zh-CN" sz="2200" kern="100" dirty="0">
                <a:latin typeface="等线" panose="02010600030101010101" pitchFamily="2" charset="-122"/>
                <a:cs typeface="Times New Roman" panose="02020603050405020304" pitchFamily="18" charset="0"/>
              </a:rPr>
              <a:t>②基层天地广阔，是青年成才的好去处；</a:t>
            </a:r>
          </a:p>
          <a:p>
            <a:pPr algn="just">
              <a:spcAft>
                <a:spcPts val="0"/>
              </a:spcAft>
            </a:pPr>
            <a:r>
              <a:rPr lang="zh-CN" altLang="zh-CN" sz="2200" kern="100" dirty="0">
                <a:latin typeface="等线" panose="02010600030101010101" pitchFamily="2" charset="-122"/>
                <a:cs typeface="Times New Roman" panose="02020603050405020304" pitchFamily="18" charset="0"/>
              </a:rPr>
              <a:t>③到基层磨炼，方能担当大任；</a:t>
            </a:r>
          </a:p>
          <a:p>
            <a:pPr algn="just">
              <a:spcAft>
                <a:spcPts val="0"/>
              </a:spcAft>
            </a:pPr>
            <a:r>
              <a:rPr lang="zh-CN" altLang="zh-CN" sz="2200" kern="100" dirty="0">
                <a:latin typeface="等线" panose="02010600030101010101" pitchFamily="2" charset="-122"/>
                <a:cs typeface="Times New Roman" panose="02020603050405020304" pitchFamily="18" charset="0"/>
              </a:rPr>
              <a:t>④基层需要青年才俊，也能锤炼才能；</a:t>
            </a:r>
          </a:p>
          <a:p>
            <a:pPr algn="just">
              <a:spcAft>
                <a:spcPts val="0"/>
              </a:spcAft>
            </a:pPr>
            <a:r>
              <a:rPr lang="zh-CN" altLang="zh-CN" sz="2200" kern="100" dirty="0">
                <a:latin typeface="等线" panose="02010600030101010101" pitchFamily="2" charset="-122"/>
                <a:cs typeface="Times New Roman" panose="02020603050405020304" pitchFamily="18" charset="0"/>
              </a:rPr>
              <a:t>⑤栽下梧桐树，引得凤凰来。</a:t>
            </a:r>
          </a:p>
        </p:txBody>
      </p:sp>
    </p:spTree>
    <p:extLst>
      <p:ext uri="{BB962C8B-B14F-4D97-AF65-F5344CB8AC3E}">
        <p14:creationId xmlns:p14="http://schemas.microsoft.com/office/powerpoint/2010/main" val="99935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122" y="0"/>
            <a:ext cx="11793416" cy="6863417"/>
          </a:xfrm>
          <a:prstGeom prst="rect">
            <a:avLst/>
          </a:prstGeom>
        </p:spPr>
        <p:txBody>
          <a:bodyPr wrap="square">
            <a:spAutoFit/>
          </a:bodyPr>
          <a:lstStyle/>
          <a:p>
            <a:pPr algn="just">
              <a:spcAft>
                <a:spcPts val="0"/>
              </a:spcAft>
            </a:pPr>
            <a:r>
              <a:rPr lang="zh-CN" altLang="zh-CN" sz="2200" kern="100" dirty="0" smtClean="0">
                <a:latin typeface="等线" panose="02010600030101010101" pitchFamily="2" charset="-122"/>
                <a:cs typeface="Times New Roman" panose="02020603050405020304" pitchFamily="18" charset="0"/>
              </a:rPr>
              <a:t>写作</a:t>
            </a:r>
            <a:r>
              <a:rPr lang="zh-CN" altLang="zh-CN" sz="2200" kern="100" dirty="0">
                <a:latin typeface="等线" panose="02010600030101010101" pitchFamily="2" charset="-122"/>
                <a:cs typeface="Times New Roman" panose="02020603050405020304" pitchFamily="18" charset="0"/>
              </a:rPr>
              <a:t>问题分析</a:t>
            </a:r>
          </a:p>
          <a:p>
            <a:pPr algn="just">
              <a:spcAft>
                <a:spcPts val="0"/>
              </a:spcAft>
            </a:pP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一</a:t>
            </a:r>
            <a:r>
              <a:rPr lang="en-US" altLang="zh-CN" sz="2200" kern="100" dirty="0">
                <a:latin typeface="等线" panose="02010600030101010101" pitchFamily="2" charset="-122"/>
                <a:cs typeface="Times New Roman" panose="02020603050405020304" pitchFamily="18" charset="0"/>
              </a:rPr>
              <a:t>)</a:t>
            </a:r>
            <a:r>
              <a:rPr lang="zh-CN" altLang="zh-CN" sz="2200" kern="100" dirty="0">
                <a:latin typeface="等线" panose="02010600030101010101" pitchFamily="2" charset="-122"/>
                <a:cs typeface="Times New Roman" panose="02020603050405020304" pitchFamily="18" charset="0"/>
              </a:rPr>
              <a:t>偏题离题</a:t>
            </a:r>
          </a:p>
          <a:p>
            <a:pPr indent="266700" algn="just">
              <a:spcAft>
                <a:spcPts val="0"/>
              </a:spcAft>
            </a:pPr>
            <a:r>
              <a:rPr lang="zh-CN" altLang="zh-CN" sz="2200" kern="100" dirty="0">
                <a:latin typeface="等线" panose="02010600030101010101" pitchFamily="2" charset="-122"/>
                <a:cs typeface="Times New Roman" panose="02020603050405020304" pitchFamily="18" charset="0"/>
              </a:rPr>
              <a:t>本来这次命题的审题不难，但偏题离题的作文还是有，这跟考生的理解与写作能力密切相关。但令人不解的是，我们也发现不少表达能力不错的考生也出现了偏题离题导致得低分的情况。偏题离题的通常就写“人才浪费”，挤占普通人的就业机会，造成社会不公平，也有学生写如何“职业规划”“生涯规划”。</a:t>
            </a:r>
          </a:p>
          <a:p>
            <a:pPr indent="266700" algn="just">
              <a:spcAft>
                <a:spcPts val="0"/>
              </a:spcAft>
            </a:pPr>
            <a:r>
              <a:rPr lang="zh-CN" altLang="zh-CN" sz="2200" kern="100" dirty="0">
                <a:latin typeface="等线" panose="02010600030101010101" pitchFamily="2" charset="-122"/>
                <a:cs typeface="Times New Roman" panose="02020603050405020304" pitchFamily="18" charset="0"/>
              </a:rPr>
              <a:t>不少考生审题抓不住材料中的关键词：“ 职业选择与价值实现”。很多考生提到了“基层锻炼”，却不提什么是“价值实现”。 </a:t>
            </a:r>
          </a:p>
          <a:p>
            <a:pPr algn="just">
              <a:spcAft>
                <a:spcPts val="0"/>
              </a:spcAft>
            </a:pPr>
            <a:r>
              <a:rPr lang="zh-CN" altLang="zh-CN" sz="2200" kern="100" dirty="0">
                <a:latin typeface="等线" panose="02010600030101010101" pitchFamily="2" charset="-122"/>
                <a:cs typeface="Times New Roman" panose="02020603050405020304" pitchFamily="18" charset="0"/>
              </a:rPr>
              <a:t>（二）不合格式</a:t>
            </a:r>
          </a:p>
          <a:p>
            <a:pPr indent="266700" algn="just">
              <a:spcAft>
                <a:spcPts val="0"/>
              </a:spcAft>
            </a:pPr>
            <a:r>
              <a:rPr lang="en-US" altLang="zh-CN" sz="2200" kern="100" dirty="0">
                <a:latin typeface="等线" panose="02010600030101010101" pitchFamily="2" charset="-122"/>
                <a:cs typeface="Times New Roman" panose="02020603050405020304" pitchFamily="18" charset="0"/>
              </a:rPr>
              <a:t> </a:t>
            </a:r>
            <a:r>
              <a:rPr lang="zh-CN" altLang="zh-CN" sz="2200" kern="100" dirty="0">
                <a:latin typeface="等线" panose="02010600030101010101" pitchFamily="2" charset="-122"/>
                <a:cs typeface="Times New Roman" panose="02020603050405020304" pitchFamily="18" charset="0"/>
              </a:rPr>
              <a:t>一些学生写成了书信的格式，一些学生没有结束语。没有开场互动，没有收束号召。</a:t>
            </a:r>
          </a:p>
          <a:p>
            <a:pPr algn="just">
              <a:spcAft>
                <a:spcPts val="0"/>
              </a:spcAft>
            </a:pPr>
            <a:r>
              <a:rPr lang="zh-CN" altLang="zh-CN" sz="2200" kern="100" dirty="0">
                <a:latin typeface="等线" panose="02010600030101010101" pitchFamily="2" charset="-122"/>
                <a:cs typeface="Times New Roman" panose="02020603050405020304" pitchFamily="18" charset="0"/>
              </a:rPr>
              <a:t>（三）论述缺乏逻辑性</a:t>
            </a:r>
          </a:p>
          <a:p>
            <a:pPr indent="266700" algn="just">
              <a:spcAft>
                <a:spcPts val="0"/>
              </a:spcAft>
            </a:pPr>
            <a:r>
              <a:rPr lang="zh-CN" altLang="zh-CN" sz="2200" kern="100" dirty="0">
                <a:latin typeface="等线" panose="02010600030101010101" pitchFamily="2" charset="-122"/>
                <a:cs typeface="Times New Roman" panose="02020603050405020304" pitchFamily="18" charset="0"/>
              </a:rPr>
              <a:t>很多考生在引述完一则素材或者名言之后，桥梁工作没有铺好，或者根本没有衔接过渡，直接生硬地引出自己的观点，语言的逻辑性比较差，让阅卷老师不知所云。</a:t>
            </a:r>
          </a:p>
          <a:p>
            <a:pPr indent="266700" algn="just">
              <a:spcAft>
                <a:spcPts val="0"/>
              </a:spcAft>
            </a:pPr>
            <a:r>
              <a:rPr lang="zh-CN" altLang="zh-CN" sz="2200" kern="100" dirty="0">
                <a:latin typeface="等线" panose="02010600030101010101" pitchFamily="2" charset="-122"/>
                <a:cs typeface="Times New Roman" panose="02020603050405020304" pitchFamily="18" charset="0"/>
              </a:rPr>
              <a:t>本次作文命题颇有时代意识，社会思考价值。但考生在写作过程中受视野格局所限，只能肤浅地一味反复强调基层工作的重要性，不能联系时代社会写出“价值实现”的意义，演讲变成空谈。缺乏对问题的思辨，深度思考不足导致说服力不强。</a:t>
            </a:r>
          </a:p>
          <a:p>
            <a:pPr algn="just">
              <a:spcAft>
                <a:spcPts val="0"/>
              </a:spcAft>
            </a:pPr>
            <a:r>
              <a:rPr lang="zh-CN" altLang="zh-CN" sz="2200" kern="100" dirty="0">
                <a:latin typeface="等线" panose="02010600030101010101" pitchFamily="2" charset="-122"/>
                <a:cs typeface="Times New Roman" panose="02020603050405020304" pitchFamily="18" charset="0"/>
              </a:rPr>
              <a:t>（四）素材匮乏</a:t>
            </a:r>
          </a:p>
          <a:p>
            <a:pPr indent="266700" algn="just">
              <a:spcAft>
                <a:spcPts val="0"/>
              </a:spcAft>
            </a:pPr>
            <a:r>
              <a:rPr lang="zh-CN" altLang="zh-CN" sz="2200" kern="100" dirty="0">
                <a:latin typeface="等线" panose="02010600030101010101" pitchFamily="2" charset="-122"/>
                <a:cs typeface="Times New Roman" panose="02020603050405020304" pitchFamily="18" charset="0"/>
              </a:rPr>
              <a:t>有的考生缺少素材积累，只好将李白、杜甫拉出来，写上一大段废话。要知道，好的作文一般都会运用比较小众的素材，而且叙例点到为止，以分析为主。还有不少作文里颠来倒去就那几个例子，什么抗击疫情啊，感动</a:t>
            </a:r>
            <a:r>
              <a:rPr lang="zh-CN" altLang="zh-CN" sz="2200" kern="100">
                <a:latin typeface="等线" panose="02010600030101010101" pitchFamily="2" charset="-122"/>
                <a:cs typeface="Times New Roman" panose="02020603050405020304" pitchFamily="18" charset="0"/>
              </a:rPr>
              <a:t>中国</a:t>
            </a:r>
            <a:r>
              <a:rPr lang="zh-CN" altLang="zh-CN" sz="2200" kern="100" smtClean="0">
                <a:latin typeface="等线" panose="02010600030101010101" pitchFamily="2" charset="-122"/>
                <a:cs typeface="Times New Roman" panose="02020603050405020304" pitchFamily="18" charset="0"/>
              </a:rPr>
              <a:t>人物</a:t>
            </a:r>
            <a:r>
              <a:rPr lang="zh-CN" altLang="en-US" sz="2200" kern="100" smtClean="0">
                <a:latin typeface="等线" panose="02010600030101010101" pitchFamily="2" charset="-122"/>
                <a:cs typeface="Times New Roman" panose="02020603050405020304" pitchFamily="18" charset="0"/>
              </a:rPr>
              <a:t>，缺乏</a:t>
            </a:r>
            <a:r>
              <a:rPr lang="zh-CN" altLang="zh-CN" sz="2200" kern="100" smtClean="0">
                <a:latin typeface="等线" panose="02010600030101010101" pitchFamily="2" charset="-122"/>
                <a:cs typeface="Times New Roman" panose="02020603050405020304" pitchFamily="18" charset="0"/>
              </a:rPr>
              <a:t>新意</a:t>
            </a:r>
            <a:r>
              <a:rPr lang="zh-CN" altLang="zh-CN" sz="2200" kern="100" dirty="0">
                <a:latin typeface="等线"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2768532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1018</Words>
  <Application>Microsoft Office PowerPoint</Application>
  <PresentationFormat>宽屏</PresentationFormat>
  <Paragraphs>40</Paragraphs>
  <Slides>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vt:i4>
      </vt:variant>
    </vt:vector>
  </HeadingPairs>
  <TitlesOfParts>
    <vt:vector size="11" baseType="lpstr">
      <vt:lpstr>等线</vt:lpstr>
      <vt:lpstr>等线 Light</vt:lpstr>
      <vt:lpstr>楷体</vt:lpstr>
      <vt:lpstr>宋体</vt:lpstr>
      <vt:lpstr>Arial</vt:lpstr>
      <vt:lpstr>Times New Roman</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LJJ</dc:creator>
  <cp:lastModifiedBy>LJJ</cp:lastModifiedBy>
  <cp:revision>3</cp:revision>
  <dcterms:created xsi:type="dcterms:W3CDTF">2021-03-01T10:06:08Z</dcterms:created>
  <dcterms:modified xsi:type="dcterms:W3CDTF">2021-03-01T10:12:17Z</dcterms:modified>
</cp:coreProperties>
</file>