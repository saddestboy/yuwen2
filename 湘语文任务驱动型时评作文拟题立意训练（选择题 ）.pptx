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8"/>
  </p:notesMasterIdLst>
  <p:sldIdLst>
    <p:sldId id="693" r:id="rId2"/>
    <p:sldId id="638" r:id="rId3"/>
    <p:sldId id="774" r:id="rId4"/>
    <p:sldId id="772" r:id="rId5"/>
    <p:sldId id="775" r:id="rId6"/>
    <p:sldId id="771" r:id="rId7"/>
    <p:sldId id="694" r:id="rId8"/>
    <p:sldId id="776" r:id="rId9"/>
    <p:sldId id="644" r:id="rId10"/>
    <p:sldId id="777" r:id="rId11"/>
    <p:sldId id="695" r:id="rId12"/>
    <p:sldId id="778" r:id="rId13"/>
    <p:sldId id="696" r:id="rId14"/>
    <p:sldId id="779" r:id="rId15"/>
    <p:sldId id="697" r:id="rId16"/>
    <p:sldId id="780" r:id="rId17"/>
    <p:sldId id="698" r:id="rId18"/>
    <p:sldId id="781" r:id="rId19"/>
    <p:sldId id="704" r:id="rId20"/>
    <p:sldId id="782" r:id="rId21"/>
    <p:sldId id="701" r:id="rId22"/>
    <p:sldId id="783" r:id="rId23"/>
    <p:sldId id="706" r:id="rId24"/>
    <p:sldId id="784" r:id="rId25"/>
    <p:sldId id="705" r:id="rId26"/>
    <p:sldId id="708" r:id="rId27"/>
    <p:sldId id="785" r:id="rId28"/>
    <p:sldId id="709" r:id="rId29"/>
    <p:sldId id="786" r:id="rId30"/>
    <p:sldId id="710" r:id="rId31"/>
    <p:sldId id="787" r:id="rId32"/>
    <p:sldId id="711" r:id="rId33"/>
    <p:sldId id="763" r:id="rId34"/>
    <p:sldId id="764" r:id="rId35"/>
    <p:sldId id="766" r:id="rId36"/>
    <p:sldId id="767" r:id="rId37"/>
    <p:sldId id="768" r:id="rId38"/>
    <p:sldId id="769" r:id="rId39"/>
    <p:sldId id="770" r:id="rId40"/>
    <p:sldId id="712" r:id="rId41"/>
    <p:sldId id="713" r:id="rId42"/>
    <p:sldId id="714" r:id="rId43"/>
    <p:sldId id="720" r:id="rId44"/>
    <p:sldId id="765" r:id="rId45"/>
    <p:sldId id="773" r:id="rId46"/>
    <p:sldId id="716" r:id="rId47"/>
  </p:sldIdLst>
  <p:sldSz cx="12192000" cy="6858000"/>
  <p:notesSz cx="6858000" cy="9144000"/>
  <p:custDataLst>
    <p:tags r:id="rId49"/>
  </p:custDataLst>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221">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3300"/>
    <a:srgbClr val="800000"/>
    <a:srgbClr val="660033"/>
    <a:srgbClr val="003366"/>
    <a:srgbClr val="FF6600"/>
    <a:srgbClr val="080808"/>
    <a:srgbClr val="FF3300"/>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441" autoAdjust="0"/>
  </p:normalViewPr>
  <p:slideViewPr>
    <p:cSldViewPr showGuides="1">
      <p:cViewPr varScale="1">
        <p:scale>
          <a:sx n="98" d="100"/>
          <a:sy n="98" d="100"/>
        </p:scale>
        <p:origin x="1038" y="84"/>
      </p:cViewPr>
      <p:guideLst>
        <p:guide orient="horz" pos="2221"/>
        <p:guide pos="3839"/>
      </p:guideLst>
    </p:cSldViewPr>
  </p:slideViewPr>
  <p:notesTextViewPr>
    <p:cViewPr>
      <p:scale>
        <a:sx n="100" d="100"/>
        <a:sy n="100" d="100"/>
      </p:scale>
      <p:origin x="0" y="0"/>
    </p:cViewPr>
  </p:notesTextViewPr>
  <p:sorterViewPr showFormatting="0">
    <p:cViewPr>
      <p:scale>
        <a:sx n="66" d="100"/>
        <a:sy n="66" d="100"/>
      </p:scale>
      <p:origin x="0" y="846"/>
    </p:cViewPr>
  </p:sorterViewPr>
  <p:gridSpacing cx="76198" cy="7619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2020/12/24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1</a:t>
            </a:r>
            <a:r>
              <a:rPr lang="en-US" altLang="zh-CN"/>
              <a:t>.AC/BDE</a:t>
            </a:r>
            <a:r>
              <a:rPr lang="zh-CN" altLang="en-US"/>
              <a:t>都切合材料内容，从理性、善意对待武汉人的角度出发，且表达新颖到位，均为人民日报等主流媒体时评题目， A项显得宽泛，泛化为</a:t>
            </a:r>
            <a:r>
              <a:rPr lang="en-US" altLang="zh-CN"/>
              <a:t>“</a:t>
            </a:r>
            <a:r>
              <a:rPr lang="zh-CN" altLang="en-US"/>
              <a:t>责任</a:t>
            </a:r>
            <a:r>
              <a:rPr lang="en-US" altLang="zh-CN"/>
              <a:t>”</a:t>
            </a:r>
            <a:r>
              <a:rPr lang="zh-CN" altLang="en-US"/>
              <a:t>，没有把握材料核心，C项</a:t>
            </a:r>
            <a:r>
              <a:rPr lang="en-US" altLang="zh-CN"/>
              <a:t>“</a:t>
            </a:r>
            <a:r>
              <a:rPr lang="zh-CN" altLang="en-US"/>
              <a:t>窝里斗</a:t>
            </a:r>
            <a:r>
              <a:rPr lang="en-US" altLang="zh-CN"/>
              <a:t>”</a:t>
            </a:r>
            <a:r>
              <a:rPr lang="zh-CN" altLang="en-US"/>
              <a:t>忽略了特殊的抗疫背景和具体的对象（武汉人），容易泛泛而谈。</a:t>
            </a:r>
          </a:p>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2.BE/B</a:t>
            </a:r>
            <a:r>
              <a:rPr lang="zh-CN" altLang="en-US"/>
              <a:t>项</a:t>
            </a:r>
            <a:r>
              <a:rPr lang="en-US" altLang="zh-CN"/>
              <a:t>“</a:t>
            </a:r>
            <a:r>
              <a:rPr lang="zh-CN" altLang="en-US"/>
              <a:t>抵抗疫情</a:t>
            </a:r>
            <a:r>
              <a:rPr lang="en-US" altLang="zh-CN"/>
              <a:t>”</a:t>
            </a:r>
            <a:r>
              <a:rPr lang="zh-CN" altLang="en-US"/>
              <a:t>很泛，没有把握材料中对待</a:t>
            </a:r>
            <a:r>
              <a:rPr lang="en-US" altLang="zh-CN"/>
              <a:t>“</a:t>
            </a:r>
            <a:r>
              <a:rPr lang="zh-CN" altLang="en-US"/>
              <a:t>谣言</a:t>
            </a:r>
            <a:r>
              <a:rPr lang="en-US" altLang="zh-CN"/>
              <a:t>”</a:t>
            </a:r>
            <a:r>
              <a:rPr lang="zh-CN" altLang="en-US"/>
              <a:t>的特定话题，</a:t>
            </a:r>
            <a:r>
              <a:rPr lang="en-US" altLang="zh-CN"/>
              <a:t>E</a:t>
            </a:r>
            <a:r>
              <a:rPr lang="zh-CN" altLang="en-US"/>
              <a:t>项转换为谈</a:t>
            </a:r>
            <a:r>
              <a:rPr lang="en-US" altLang="zh-CN"/>
              <a:t>“</a:t>
            </a:r>
            <a:r>
              <a:rPr lang="zh-CN" altLang="en-US"/>
              <a:t>老人素质</a:t>
            </a:r>
            <a:r>
              <a:rPr lang="en-US" altLang="zh-CN"/>
              <a:t>”</a:t>
            </a:r>
            <a:r>
              <a:rPr lang="zh-CN" altLang="en-US"/>
              <a:t>，属断章取义（如改为</a:t>
            </a:r>
            <a:r>
              <a:rPr lang="en-US" altLang="zh-CN"/>
              <a:t>“</a:t>
            </a:r>
            <a:r>
              <a:rPr lang="zh-CN" altLang="en-US"/>
              <a:t>防治谣言，多关注老人群体</a:t>
            </a:r>
            <a:r>
              <a:rPr lang="en-US" altLang="zh-CN"/>
              <a:t>”</a:t>
            </a:r>
            <a:r>
              <a:rPr lang="zh-CN" altLang="en-US"/>
              <a:t>则不错）。</a:t>
            </a:r>
            <a:r>
              <a:rPr lang="en-US"/>
              <a:t>A</a:t>
            </a:r>
            <a:r>
              <a:rPr lang="zh-CN" altLang="en-US"/>
              <a:t>项从</a:t>
            </a:r>
            <a:r>
              <a:rPr lang="en-US" altLang="zh-CN"/>
              <a:t>“</a:t>
            </a:r>
            <a:r>
              <a:rPr lang="zh-CN" altLang="en-US"/>
              <a:t>贵州敏敏</a:t>
            </a:r>
            <a:r>
              <a:rPr lang="en-US" altLang="zh-CN"/>
              <a:t>”</a:t>
            </a:r>
            <a:r>
              <a:rPr lang="zh-CN" altLang="en-US"/>
              <a:t>的角度出发，观点鲜明，</a:t>
            </a:r>
            <a:r>
              <a:rPr lang="en-US" altLang="zh-CN"/>
              <a:t>C</a:t>
            </a:r>
            <a:r>
              <a:rPr lang="zh-CN" altLang="en-US"/>
              <a:t>项从</a:t>
            </a:r>
            <a:r>
              <a:rPr lang="en-US" altLang="zh-CN"/>
              <a:t>“</a:t>
            </a:r>
            <a:r>
              <a:rPr lang="zh-CN" altLang="en-US"/>
              <a:t>重庆明亮</a:t>
            </a:r>
            <a:r>
              <a:rPr lang="en-US" altLang="zh-CN"/>
              <a:t>”</a:t>
            </a:r>
            <a:r>
              <a:rPr lang="zh-CN" altLang="en-US"/>
              <a:t>的角度出发，符合材料内容，</a:t>
            </a:r>
            <a:r>
              <a:rPr lang="en-US" altLang="zh-CN"/>
              <a:t>D</a:t>
            </a:r>
            <a:r>
              <a:rPr lang="zh-CN" altLang="en-US"/>
              <a:t>项综合</a:t>
            </a:r>
            <a:r>
              <a:rPr lang="en-US" altLang="zh-CN"/>
              <a:t>“</a:t>
            </a:r>
            <a:r>
              <a:rPr lang="zh-CN" altLang="en-US"/>
              <a:t>河北锋哥</a:t>
            </a:r>
            <a:r>
              <a:rPr lang="en-US" altLang="zh-CN"/>
              <a:t>”“</a:t>
            </a:r>
            <a:r>
              <a:rPr lang="zh-CN" altLang="en-US"/>
              <a:t>河南丽姐</a:t>
            </a:r>
            <a:r>
              <a:rPr lang="en-US" altLang="zh-CN"/>
              <a:t>”“</a:t>
            </a:r>
            <a:r>
              <a:rPr lang="zh-CN" altLang="en-US"/>
              <a:t>湖北小强</a:t>
            </a:r>
            <a:r>
              <a:rPr lang="en-US" altLang="zh-CN"/>
              <a:t>”</a:t>
            </a:r>
            <a:r>
              <a:rPr lang="zh-CN" altLang="en-US"/>
              <a:t>等角度，表达新颖，合情合理。</a:t>
            </a:r>
          </a:p>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6837353-30EB-4A48-80EB-173D804AEFBD}" type="slidenum">
              <a:rPr lang="zh-CN" altLang="en-US" smtClean="0"/>
              <a:t>5</a:t>
            </a:fld>
            <a:endParaRPr lang="zh-CN" altLang="en-US"/>
          </a:p>
        </p:txBody>
      </p:sp>
    </p:spTree>
    <p:extLst>
      <p:ext uri="{BB962C8B-B14F-4D97-AF65-F5344CB8AC3E}">
        <p14:creationId xmlns:p14="http://schemas.microsoft.com/office/powerpoint/2010/main" val="175696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3</a:t>
            </a:r>
            <a:r>
              <a:rPr lang="zh-CN" altLang="en-US"/>
              <a:t>、BE   A项显得宽泛，也缺乏论点 C项从交警的角度出发，没有从小陈老陈的角度出发好  D项标题偏离材料，因为材料没有包含类似于规则、责任等关键词。</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4</a:t>
            </a:r>
            <a:r>
              <a:rPr lang="zh-CN" altLang="en-US" dirty="0"/>
              <a:t>、BD   B项没有倾向性，你认为谁最有风采，这个问题的答案不</a:t>
            </a:r>
            <a:r>
              <a:rPr lang="zh-CN" altLang="en-US" dirty="0" smtClean="0"/>
              <a:t>明显；D</a:t>
            </a:r>
            <a:r>
              <a:rPr lang="zh-CN" altLang="en-US" dirty="0"/>
              <a:t>没有包含风采关键词          ACE很明显对应着大李、老王、小刘</a:t>
            </a:r>
          </a:p>
          <a:p>
            <a:endParaRPr lang="zh-CN"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ym typeface="+mn-ea"/>
              </a:rPr>
              <a:t>5</a:t>
            </a:r>
            <a:r>
              <a:rPr lang="zh-CN" altLang="en-US" dirty="0">
                <a:sym typeface="+mn-ea"/>
              </a:rPr>
              <a:t>、AD    A项偏离题意，时事件的对立多方都是过错的时候才用得上这个标题，这里不是简简单单的谦让就能</a:t>
            </a:r>
            <a:r>
              <a:rPr lang="zh-CN" altLang="en-US" dirty="0" smtClean="0">
                <a:sym typeface="+mn-ea"/>
              </a:rPr>
              <a:t>解决问题</a:t>
            </a:r>
            <a:r>
              <a:rPr lang="zh-CN" altLang="en-US" dirty="0">
                <a:sym typeface="+mn-ea"/>
              </a:rPr>
              <a:t>；</a:t>
            </a:r>
            <a:r>
              <a:rPr lang="zh-CN" altLang="en-US" dirty="0" smtClean="0">
                <a:sym typeface="+mn-ea"/>
              </a:rPr>
              <a:t>D</a:t>
            </a:r>
            <a:r>
              <a:rPr lang="zh-CN" altLang="en-US" dirty="0">
                <a:sym typeface="+mn-ea"/>
              </a:rPr>
              <a:t>项没有揭示材料的核心，</a:t>
            </a:r>
            <a:r>
              <a:rPr lang="en-US" altLang="zh-CN" dirty="0">
                <a:sym typeface="+mn-ea"/>
              </a:rPr>
              <a:t>“</a:t>
            </a:r>
            <a:r>
              <a:rPr lang="zh-CN" altLang="en-US" dirty="0">
                <a:sym typeface="+mn-ea"/>
              </a:rPr>
              <a:t>不计名利</a:t>
            </a:r>
            <a:r>
              <a:rPr lang="en-US" altLang="zh-CN" dirty="0">
                <a:sym typeface="+mn-ea"/>
              </a:rPr>
              <a:t>”</a:t>
            </a:r>
            <a:r>
              <a:rPr lang="zh-CN" altLang="en-US" dirty="0">
                <a:sym typeface="+mn-ea"/>
              </a:rPr>
              <a:t>的说法也欠妥</a:t>
            </a:r>
            <a:r>
              <a:rPr lang="zh-CN" altLang="en-US" dirty="0" smtClean="0">
                <a:sym typeface="+mn-ea"/>
              </a:rPr>
              <a:t>。BCE中都包含了“改名”这个关键词。</a:t>
            </a:r>
            <a:endParaRPr lang="zh-CN" altLang="en-US" dirty="0"/>
          </a:p>
          <a:p>
            <a:endParaRPr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A6837353-30EB-4A48-80EB-173D804AEFBD}" type="slidenum">
              <a:rPr lang="zh-CN" altLang="en-US" smtClean="0"/>
              <a:t>10</a:t>
            </a:fld>
            <a:endParaRPr lang="zh-CN" altLang="en-US"/>
          </a:p>
        </p:txBody>
      </p:sp>
    </p:spTree>
    <p:extLst>
      <p:ext uri="{BB962C8B-B14F-4D97-AF65-F5344CB8AC3E}">
        <p14:creationId xmlns:p14="http://schemas.microsoft.com/office/powerpoint/2010/main" val="33607524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6</a:t>
            </a:r>
            <a:r>
              <a:rPr lang="zh-CN" altLang="en-US" dirty="0"/>
              <a:t>、BC  A项只是说读书，没有涉及经典   D项标题不太适合考场议论文，且入口太</a:t>
            </a:r>
            <a:r>
              <a:rPr lang="zh-CN" altLang="en-US" dirty="0" smtClean="0"/>
              <a:t>大，如改为“谈谈经典文学的经典性”未尝不可；</a:t>
            </a:r>
            <a:r>
              <a:rPr lang="zh-CN" altLang="en-US" dirty="0"/>
              <a:t> E项偷换概念，把经典变成了文学，不够准确，BC项包含了经典这个关键词，并且从不同角度提出了观点。</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7</a:t>
            </a:r>
            <a:r>
              <a:rPr lang="zh-CN" altLang="en-US"/>
              <a:t>、AD  A项提到孩子父母这些词，这不是材料的核心词，D项显得宽泛，也缺乏明确观点，过于简短的标题，也很难揭示材料的核心，不太适宜。</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8</a:t>
            </a:r>
            <a:r>
              <a:rPr lang="zh-CN" altLang="en-US" dirty="0" smtClean="0"/>
              <a:t>、</a:t>
            </a:r>
            <a:r>
              <a:rPr lang="en-US" altLang="zh-CN" dirty="0" smtClean="0"/>
              <a:t>B</a:t>
            </a:r>
            <a:r>
              <a:rPr lang="zh-CN" altLang="en-US" dirty="0" smtClean="0"/>
              <a:t>E</a:t>
            </a:r>
            <a:r>
              <a:rPr lang="zh-CN" altLang="en-US" dirty="0"/>
              <a:t>   A项从工作人员出发，准确，B项</a:t>
            </a:r>
            <a:r>
              <a:rPr lang="zh-CN" altLang="en-US" dirty="0" smtClean="0"/>
              <a:t>也是工作人员角度，但“喝彩”一次有些过了，</a:t>
            </a:r>
            <a:r>
              <a:rPr lang="zh-CN" altLang="en-US" dirty="0"/>
              <a:t> C</a:t>
            </a:r>
            <a:r>
              <a:rPr lang="zh-CN" altLang="en-US" dirty="0" smtClean="0"/>
              <a:t>项从双方角度切入，正确。</a:t>
            </a:r>
            <a:r>
              <a:rPr lang="zh-CN" altLang="en-US" dirty="0"/>
              <a:t> D项从观众入手，准确，E项中</a:t>
            </a:r>
            <a:r>
              <a:rPr lang="en-US" altLang="zh-CN" dirty="0"/>
              <a:t>“</a:t>
            </a:r>
            <a:r>
              <a:rPr lang="zh-CN" altLang="en-US" dirty="0"/>
              <a:t>尊重</a:t>
            </a:r>
            <a:r>
              <a:rPr lang="en-US" altLang="zh-CN" dirty="0"/>
              <a:t>”</a:t>
            </a:r>
            <a:r>
              <a:rPr lang="zh-CN" altLang="en-US" dirty="0"/>
              <a:t>准确，但仅仅针对音乐，显得论题狭窄，也和原材料的表述有出入。</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9</a:t>
            </a:r>
            <a:r>
              <a:rPr lang="zh-CN" altLang="en-US"/>
              <a:t>、BD 这个作文题中，采访对象是钢琴大师，其评价是相对公允与客观的，不宜做过多反驳。B项反面立意，不太吻合命题初衷。D项，也言过其实，辩论用力过猛。</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ym typeface="+mn-ea"/>
              </a:rPr>
              <a:t>10</a:t>
            </a:r>
            <a:r>
              <a:rPr lang="zh-CN" altLang="en-US" dirty="0">
                <a:sym typeface="+mn-ea"/>
              </a:rPr>
              <a:t>、AD  A错误地理解了材料的核心，以</a:t>
            </a:r>
            <a:r>
              <a:rPr lang="en-US" altLang="zh-CN" dirty="0">
                <a:sym typeface="+mn-ea"/>
              </a:rPr>
              <a:t>“</a:t>
            </a:r>
            <a:r>
              <a:rPr lang="zh-CN" altLang="en-US" dirty="0">
                <a:sym typeface="+mn-ea"/>
              </a:rPr>
              <a:t>孝</a:t>
            </a:r>
            <a:r>
              <a:rPr lang="en-US" altLang="zh-CN" dirty="0">
                <a:sym typeface="+mn-ea"/>
              </a:rPr>
              <a:t>”</a:t>
            </a:r>
            <a:r>
              <a:rPr lang="zh-CN" altLang="en-US" dirty="0">
                <a:sym typeface="+mn-ea"/>
              </a:rPr>
              <a:t>为由，表述也不够准确；</a:t>
            </a:r>
            <a:r>
              <a:rPr lang="en-US" altLang="zh-CN" dirty="0">
                <a:sym typeface="+mn-ea"/>
              </a:rPr>
              <a:t>D</a:t>
            </a:r>
            <a:r>
              <a:rPr lang="zh-CN" altLang="en-US" dirty="0">
                <a:sym typeface="+mn-ea"/>
              </a:rPr>
              <a:t>语意过重，言过其实。</a:t>
            </a:r>
            <a:r>
              <a:rPr lang="en-US" altLang="zh-CN" dirty="0">
                <a:sym typeface="+mn-ea"/>
              </a:rPr>
              <a:t>BCE</a:t>
            </a:r>
            <a:r>
              <a:rPr lang="zh-CN" altLang="en-US" dirty="0">
                <a:sym typeface="+mn-ea"/>
              </a:rPr>
              <a:t>针对现象，有所呼吁，提出建言。</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sym typeface="+mn-ea"/>
              </a:rPr>
              <a:t>11</a:t>
            </a:r>
            <a:r>
              <a:rPr lang="zh-CN" altLang="en-US">
                <a:sym typeface="+mn-ea"/>
              </a:rPr>
              <a:t>、</a:t>
            </a:r>
            <a:r>
              <a:rPr lang="en-US" altLang="zh-CN">
                <a:sym typeface="+mn-ea"/>
              </a:rPr>
              <a:t>A</a:t>
            </a:r>
            <a:r>
              <a:rPr lang="zh-CN" altLang="en-US">
                <a:sym typeface="+mn-ea"/>
              </a:rPr>
              <a:t>E   A项针对小云，</a:t>
            </a:r>
            <a:r>
              <a:rPr lang="en-US" altLang="zh-CN">
                <a:sym typeface="+mn-ea"/>
              </a:rPr>
              <a:t>“</a:t>
            </a:r>
            <a:r>
              <a:rPr lang="zh-CN" altLang="en-US">
                <a:sym typeface="+mn-ea"/>
              </a:rPr>
              <a:t>无私</a:t>
            </a:r>
            <a:r>
              <a:rPr lang="en-US" altLang="zh-CN">
                <a:sym typeface="+mn-ea"/>
              </a:rPr>
              <a:t>”</a:t>
            </a:r>
            <a:r>
              <a:rPr lang="zh-CN" altLang="en-US">
                <a:sym typeface="+mn-ea"/>
              </a:rPr>
              <a:t>是对的，但是</a:t>
            </a:r>
            <a:r>
              <a:rPr lang="en-US" altLang="zh-CN">
                <a:sym typeface="+mn-ea"/>
              </a:rPr>
              <a:t>“</a:t>
            </a:r>
            <a:r>
              <a:rPr lang="zh-CN" b="1">
                <a:solidFill>
                  <a:srgbClr val="7030A0"/>
                </a:solidFill>
                <a:sym typeface="+mn-ea"/>
              </a:rPr>
              <a:t>不慕虚名</a:t>
            </a:r>
            <a:r>
              <a:rPr lang="en-US" altLang="zh-CN">
                <a:sym typeface="+mn-ea"/>
              </a:rPr>
              <a:t>”</a:t>
            </a:r>
            <a:r>
              <a:rPr lang="zh-CN" altLang="en-US">
                <a:sym typeface="+mn-ea"/>
              </a:rPr>
              <a:t>的说法欠准确，材料中的奖励不能称之为</a:t>
            </a:r>
            <a:r>
              <a:rPr lang="en-US" altLang="zh-CN">
                <a:sym typeface="+mn-ea"/>
              </a:rPr>
              <a:t>“</a:t>
            </a:r>
            <a:r>
              <a:rPr lang="zh-CN" altLang="en-US">
                <a:sym typeface="+mn-ea"/>
              </a:rPr>
              <a:t>虚名</a:t>
            </a:r>
            <a:r>
              <a:rPr lang="en-US" altLang="zh-CN">
                <a:sym typeface="+mn-ea"/>
              </a:rPr>
              <a:t>”</a:t>
            </a:r>
            <a:r>
              <a:rPr lang="zh-CN" altLang="en-US">
                <a:sym typeface="+mn-ea"/>
              </a:rPr>
              <a:t>； E项中前半句脱离了材料的核心，后半句也无倾向性。B项针对小宏，凸显</a:t>
            </a:r>
            <a:r>
              <a:rPr lang="en-US" altLang="zh-CN">
                <a:sym typeface="+mn-ea"/>
              </a:rPr>
              <a:t>“</a:t>
            </a:r>
            <a:r>
              <a:rPr lang="zh-CN" altLang="en-US">
                <a:sym typeface="+mn-ea"/>
              </a:rPr>
              <a:t>善念</a:t>
            </a:r>
            <a:r>
              <a:rPr lang="en-US" altLang="zh-CN">
                <a:sym typeface="+mn-ea"/>
              </a:rPr>
              <a:t>”</a:t>
            </a:r>
            <a:r>
              <a:rPr lang="zh-CN" altLang="en-US">
                <a:sym typeface="+mn-ea"/>
              </a:rPr>
              <a:t>；C项针对小腾，符合材料中</a:t>
            </a:r>
            <a:r>
              <a:rPr lang="en-US" altLang="zh-CN">
                <a:sym typeface="+mn-ea"/>
              </a:rPr>
              <a:t>“</a:t>
            </a:r>
            <a:r>
              <a:rPr lang="zh-CN" altLang="en-US">
                <a:sym typeface="+mn-ea"/>
              </a:rPr>
              <a:t>鼓励创新活动</a:t>
            </a:r>
            <a:r>
              <a:rPr lang="en-US" altLang="zh-CN">
                <a:sym typeface="+mn-ea"/>
              </a:rPr>
              <a:t>”</a:t>
            </a:r>
            <a:r>
              <a:rPr lang="zh-CN" altLang="en-US">
                <a:sym typeface="+mn-ea"/>
              </a:rPr>
              <a:t>的含义。  D项虽未提出观点，但能适用于三个人的想法。</a:t>
            </a:r>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dirty="0"/>
              <a:t>1</a:t>
            </a:r>
            <a:r>
              <a:rPr lang="en-US" dirty="0"/>
              <a:t>2. CD</a:t>
            </a:r>
            <a:r>
              <a:rPr dirty="0"/>
              <a:t>   </a:t>
            </a:r>
            <a:r>
              <a:rPr dirty="0" err="1"/>
              <a:t>A项</a:t>
            </a:r>
            <a:r>
              <a:rPr lang="zh-CN" dirty="0"/>
              <a:t>质疑有关部门的做法，提出不能以</a:t>
            </a:r>
            <a:r>
              <a:rPr lang="en-US" altLang="zh-CN" dirty="0"/>
              <a:t>“</a:t>
            </a:r>
            <a:r>
              <a:rPr lang="zh-CN" altLang="en-US" dirty="0"/>
              <a:t>罚</a:t>
            </a:r>
            <a:r>
              <a:rPr lang="en-US" altLang="zh-CN" dirty="0"/>
              <a:t>”</a:t>
            </a:r>
            <a:r>
              <a:rPr lang="zh-CN" altLang="en-US" dirty="0"/>
              <a:t>代禁，言之有理</a:t>
            </a:r>
            <a:r>
              <a:rPr dirty="0"/>
              <a:t>。 </a:t>
            </a:r>
            <a:r>
              <a:rPr lang="en-US" dirty="0"/>
              <a:t>B</a:t>
            </a:r>
            <a:r>
              <a:rPr lang="zh-CN" altLang="en-US" dirty="0"/>
              <a:t>项从燃放烟花的合理性切入，凸显</a:t>
            </a:r>
            <a:r>
              <a:rPr lang="en-US" altLang="zh-CN" dirty="0"/>
              <a:t>“</a:t>
            </a:r>
            <a:r>
              <a:rPr lang="zh-CN" altLang="en-US" dirty="0"/>
              <a:t>年味</a:t>
            </a:r>
            <a:r>
              <a:rPr lang="en-US" altLang="zh-CN" dirty="0"/>
              <a:t>”</a:t>
            </a:r>
            <a:r>
              <a:rPr lang="zh-CN" altLang="en-US" dirty="0"/>
              <a:t>的重要，正确。</a:t>
            </a:r>
            <a:r>
              <a:rPr dirty="0" err="1"/>
              <a:t>C项显得宽泛，也缺乏论点（过于</a:t>
            </a:r>
            <a:r>
              <a:rPr lang="zh-CN" dirty="0"/>
              <a:t>简短</a:t>
            </a:r>
            <a:r>
              <a:rPr dirty="0" err="1"/>
              <a:t>的标题</a:t>
            </a:r>
            <a:r>
              <a:rPr lang="zh-CN" dirty="0"/>
              <a:t>不太适宜</a:t>
            </a:r>
            <a:r>
              <a:rPr dirty="0"/>
              <a:t>）</a:t>
            </a:r>
            <a:r>
              <a:rPr lang="zh-CN" dirty="0"/>
              <a:t>；</a:t>
            </a:r>
            <a:r>
              <a:rPr dirty="0" err="1"/>
              <a:t>D项是</a:t>
            </a:r>
            <a:r>
              <a:rPr lang="zh-CN" dirty="0"/>
              <a:t>描述过年</a:t>
            </a:r>
            <a:r>
              <a:rPr dirty="0" err="1"/>
              <a:t>现象</a:t>
            </a:r>
            <a:r>
              <a:rPr dirty="0"/>
              <a:t>，</a:t>
            </a:r>
            <a:r>
              <a:rPr lang="zh-CN" dirty="0"/>
              <a:t>没能表明对事件的立场。</a:t>
            </a:r>
            <a:r>
              <a:rPr lang="en-US" altLang="zh-CN" dirty="0"/>
              <a:t>E</a:t>
            </a:r>
            <a:r>
              <a:rPr lang="zh-CN" altLang="en-US" dirty="0"/>
              <a:t>符合材料中</a:t>
            </a:r>
            <a:r>
              <a:rPr lang="en-US" altLang="zh-CN" dirty="0"/>
              <a:t>“</a:t>
            </a:r>
            <a:r>
              <a:rPr lang="zh-CN" altLang="en-US" dirty="0"/>
              <a:t>赞成者</a:t>
            </a:r>
            <a:r>
              <a:rPr lang="en-US" altLang="zh-CN" dirty="0"/>
              <a:t>”</a:t>
            </a:r>
            <a:r>
              <a:rPr lang="zh-CN" altLang="en-US" dirty="0"/>
              <a:t>的</a:t>
            </a:r>
            <a:r>
              <a:rPr lang="zh-CN" altLang="en-US" dirty="0" smtClean="0"/>
              <a:t>观点，“</a:t>
            </a:r>
            <a:r>
              <a:rPr lang="en-US" altLang="zh-CN" sz="1200" b="1" dirty="0" err="1" smtClean="0">
                <a:solidFill>
                  <a:srgbClr val="7030A0"/>
                </a:solidFill>
              </a:rPr>
              <a:t>势在必行</a:t>
            </a:r>
            <a:r>
              <a:rPr lang="zh-CN" altLang="en-US" sz="1200" b="1" dirty="0" smtClean="0">
                <a:solidFill>
                  <a:srgbClr val="7030A0"/>
                </a:solidFill>
              </a:rPr>
              <a:t>”语气较重，但作为个人观点，且也符合材料中“赞成者”</a:t>
            </a:r>
            <a:r>
              <a:rPr lang="zh-CN" altLang="en-US" dirty="0" smtClean="0"/>
              <a:t>。</a:t>
            </a:r>
            <a:endParaRPr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t>1</a:t>
            </a:r>
            <a:r>
              <a:rPr lang="en-US"/>
              <a:t>3</a:t>
            </a:r>
            <a:r>
              <a:t>、</a:t>
            </a:r>
            <a:r>
              <a:rPr lang="en-US"/>
              <a:t>CD</a:t>
            </a:r>
            <a:r>
              <a:t>  A项</a:t>
            </a:r>
            <a:r>
              <a:rPr lang="zh-CN"/>
              <a:t>引用毛泽东诗句，意思是说</a:t>
            </a:r>
            <a:r>
              <a:rPr lang="en-US" altLang="zh-CN"/>
              <a:t>“对一切风光景物要放开眼界去衡量”</a:t>
            </a:r>
            <a:r>
              <a:rPr lang="zh-CN" altLang="en-US"/>
              <a:t>，为</a:t>
            </a:r>
            <a:r>
              <a:rPr lang="en-US" altLang="zh-CN"/>
              <a:t>“</a:t>
            </a:r>
            <a:r>
              <a:rPr lang="zh-CN" altLang="en-US"/>
              <a:t>拆楼</a:t>
            </a:r>
            <a:r>
              <a:rPr lang="en-US" altLang="zh-CN"/>
              <a:t>”</a:t>
            </a:r>
            <a:r>
              <a:rPr lang="zh-CN" altLang="en-US"/>
              <a:t>者做辩护，正确。</a:t>
            </a:r>
            <a:r>
              <a:t>  B项很文艺，</a:t>
            </a:r>
            <a:r>
              <a:rPr lang="zh-CN"/>
              <a:t>且有</a:t>
            </a:r>
            <a:r>
              <a:t>“</a:t>
            </a:r>
            <a:r>
              <a:rPr lang="zh-CN"/>
              <a:t>发展</a:t>
            </a:r>
            <a:r>
              <a:t>”</a:t>
            </a:r>
            <a:r>
              <a:rPr lang="zh-CN"/>
              <a:t>二字，贴切。</a:t>
            </a:r>
            <a:r>
              <a:rPr lang="en-US"/>
              <a:t>D</a:t>
            </a:r>
            <a:r>
              <a:rPr lang="zh-CN" altLang="en-US"/>
              <a:t>项中，</a:t>
            </a:r>
            <a:r>
              <a:rPr lang="en-US" altLang="zh-CN"/>
              <a:t>“</a:t>
            </a:r>
            <a:r>
              <a:rPr lang="zh-CN" altLang="zh-CN" b="1" dirty="0">
                <a:sym typeface="+mn-ea"/>
              </a:rPr>
              <a:t>义举</a:t>
            </a:r>
            <a:r>
              <a:rPr lang="en-US" altLang="zh-CN"/>
              <a:t>”</a:t>
            </a:r>
            <a:r>
              <a:rPr lang="zh-CN" altLang="en-US"/>
              <a:t>用语有些过，不够理性婉转。</a:t>
            </a:r>
            <a:endParaRPr lang="en-US" altLang="zh-CN"/>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t>1</a:t>
            </a:r>
            <a:r>
              <a:rPr lang="en-US"/>
              <a:t>4</a:t>
            </a:r>
            <a:r>
              <a:t>、DE   ABC三项都是写的祖训，而且观点明确，富有文采； D项没有写出青花瓷的内涵实质，偏于单薄。 E项没有完成作文指令，“辛劳”和材料有些远。</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t>1</a:t>
            </a:r>
            <a:r>
              <a:rPr lang="en-US"/>
              <a:t>5</a:t>
            </a:r>
            <a:r>
              <a:t>、AC  B项以大黎为出发点；D项从双方交流出发，E项以球迷俱乐部为出发点； A项显得宽泛，没有根植事件，“自私”的说法也有些过；C项显得宽泛，也缺乏论点（且过于简短，不够丰富）。</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t>1</a:t>
            </a:r>
            <a:r>
              <a:rPr lang="en-US"/>
              <a:t>6</a:t>
            </a:r>
            <a:r>
              <a:t>、BC</a:t>
            </a:r>
            <a:r>
              <a:rPr lang="en-US"/>
              <a:t>/</a:t>
            </a:r>
            <a:r>
              <a:t>B项是从赞同的角度立意；C项是从反对角度立意。均观点明确，切好材料。 A项立意流于肤浅，此题重心不在于“保护动物”，而在于“情”“理”“法”的关系；D项偏离材料的核心（偷鸟蛋获刑），材料并未提及“溺爱”；E项同样偏离材料核心。</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t>1</a:t>
            </a:r>
            <a:r>
              <a:rPr lang="en-US"/>
              <a:t>7</a:t>
            </a:r>
            <a:r>
              <a:t>、CE  A项是从赞成角度立意，B项是从反面角度立意，D项突出“文明”和“自律”的关系，均准确。C项是名词性短语，观点不明，不提倡，且“幸福”一词也不够准确。 D项显得宽泛，标题中最好有关键词“门”  E项写“爱护书籍”，流于表面，且偏移材料重心。</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b="1" dirty="0">
                <a:sym typeface="+mn-ea"/>
              </a:rPr>
              <a:t>18、AB /AB分别</a:t>
            </a:r>
            <a:r>
              <a:rPr lang="zh-CN" b="1" dirty="0">
                <a:sym typeface="+mn-ea"/>
              </a:rPr>
              <a:t>切合</a:t>
            </a:r>
            <a:r>
              <a:rPr lang="en-US" b="1" dirty="0">
                <a:sym typeface="+mn-ea"/>
              </a:rPr>
              <a:t>“油条哥”</a:t>
            </a:r>
            <a:r>
              <a:rPr lang="zh-CN" altLang="en-US" b="1" dirty="0">
                <a:sym typeface="+mn-ea"/>
              </a:rPr>
              <a:t>不用</a:t>
            </a:r>
            <a:r>
              <a:rPr lang="en-US" b="1" dirty="0">
                <a:sym typeface="+mn-ea"/>
              </a:rPr>
              <a:t>“复炸油”</a:t>
            </a:r>
            <a:r>
              <a:rPr lang="zh-CN" altLang="en-US" b="1" dirty="0">
                <a:sym typeface="+mn-ea"/>
              </a:rPr>
              <a:t>的</a:t>
            </a:r>
            <a:r>
              <a:rPr lang="en-US" b="1" dirty="0">
                <a:sym typeface="+mn-ea"/>
              </a:rPr>
              <a:t>义举、老父亲理解儿子</a:t>
            </a:r>
            <a:r>
              <a:rPr lang="zh-CN" altLang="en-US" b="1" dirty="0">
                <a:sym typeface="+mn-ea"/>
              </a:rPr>
              <a:t>的暖心之举，</a:t>
            </a:r>
            <a:r>
              <a:rPr lang="en-US" b="1" dirty="0">
                <a:sym typeface="+mn-ea"/>
              </a:rPr>
              <a:t>角度</a:t>
            </a:r>
            <a:r>
              <a:rPr lang="zh-CN" altLang="en-US" b="1" dirty="0">
                <a:sym typeface="+mn-ea"/>
              </a:rPr>
              <a:t>选择得好，</a:t>
            </a:r>
            <a:r>
              <a:rPr lang="en-US" b="1" dirty="0">
                <a:sym typeface="+mn-ea"/>
              </a:rPr>
              <a:t>拟题有事件，有观点，也符合“暖闻”</a:t>
            </a:r>
            <a:r>
              <a:rPr lang="zh-CN" altLang="en-US" b="1" dirty="0">
                <a:sym typeface="+mn-ea"/>
              </a:rPr>
              <a:t>的</a:t>
            </a:r>
            <a:r>
              <a:rPr lang="en-US" b="1" dirty="0">
                <a:sym typeface="+mn-ea"/>
              </a:rPr>
              <a:t>栏目特点；C项太笼统，观点不明确，没有具体“选择一则”，没回答“哪一则更合适”，D项也太泛，作文任务不明确，E项谈到了“心理健康”，不是材料最核心的内容。</a:t>
            </a:r>
          </a:p>
          <a:p>
            <a:pPr marL="0" marR="0" indent="0" algn="l" defTabSz="914400" rtl="0" eaLnBrk="1" fontAlgn="auto" latinLnBrk="0" hangingPunct="1">
              <a:lnSpc>
                <a:spcPct val="100000"/>
              </a:lnSpc>
              <a:spcBef>
                <a:spcPts val="0"/>
              </a:spcBef>
              <a:spcAft>
                <a:spcPts val="0"/>
              </a:spcAft>
              <a:buClrTx/>
              <a:buSzTx/>
              <a:buFontTx/>
              <a:buNone/>
              <a:defRPr/>
            </a:pPr>
            <a:endParaRPr lang="en-US" b="1" dirty="0">
              <a:sym typeface="+mn-ea"/>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a:t>19</a:t>
            </a:r>
            <a:r>
              <a:t>、</a:t>
            </a:r>
            <a:r>
              <a:rPr lang="en-US"/>
              <a:t>BC/</a:t>
            </a:r>
            <a:r>
              <a:t> AE抓住了关键词“尊重”</a:t>
            </a:r>
            <a:r>
              <a:rPr lang="zh-CN"/>
              <a:t>，且表达准确到位，有深度，</a:t>
            </a:r>
            <a:r>
              <a:t>B项断章取义，</a:t>
            </a:r>
            <a:r>
              <a:rPr lang="zh-CN"/>
              <a:t>材料的核心不是</a:t>
            </a:r>
            <a:r>
              <a:rPr lang="en-US" altLang="zh-CN"/>
              <a:t>“</a:t>
            </a:r>
            <a:r>
              <a:rPr lang="zh-CN" altLang="en-US"/>
              <a:t>坚持</a:t>
            </a:r>
            <a:r>
              <a:rPr lang="en-US" altLang="zh-CN"/>
              <a:t>”</a:t>
            </a:r>
            <a:r>
              <a:rPr lang="zh-CN" altLang="en-US"/>
              <a:t>，</a:t>
            </a:r>
            <a:r>
              <a:t>C项</a:t>
            </a:r>
            <a:r>
              <a:rPr lang="zh-CN"/>
              <a:t>中，</a:t>
            </a:r>
            <a:r>
              <a:rPr lang="zh-CN" altLang="en-US"/>
              <a:t>材料中只说到杭州图书馆，未提及</a:t>
            </a:r>
            <a:r>
              <a:rPr lang="en-US" altLang="zh-CN"/>
              <a:t>“</a:t>
            </a:r>
            <a:r>
              <a:rPr lang="zh-CN" altLang="en-US"/>
              <a:t>无处不在</a:t>
            </a:r>
            <a:r>
              <a:rPr lang="en-US" altLang="zh-CN"/>
              <a:t>”</a:t>
            </a:r>
            <a:r>
              <a:rPr lang="zh-CN" altLang="en-US"/>
              <a:t>这个信息，</a:t>
            </a:r>
            <a:r>
              <a:t>D项“ 悦纳”</a:t>
            </a:r>
            <a:r>
              <a:rPr lang="zh-CN"/>
              <a:t>从感到不满的</a:t>
            </a:r>
            <a:r>
              <a:rPr lang="en-US" altLang="zh-CN"/>
              <a:t>“</a:t>
            </a:r>
            <a:r>
              <a:rPr lang="zh-CN" altLang="en-US"/>
              <a:t>读者</a:t>
            </a:r>
            <a:r>
              <a:rPr lang="en-US" altLang="zh-CN"/>
              <a:t>”</a:t>
            </a:r>
            <a:r>
              <a:rPr lang="zh-CN" altLang="en-US"/>
              <a:t>角度出发，把</a:t>
            </a:r>
            <a:r>
              <a:rPr lang="en-US" altLang="zh-CN"/>
              <a:t>“</a:t>
            </a:r>
            <a:r>
              <a:rPr lang="zh-CN" altLang="en-US"/>
              <a:t>悦纳自己</a:t>
            </a:r>
            <a:r>
              <a:rPr lang="en-US" altLang="zh-CN"/>
              <a:t>”</a:t>
            </a:r>
            <a:r>
              <a:rPr lang="zh-CN" altLang="en-US"/>
              <a:t>和</a:t>
            </a:r>
            <a:r>
              <a:rPr>
                <a:sym typeface="+mn-ea"/>
              </a:rPr>
              <a:t>“</a:t>
            </a:r>
            <a:r>
              <a:rPr lang="zh-CN">
                <a:sym typeface="+mn-ea"/>
              </a:rPr>
              <a:t>悦纳别人（</a:t>
            </a:r>
            <a:r>
              <a:rPr>
                <a:sym typeface="+mn-ea"/>
              </a:rPr>
              <a:t>尊重社会成员</a:t>
            </a:r>
            <a:r>
              <a:rPr lang="zh-CN">
                <a:sym typeface="+mn-ea"/>
              </a:rPr>
              <a:t>）</a:t>
            </a:r>
            <a:r>
              <a:rPr>
                <a:sym typeface="+mn-ea"/>
              </a:rPr>
              <a:t>”</a:t>
            </a:r>
            <a:r>
              <a:rPr lang="zh-CN">
                <a:sym typeface="+mn-ea"/>
              </a:rPr>
              <a:t>相结合，这样拟题未尝不可，</a:t>
            </a:r>
            <a:r>
              <a:rPr lang="zh-CN" altLang="en-US"/>
              <a:t>但</a:t>
            </a:r>
            <a:r>
              <a:rPr>
                <a:sym typeface="+mn-ea"/>
              </a:rPr>
              <a:t>比不上</a:t>
            </a:r>
            <a:r>
              <a:rPr lang="en-US">
                <a:sym typeface="+mn-ea"/>
              </a:rPr>
              <a:t>AE</a:t>
            </a:r>
            <a:r>
              <a:rPr lang="zh-CN" altLang="en-US">
                <a:sym typeface="+mn-ea"/>
              </a:rPr>
              <a:t>的</a:t>
            </a:r>
            <a:r>
              <a:rPr lang="en-US">
                <a:sym typeface="+mn-ea"/>
              </a:rPr>
              <a:t>“</a:t>
            </a:r>
            <a:r>
              <a:rPr>
                <a:sym typeface="+mn-ea"/>
              </a:rPr>
              <a:t>尊重</a:t>
            </a:r>
            <a:r>
              <a:rPr lang="en-US">
                <a:sym typeface="+mn-ea"/>
              </a:rPr>
              <a:t>”</a:t>
            </a:r>
            <a:r>
              <a:rPr lang="zh-CN"/>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a:t>20</a:t>
            </a:r>
            <a:r>
              <a:t>、BC   BC从罗琳角度出发，准确把握到“放下盛名”</a:t>
            </a:r>
            <a:r>
              <a:rPr lang="zh-CN"/>
              <a:t>（符合罗琳的现状）、</a:t>
            </a:r>
            <a:r>
              <a:t>“享受快乐”</a:t>
            </a:r>
            <a:r>
              <a:rPr lang="zh-CN"/>
              <a:t>（材料中罗琳的自述）</a:t>
            </a:r>
            <a:r>
              <a:t>的核心思想； A项</a:t>
            </a:r>
            <a:r>
              <a:rPr lang="zh-CN"/>
              <a:t>不符合材料，罗琳隐瞒身份谈不上</a:t>
            </a:r>
            <a:r>
              <a:rPr lang="en-US" altLang="zh-CN"/>
              <a:t>“</a:t>
            </a:r>
            <a:r>
              <a:rPr lang="zh-CN" altLang="en-US"/>
              <a:t>真实的自己</a:t>
            </a:r>
            <a:r>
              <a:rPr lang="en-US" altLang="zh-CN"/>
              <a:t>”</a:t>
            </a:r>
            <a:r>
              <a:t>； D项是短语，观点不明，不提倡，</a:t>
            </a:r>
            <a:r>
              <a:rPr lang="zh-CN"/>
              <a:t>不是合适的，</a:t>
            </a:r>
            <a:r>
              <a:t>E项偏离题意</a:t>
            </a:r>
            <a:r>
              <a:rPr lang="zh-CN"/>
              <a:t>，于文无据。</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b="1" dirty="0">
                <a:sym typeface="+mn-ea"/>
              </a:rPr>
              <a:t>21、AB/A项从舆论翻转角度立意</a:t>
            </a:r>
            <a:r>
              <a:rPr lang="zh-CN" b="1" dirty="0">
                <a:sym typeface="+mn-ea"/>
              </a:rPr>
              <a:t>，符合材料核心，</a:t>
            </a:r>
            <a:r>
              <a:rPr lang="en-US" b="1" dirty="0">
                <a:sym typeface="+mn-ea"/>
              </a:rPr>
              <a:t>B项从“列车员心疼山里百姓也就默许了”角度立意</a:t>
            </a:r>
            <a:r>
              <a:rPr lang="zh-CN" altLang="en-US" b="1" dirty="0">
                <a:sym typeface="+mn-ea"/>
              </a:rPr>
              <a:t>，指出</a:t>
            </a:r>
            <a:r>
              <a:rPr lang="en-US" altLang="zh-CN" b="1" dirty="0">
                <a:sym typeface="+mn-ea"/>
              </a:rPr>
              <a:t>“</a:t>
            </a:r>
            <a:r>
              <a:rPr lang="zh-CN" altLang="en-US" b="1" dirty="0">
                <a:sym typeface="+mn-ea"/>
              </a:rPr>
              <a:t>规则</a:t>
            </a:r>
            <a:r>
              <a:rPr lang="en-US" altLang="zh-CN" b="1" dirty="0">
                <a:sym typeface="+mn-ea"/>
              </a:rPr>
              <a:t>”</a:t>
            </a:r>
            <a:r>
              <a:rPr lang="zh-CN" altLang="en-US" b="1" dirty="0">
                <a:sym typeface="+mn-ea"/>
              </a:rPr>
              <a:t>的相对性和灵活性，</a:t>
            </a:r>
            <a:r>
              <a:rPr lang="en-US" b="1" dirty="0">
                <a:sym typeface="+mn-ea"/>
              </a:rPr>
              <a:t>C项另起炉灶，脱离材料</a:t>
            </a:r>
            <a:r>
              <a:rPr lang="zh-CN" altLang="en-US" b="1" dirty="0">
                <a:sym typeface="+mn-ea"/>
              </a:rPr>
              <a:t>，材料并不涉及</a:t>
            </a:r>
            <a:r>
              <a:rPr lang="en-US" altLang="zh-CN" b="1" dirty="0">
                <a:sym typeface="+mn-ea"/>
              </a:rPr>
              <a:t>“</a:t>
            </a:r>
            <a:r>
              <a:rPr lang="zh-CN" altLang="en-US" b="1" dirty="0">
                <a:sym typeface="+mn-ea"/>
              </a:rPr>
              <a:t>风俗</a:t>
            </a:r>
            <a:r>
              <a:rPr lang="en-US" altLang="zh-CN" b="1" dirty="0">
                <a:sym typeface="+mn-ea"/>
              </a:rPr>
              <a:t>”</a:t>
            </a:r>
            <a:r>
              <a:rPr lang="zh-CN" altLang="en-US" b="1" dirty="0">
                <a:sym typeface="+mn-ea"/>
              </a:rPr>
              <a:t>，</a:t>
            </a:r>
            <a:r>
              <a:rPr lang="en-US" b="1" dirty="0">
                <a:sym typeface="+mn-ea"/>
              </a:rPr>
              <a:t>D项是单个名词，观点不明，</a:t>
            </a:r>
            <a:r>
              <a:rPr lang="zh-CN" altLang="en-US" b="1" dirty="0">
                <a:sym typeface="+mn-ea"/>
              </a:rPr>
              <a:t>太单薄，</a:t>
            </a:r>
            <a:r>
              <a:rPr lang="en-US" b="1" dirty="0">
                <a:sym typeface="+mn-ea"/>
              </a:rPr>
              <a:t>不提倡</a:t>
            </a:r>
            <a:r>
              <a:rPr lang="zh-CN" altLang="en-US" b="1" dirty="0">
                <a:sym typeface="+mn-ea"/>
              </a:rPr>
              <a:t>，</a:t>
            </a:r>
            <a:r>
              <a:rPr lang="en-US" b="1" dirty="0">
                <a:sym typeface="+mn-ea"/>
              </a:rPr>
              <a:t>E项也含有“真相”，和材料沾边，但是后面的“并不遥远”，观点不明，不如A明确</a:t>
            </a:r>
            <a:r>
              <a:rPr lang="zh-CN" altLang="en-US" b="1" dirty="0">
                <a:sym typeface="+mn-ea"/>
              </a:rPr>
              <a:t>。</a:t>
            </a:r>
            <a:endParaRPr lang="en-US" b="1" dirty="0">
              <a:solidFill>
                <a:schemeClr val="tx1"/>
              </a:solidFill>
            </a:endParaRPr>
          </a:p>
          <a:p>
            <a:pPr marL="0" marR="0" indent="0" algn="l" defTabSz="914400" rtl="0" eaLnBrk="1" fontAlgn="auto" latinLnBrk="0" hangingPunct="1">
              <a:lnSpc>
                <a:spcPct val="100000"/>
              </a:lnSpc>
              <a:spcBef>
                <a:spcPts val="0"/>
              </a:spcBef>
              <a:spcAft>
                <a:spcPts val="0"/>
              </a:spcAft>
              <a:buClrTx/>
              <a:buSzTx/>
              <a:buFontTx/>
              <a:buNone/>
              <a:defRPr/>
            </a:pPr>
            <a:endParaRPr lang="en-US" b="1" dirty="0">
              <a:solidFill>
                <a:schemeClr val="tx1"/>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b="1" dirty="0">
                <a:sym typeface="+mn-ea"/>
              </a:rPr>
              <a:t>22、CE/AB从上二本上高职高专</a:t>
            </a:r>
            <a:r>
              <a:rPr lang="zh-CN" altLang="en-US" b="1" dirty="0">
                <a:sym typeface="+mn-ea"/>
              </a:rPr>
              <a:t>的角度，</a:t>
            </a:r>
            <a:r>
              <a:rPr lang="en-US" b="1" dirty="0">
                <a:sym typeface="+mn-ea"/>
              </a:rPr>
              <a:t>D</a:t>
            </a:r>
            <a:r>
              <a:rPr lang="zh-CN" altLang="en-US" b="1" dirty="0">
                <a:sym typeface="+mn-ea"/>
              </a:rPr>
              <a:t>从</a:t>
            </a:r>
            <a:r>
              <a:rPr lang="zh-CN" b="1" dirty="0">
                <a:sym typeface="+mn-ea"/>
              </a:rPr>
              <a:t>选择</a:t>
            </a:r>
            <a:r>
              <a:rPr lang="en-US" b="1" dirty="0">
                <a:sym typeface="+mn-ea"/>
              </a:rPr>
              <a:t>复读</a:t>
            </a:r>
            <a:r>
              <a:rPr lang="zh-CN" altLang="en-US" b="1" dirty="0">
                <a:sym typeface="+mn-ea"/>
              </a:rPr>
              <a:t>的角度，切合材料，且合情合理，</a:t>
            </a:r>
            <a:r>
              <a:rPr lang="en-US" b="1" dirty="0">
                <a:sym typeface="+mn-ea"/>
              </a:rPr>
              <a:t>C项</a:t>
            </a:r>
            <a:r>
              <a:rPr lang="zh-CN" altLang="en-US" b="1" dirty="0">
                <a:sym typeface="+mn-ea"/>
              </a:rPr>
              <a:t>太泛，模棱两可，</a:t>
            </a:r>
            <a:r>
              <a:rPr lang="en-US" b="1" dirty="0">
                <a:sym typeface="+mn-ea"/>
              </a:rPr>
              <a:t>似乎是在谈复读，</a:t>
            </a:r>
            <a:r>
              <a:rPr lang="zh-CN" altLang="en-US" b="1" dirty="0">
                <a:sym typeface="+mn-ea"/>
              </a:rPr>
              <a:t>但又不够</a:t>
            </a:r>
            <a:r>
              <a:rPr lang="en-US" b="1" dirty="0">
                <a:sym typeface="+mn-ea"/>
              </a:rPr>
              <a:t>明确，</a:t>
            </a:r>
            <a:r>
              <a:rPr lang="zh-CN" altLang="en-US" b="1" dirty="0">
                <a:sym typeface="+mn-ea"/>
              </a:rPr>
              <a:t>不太合适，</a:t>
            </a:r>
            <a:r>
              <a:rPr lang="en-US" b="1" dirty="0">
                <a:sym typeface="+mn-ea"/>
              </a:rPr>
              <a:t>E项</a:t>
            </a:r>
            <a:r>
              <a:rPr lang="zh-CN" altLang="en-US" b="1" dirty="0">
                <a:sym typeface="+mn-ea"/>
              </a:rPr>
              <a:t>断章取义，上升为</a:t>
            </a:r>
            <a:r>
              <a:rPr lang="en-US" altLang="zh-CN" b="1" dirty="0">
                <a:sym typeface="+mn-ea"/>
              </a:rPr>
              <a:t>“</a:t>
            </a:r>
            <a:r>
              <a:rPr lang="zh-CN" altLang="en-US" b="1" dirty="0">
                <a:sym typeface="+mn-ea"/>
              </a:rPr>
              <a:t>难成大事</a:t>
            </a:r>
            <a:r>
              <a:rPr lang="en-US" altLang="zh-CN" b="1" dirty="0">
                <a:sym typeface="+mn-ea"/>
              </a:rPr>
              <a:t>”</a:t>
            </a:r>
            <a:r>
              <a:rPr lang="zh-CN" altLang="en-US" b="1" dirty="0">
                <a:sym typeface="+mn-ea"/>
              </a:rPr>
              <a:t>也有拔高。）</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b="1" dirty="0">
                <a:sym typeface="+mn-ea"/>
              </a:rPr>
              <a:t>23、AE/A项不是观点，</a:t>
            </a:r>
            <a:r>
              <a:rPr lang="zh-CN" altLang="en-US" b="1" dirty="0">
                <a:sym typeface="+mn-ea"/>
              </a:rPr>
              <a:t>只是陈述</a:t>
            </a:r>
            <a:r>
              <a:rPr lang="en-US" b="1" dirty="0">
                <a:sym typeface="+mn-ea"/>
              </a:rPr>
              <a:t>现象</a:t>
            </a:r>
            <a:r>
              <a:rPr lang="zh-CN" altLang="en-US" b="1" dirty="0">
                <a:sym typeface="+mn-ea"/>
              </a:rPr>
              <a:t>，不太适合做时评文章的标题，</a:t>
            </a:r>
            <a:r>
              <a:rPr lang="en-US" b="1" dirty="0">
                <a:sym typeface="+mn-ea"/>
              </a:rPr>
              <a:t>E项</a:t>
            </a:r>
            <a:r>
              <a:rPr lang="zh-CN" altLang="en-US" b="1" dirty="0">
                <a:sym typeface="+mn-ea"/>
              </a:rPr>
              <a:t>谈到</a:t>
            </a:r>
            <a:r>
              <a:rPr lang="en-US" altLang="zh-CN" b="1" dirty="0">
                <a:sym typeface="+mn-ea"/>
              </a:rPr>
              <a:t>“</a:t>
            </a:r>
            <a:r>
              <a:rPr lang="zh-CN" altLang="en-US" b="1" dirty="0">
                <a:sym typeface="+mn-ea"/>
              </a:rPr>
              <a:t>谦虚</a:t>
            </a:r>
            <a:r>
              <a:rPr lang="en-US" altLang="zh-CN" b="1" dirty="0">
                <a:sym typeface="+mn-ea"/>
              </a:rPr>
              <a:t>”</a:t>
            </a:r>
            <a:r>
              <a:rPr lang="zh-CN" altLang="en-US" b="1" dirty="0">
                <a:sym typeface="+mn-ea"/>
              </a:rPr>
              <a:t>，没有切中材料中心，没有完成写作任务。</a:t>
            </a:r>
          </a:p>
          <a:p>
            <a:pPr marL="0" marR="0" indent="0" algn="l" defTabSz="914400" rtl="0" eaLnBrk="1" fontAlgn="auto" latinLnBrk="0" hangingPunct="1">
              <a:lnSpc>
                <a:spcPct val="100000"/>
              </a:lnSpc>
              <a:spcBef>
                <a:spcPts val="0"/>
              </a:spcBef>
              <a:spcAft>
                <a:spcPts val="0"/>
              </a:spcAft>
              <a:buClrTx/>
              <a:buSzTx/>
              <a:buFontTx/>
              <a:buNone/>
              <a:defRPr/>
            </a:pPr>
            <a:endParaRPr lang="zh-CN" altLang="en-US" b="1" dirty="0">
              <a:sym typeface="+mn-ea"/>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r>
              <a:rPr lang="en-US" b="1" dirty="0">
                <a:sym typeface="+mn-ea"/>
              </a:rPr>
              <a:t>24、AB/A对“回乡教书</a:t>
            </a:r>
            <a:r>
              <a:rPr lang="zh-CN" altLang="en-US" b="1" dirty="0">
                <a:sym typeface="+mn-ea"/>
              </a:rPr>
              <a:t>，改变家乡</a:t>
            </a:r>
            <a:r>
              <a:rPr lang="en-US" b="1" dirty="0">
                <a:sym typeface="+mn-ea"/>
              </a:rPr>
              <a:t>”</a:t>
            </a:r>
            <a:r>
              <a:rPr lang="zh-CN" altLang="en-US" b="1" dirty="0">
                <a:sym typeface="+mn-ea"/>
              </a:rPr>
              <a:t>来谈，用</a:t>
            </a:r>
            <a:r>
              <a:rPr lang="en-US" altLang="zh-CN" b="1" dirty="0">
                <a:sym typeface="+mn-ea"/>
              </a:rPr>
              <a:t>“</a:t>
            </a:r>
            <a:r>
              <a:rPr lang="zh-CN" altLang="en-US" b="1" dirty="0">
                <a:sym typeface="+mn-ea"/>
              </a:rPr>
              <a:t>初心</a:t>
            </a:r>
            <a:r>
              <a:rPr lang="en-US" altLang="zh-CN" b="1" dirty="0">
                <a:sym typeface="+mn-ea"/>
              </a:rPr>
              <a:t>”</a:t>
            </a:r>
            <a:r>
              <a:rPr lang="zh-CN" altLang="en-US" b="1" dirty="0">
                <a:sym typeface="+mn-ea"/>
              </a:rPr>
              <a:t>一词可谓恰到好处，反映当下扶贫的热点，</a:t>
            </a:r>
            <a:r>
              <a:rPr lang="en-US" altLang="zh-CN" b="1" dirty="0">
                <a:sym typeface="+mn-ea"/>
              </a:rPr>
              <a:t>B</a:t>
            </a:r>
            <a:r>
              <a:rPr lang="zh-CN" altLang="en-US" b="1" dirty="0">
                <a:sym typeface="+mn-ea"/>
              </a:rPr>
              <a:t>项从</a:t>
            </a:r>
            <a:r>
              <a:rPr lang="en-US" b="1" dirty="0">
                <a:sym typeface="+mn-ea"/>
              </a:rPr>
              <a:t>“创业</a:t>
            </a:r>
            <a:r>
              <a:rPr lang="zh-CN" altLang="en-US" b="1" dirty="0">
                <a:sym typeface="+mn-ea"/>
              </a:rPr>
              <a:t>梦</a:t>
            </a:r>
            <a:r>
              <a:rPr lang="en-US" b="1" dirty="0">
                <a:sym typeface="+mn-ea"/>
              </a:rPr>
              <a:t>”</a:t>
            </a:r>
            <a:r>
              <a:rPr lang="zh-CN" altLang="en-US" b="1" dirty="0">
                <a:sym typeface="+mn-ea"/>
              </a:rPr>
              <a:t>的角度来写，完成了写作任务，且</a:t>
            </a:r>
            <a:r>
              <a:rPr lang="en-US" b="1" dirty="0">
                <a:sym typeface="+mn-ea"/>
              </a:rPr>
              <a:t>一语双关，很妙</a:t>
            </a:r>
            <a:r>
              <a:rPr lang="zh-CN" altLang="en-US" b="1" dirty="0">
                <a:sym typeface="+mn-ea"/>
              </a:rPr>
              <a:t>。</a:t>
            </a:r>
            <a:r>
              <a:rPr lang="en-US" b="1" dirty="0">
                <a:sym typeface="+mn-ea"/>
              </a:rPr>
              <a:t>C项观点不明，</a:t>
            </a:r>
            <a:r>
              <a:rPr lang="zh-CN" altLang="en-US" b="1" dirty="0">
                <a:sym typeface="+mn-ea"/>
              </a:rPr>
              <a:t>易泛泛而谈，</a:t>
            </a:r>
            <a:r>
              <a:rPr lang="en-US" b="1" dirty="0">
                <a:sym typeface="+mn-ea"/>
              </a:rPr>
              <a:t>不提倡</a:t>
            </a:r>
            <a:r>
              <a:rPr lang="zh-CN" altLang="en-US" b="1" dirty="0">
                <a:sym typeface="+mn-ea"/>
              </a:rPr>
              <a:t>，</a:t>
            </a:r>
            <a:r>
              <a:rPr lang="en-US" b="1" dirty="0">
                <a:sym typeface="+mn-ea"/>
              </a:rPr>
              <a:t>D项</a:t>
            </a:r>
            <a:r>
              <a:rPr lang="zh-CN" altLang="en-US" b="1" dirty="0">
                <a:sym typeface="+mn-ea"/>
              </a:rPr>
              <a:t>两个问号，没有直接解答，</a:t>
            </a:r>
            <a:r>
              <a:rPr lang="en-US" b="1" dirty="0">
                <a:sym typeface="+mn-ea"/>
              </a:rPr>
              <a:t>表意不明</a:t>
            </a:r>
            <a:r>
              <a:rPr lang="zh-CN" altLang="en-US" b="1" dirty="0">
                <a:sym typeface="+mn-ea"/>
              </a:rPr>
              <a:t>，非最合适，</a:t>
            </a:r>
            <a:r>
              <a:rPr lang="en-US" b="1" dirty="0">
                <a:sym typeface="+mn-ea"/>
              </a:rPr>
              <a:t>E项</a:t>
            </a:r>
            <a:r>
              <a:rPr lang="zh-CN" altLang="en-US" b="1" dirty="0">
                <a:sym typeface="+mn-ea"/>
              </a:rPr>
              <a:t>从</a:t>
            </a:r>
            <a:r>
              <a:rPr lang="en-US" altLang="zh-CN" b="1" dirty="0">
                <a:sym typeface="+mn-ea"/>
              </a:rPr>
              <a:t>“</a:t>
            </a:r>
            <a:r>
              <a:rPr lang="zh-CN" altLang="en-US" b="1" dirty="0">
                <a:sym typeface="+mn-ea"/>
              </a:rPr>
              <a:t>加盟外企</a:t>
            </a:r>
            <a:r>
              <a:rPr lang="en-US" altLang="zh-CN" b="1" dirty="0">
                <a:sym typeface="+mn-ea"/>
              </a:rPr>
              <a:t>”</a:t>
            </a:r>
            <a:r>
              <a:rPr lang="zh-CN" altLang="en-US" b="1" dirty="0">
                <a:sym typeface="+mn-ea"/>
              </a:rPr>
              <a:t>角度出发，但观点太过表面、肤浅，也非最合适。</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4500"/>
            </a:lvl1p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fontAlgn="base"/>
            <a:r>
              <a:rPr lang="zh-CN" altLang="en-US" strike="noStrike" noProof="1" smtClean="0"/>
              <a:t>单击此处编辑母版副标题样式</a:t>
            </a:r>
            <a:endParaRPr lang="zh-CN" altLang="en-US" strike="noStrike" noProof="1"/>
          </a:p>
        </p:txBody>
      </p:sp>
      <p:sp>
        <p:nvSpPr>
          <p:cNvPr id="4" name="日期占位符 3"/>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4" name="日期占位符 3"/>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1" y="1709738"/>
            <a:ext cx="10515600" cy="2852737"/>
          </a:xfrm>
        </p:spPr>
        <p:txBody>
          <a:bodyPr anchor="b"/>
          <a:lstStyle>
            <a:lvl1pPr>
              <a:defRPr sz="4500"/>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1851" y="4589463"/>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smtClean="0"/>
              <a:t>单击此处编辑母版文本样式</a:t>
            </a:r>
          </a:p>
        </p:txBody>
      </p:sp>
      <p:sp>
        <p:nvSpPr>
          <p:cNvPr id="4" name="日期占位符 3"/>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609600" y="1600200"/>
            <a:ext cx="5376672" cy="4525963"/>
          </a:xfrm>
        </p:spPr>
        <p:txBody>
          <a:bodyPr/>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6205728" y="1600200"/>
            <a:ext cx="5376672" cy="4525963"/>
          </a:xfrm>
        </p:spPr>
        <p:txBody>
          <a:bodyPr/>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5" name="日期占位符 4"/>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1186775" y="1778438"/>
            <a:ext cx="4873575"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smtClean="0"/>
              <a:t>单击此处编辑母版文本样式</a:t>
            </a:r>
          </a:p>
        </p:txBody>
      </p:sp>
      <p:sp>
        <p:nvSpPr>
          <p:cNvPr id="4" name="内容占位符 3"/>
          <p:cNvSpPr>
            <a:spLocks noGrp="1"/>
          </p:cNvSpPr>
          <p:nvPr>
            <p:ph sz="half" idx="2"/>
          </p:nvPr>
        </p:nvSpPr>
        <p:spPr>
          <a:xfrm>
            <a:off x="1186775" y="2665379"/>
            <a:ext cx="4873575" cy="3524284"/>
          </a:xfrm>
        </p:spPr>
        <p:txBody>
          <a:bodyPr/>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6256939" y="1778438"/>
            <a:ext cx="4897576" cy="823912"/>
          </a:xfr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smtClean="0"/>
              <a:t>单击此处编辑母版文本样式</a:t>
            </a:r>
          </a:p>
        </p:txBody>
      </p:sp>
      <p:sp>
        <p:nvSpPr>
          <p:cNvPr id="6" name="内容占位符 5"/>
          <p:cNvSpPr>
            <a:spLocks noGrp="1"/>
          </p:cNvSpPr>
          <p:nvPr>
            <p:ph sz="quarter" idx="4"/>
          </p:nvPr>
        </p:nvSpPr>
        <p:spPr>
          <a:xfrm>
            <a:off x="6256939" y="2665379"/>
            <a:ext cx="4897576" cy="3524284"/>
          </a:xfrm>
        </p:spPr>
        <p:txBody>
          <a:bodyPr/>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7" name="日期占位符 6"/>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8" name="页脚占位符 7"/>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9" name="灯片编号占位符 8"/>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日期占位符 2"/>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4" name="页脚占位符 3"/>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5" name="灯片编号占位符 4"/>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3" name="页脚占位符 2"/>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4" name="灯片编号占位符 3"/>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2400"/>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5183188" y="987425"/>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smtClean="0"/>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2400"/>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5183188" y="457201"/>
            <a:ext cx="6172200" cy="540385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endParaRPr lang="zh-CN" altLang="en-US" strike="noStrike" noProof="1"/>
          </a:p>
        </p:txBody>
      </p:sp>
      <p:sp>
        <p:nvSpPr>
          <p:cNvPr id="4" name="文本占位符 3"/>
          <p:cNvSpPr>
            <a:spLocks noGrp="1"/>
          </p:cNvSpPr>
          <p:nvPr>
            <p:ph type="body" sz="half" idx="2"/>
          </p:nvPr>
        </p:nvSpPr>
        <p:spPr>
          <a:xfrm>
            <a:off x="839788" y="2057400"/>
            <a:ext cx="4165349" cy="3811588"/>
          </a:xfr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smtClean="0"/>
              <a:t>单击此处编辑母版文本样式</a:t>
            </a:r>
          </a:p>
        </p:txBody>
      </p:sp>
      <p:sp>
        <p:nvSpPr>
          <p:cNvPr id="5" name="日期占位符 4"/>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6" name="页脚占位符 5"/>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7" name="灯片编号占位符 6"/>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4" name="日期占位符 3"/>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9200" y="274638"/>
            <a:ext cx="2743200" cy="5851525"/>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609600" y="274638"/>
            <a:ext cx="8070573" cy="5851525"/>
          </a:xfrm>
        </p:spPr>
        <p:txBody>
          <a:bodyPr vert="eaVert"/>
          <a:lstStyle/>
          <a:p>
            <a:pPr lvl="0" fontAlgn="base"/>
            <a:r>
              <a:rPr lang="zh-CN" altLang="en-US" strike="noStrike" noProof="1" smtClean="0"/>
              <a:t>单击此处编辑母版文本样式</a:t>
            </a:r>
          </a:p>
          <a:p>
            <a:pPr lvl="1" fontAlgn="base"/>
            <a:r>
              <a:rPr lang="zh-CN" altLang="en-US" strike="noStrike" noProof="1" smtClean="0"/>
              <a:t>第二级</a:t>
            </a:r>
          </a:p>
          <a:p>
            <a:pPr lvl="2" fontAlgn="base"/>
            <a:r>
              <a:rPr lang="zh-CN" altLang="en-US" strike="noStrike" noProof="1" smtClean="0"/>
              <a:t>第三级</a:t>
            </a:r>
          </a:p>
          <a:p>
            <a:pPr lvl="3" fontAlgn="base"/>
            <a:r>
              <a:rPr lang="zh-CN" altLang="en-US" strike="noStrike" noProof="1" smtClean="0"/>
              <a:t>第四级</a:t>
            </a:r>
          </a:p>
          <a:p>
            <a:pPr lvl="4" fontAlgn="base"/>
            <a:r>
              <a:rPr lang="zh-CN" altLang="en-US" strike="noStrike" noProof="1" smtClean="0"/>
              <a:t>第五级</a:t>
            </a:r>
            <a:endParaRPr lang="zh-CN" altLang="en-US" strike="noStrike" noProof="1"/>
          </a:p>
        </p:txBody>
      </p:sp>
      <p:sp>
        <p:nvSpPr>
          <p:cNvPr id="4" name="日期占位符 3"/>
          <p:cNvSpPr>
            <a:spLocks noGrp="1"/>
          </p:cNvSpPr>
          <p:nvPr>
            <p:ph type="dt" sz="half" idx="10"/>
          </p:nvPr>
        </p:nvSpPr>
        <p:spPr/>
        <p:txBody>
          <a:bodyPr/>
          <a:lstStyle/>
          <a:p>
            <a:pPr lvl="0" fontAlgn="base"/>
            <a:endParaRPr lang="zh-CN" altLang="en-US" strike="noStrike" noProof="1">
              <a:latin typeface="Arial" panose="020B0604020202020204" pitchFamily="34" charset="0"/>
            </a:endParaRPr>
          </a:p>
        </p:txBody>
      </p:sp>
      <p:sp>
        <p:nvSpPr>
          <p:cNvPr id="5" name="页脚占位符 4"/>
          <p:cNvSpPr>
            <a:spLocks noGrp="1"/>
          </p:cNvSpPr>
          <p:nvPr>
            <p:ph type="ftr" sz="quarter" idx="11"/>
          </p:nvPr>
        </p:nvSpPr>
        <p:spPr/>
        <p:txBody>
          <a:bodyPr/>
          <a:lstStyle/>
          <a:p>
            <a:pPr lvl="0" fontAlgn="base"/>
            <a:endParaRPr lang="zh-CN" altLang="en-US" strike="noStrike" noProof="1">
              <a:latin typeface="Arial" panose="020B0604020202020204" pitchFamily="34" charset="0"/>
            </a:endParaRPr>
          </a:p>
        </p:txBody>
      </p:sp>
      <p:sp>
        <p:nvSpPr>
          <p:cNvPr id="6" name="灯片编号占位符 5"/>
          <p:cNvSpPr>
            <a:spLocks noGrp="1"/>
          </p:cNvSpPr>
          <p:nvPr>
            <p:ph type="sldNum" sz="quarter" idx="12"/>
          </p:nvPr>
        </p:nvSpPr>
        <p:spPr/>
        <p:txBody>
          <a:body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标题 1025"/>
          <p:cNvSpPr>
            <a:spLocks noGrp="1"/>
          </p:cNvSpPr>
          <p:nvPr>
            <p:ph type="title"/>
          </p:nvPr>
        </p:nvSpPr>
        <p:spPr>
          <a:xfrm>
            <a:off x="609600" y="274638"/>
            <a:ext cx="10972800" cy="1143000"/>
          </a:xfrm>
          <a:prstGeom prst="rect">
            <a:avLst/>
          </a:prstGeom>
          <a:noFill/>
          <a:ln w="9525">
            <a:noFill/>
          </a:ln>
        </p:spPr>
        <p:txBody>
          <a:bodyPr anchor="ctr"/>
          <a:lstStyle/>
          <a:p>
            <a:pPr lvl="0" indent="0"/>
            <a:r>
              <a:rPr lang="zh-CN" altLang="en-US" dirty="0"/>
              <a:t>单击此处编辑母版标题样式</a:t>
            </a:r>
          </a:p>
        </p:txBody>
      </p:sp>
      <p:sp>
        <p:nvSpPr>
          <p:cNvPr id="1027" name="文本占位符 1026"/>
          <p:cNvSpPr>
            <a:spLocks noGrp="1"/>
          </p:cNvSpPr>
          <p:nvPr>
            <p:ph type="body"/>
          </p:nvPr>
        </p:nvSpPr>
        <p:spPr>
          <a:xfrm>
            <a:off x="609600" y="1600200"/>
            <a:ext cx="10972800" cy="4525963"/>
          </a:xfrm>
          <a:prstGeom prst="rect">
            <a:avLst/>
          </a:prstGeom>
          <a:noFill/>
          <a:ln w="9525">
            <a:noFill/>
          </a:ln>
        </p:spPr>
        <p:txBody>
          <a:bodyPr anchor="t"/>
          <a:lstStyle/>
          <a:p>
            <a:pPr lvl="0" indent="-342900"/>
            <a:r>
              <a:rPr lang="zh-CN" altLang="en-US" dirty="0"/>
              <a:t>单击此处编辑母版文本样式</a:t>
            </a:r>
          </a:p>
          <a:p>
            <a:pPr lvl="1" indent="-285750"/>
            <a:r>
              <a:rPr lang="zh-CN" altLang="en-US" dirty="0"/>
              <a:t>第二级</a:t>
            </a:r>
          </a:p>
          <a:p>
            <a:pPr lvl="2" indent="-228600"/>
            <a:r>
              <a:rPr lang="zh-CN" altLang="en-US" dirty="0"/>
              <a:t>第三级</a:t>
            </a:r>
          </a:p>
          <a:p>
            <a:pPr lvl="3" indent="-228600"/>
            <a:r>
              <a:rPr lang="zh-CN" altLang="en-US" dirty="0"/>
              <a:t>第四级</a:t>
            </a:r>
          </a:p>
          <a:p>
            <a:pPr lvl="4" indent="-228600"/>
            <a:r>
              <a:rPr lang="zh-CN" altLang="en-US" dirty="0"/>
              <a:t>第五级</a:t>
            </a:r>
          </a:p>
        </p:txBody>
      </p:sp>
      <p:sp>
        <p:nvSpPr>
          <p:cNvPr id="1028" name="日期占位符 1027"/>
          <p:cNvSpPr>
            <a:spLocks noGrp="1"/>
          </p:cNvSpPr>
          <p:nvPr>
            <p:ph type="dt" sz="half" idx="2"/>
          </p:nvPr>
        </p:nvSpPr>
        <p:spPr>
          <a:xfrm>
            <a:off x="609600" y="6245225"/>
            <a:ext cx="2844800" cy="476250"/>
          </a:xfrm>
          <a:prstGeom prst="rect">
            <a:avLst/>
          </a:prstGeom>
          <a:noFill/>
          <a:ln w="9525">
            <a:noFill/>
          </a:ln>
        </p:spPr>
        <p:txBody>
          <a:bodyPr/>
          <a:lstStyle>
            <a:lvl1pPr>
              <a:defRPr sz="1400"/>
            </a:lvl1pPr>
          </a:lstStyle>
          <a:p>
            <a:pPr lvl="0" fontAlgn="base"/>
            <a:endParaRPr lang="zh-CN" altLang="en-US" strike="noStrike" noProof="1">
              <a:latin typeface="Arial" panose="020B0604020202020204" pitchFamily="34" charset="0"/>
            </a:endParaRPr>
          </a:p>
        </p:txBody>
      </p:sp>
      <p:sp>
        <p:nvSpPr>
          <p:cNvPr id="1029" name="页脚占位符 1028"/>
          <p:cNvSpPr>
            <a:spLocks noGrp="1"/>
          </p:cNvSpPr>
          <p:nvPr>
            <p:ph type="ftr" sz="quarter" idx="3"/>
          </p:nvPr>
        </p:nvSpPr>
        <p:spPr>
          <a:xfrm>
            <a:off x="4165600" y="6245225"/>
            <a:ext cx="3860800" cy="476250"/>
          </a:xfrm>
          <a:prstGeom prst="rect">
            <a:avLst/>
          </a:prstGeom>
          <a:noFill/>
          <a:ln w="9525">
            <a:noFill/>
          </a:ln>
        </p:spPr>
        <p:txBody>
          <a:bodyPr/>
          <a:lstStyle>
            <a:lvl1pPr algn="ctr">
              <a:defRPr sz="1400"/>
            </a:lvl1pPr>
          </a:lstStyle>
          <a:p>
            <a:pPr lvl="0" fontAlgn="base"/>
            <a:endParaRPr lang="zh-CN" altLang="en-US" strike="noStrike" noProof="1">
              <a:latin typeface="Arial" panose="020B0604020202020204" pitchFamily="34" charset="0"/>
            </a:endParaRPr>
          </a:p>
        </p:txBody>
      </p:sp>
      <p:sp>
        <p:nvSpPr>
          <p:cNvPr id="1030" name="灯片编号占位符 1029"/>
          <p:cNvSpPr>
            <a:spLocks noGrp="1"/>
          </p:cNvSpPr>
          <p:nvPr>
            <p:ph type="sldNum" sz="quarter" idx="4"/>
          </p:nvPr>
        </p:nvSpPr>
        <p:spPr>
          <a:xfrm>
            <a:off x="8737600" y="6245225"/>
            <a:ext cx="2844800" cy="476250"/>
          </a:xfrm>
          <a:prstGeom prst="rect">
            <a:avLst/>
          </a:prstGeom>
          <a:noFill/>
          <a:ln w="9525">
            <a:noFill/>
          </a:ln>
        </p:spPr>
        <p:txBody>
          <a:bodyPr/>
          <a:lstStyle>
            <a:lvl1pPr algn="r">
              <a:defRPr sz="1400"/>
            </a:lvl1pPr>
          </a:lstStyle>
          <a:p>
            <a:pPr lvl="0" fontAlgn="base"/>
            <a:fld id="{9A0DB2DC-4C9A-4742-B13C-FB6460FD3503}" type="slidenum">
              <a:rPr lang="zh-CN" altLang="en-US" strike="noStrike" noProof="1" dirty="0">
                <a:latin typeface="Arial" panose="020B0604020202020204" pitchFamily="34" charset="0"/>
                <a:ea typeface="宋体" panose="02010600030101010101" pitchFamily="2" charset="-122"/>
                <a:cs typeface="+mn-cs"/>
              </a:rPr>
              <a:t>‹#›</a:t>
            </a:fld>
            <a:endParaRPr lang="zh-CN" altLang="en-US" strike="noStrike" noProof="1">
              <a:latin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marL="0" lvl="0" indent="0" algn="ctr" defTabSz="914400" rtl="0" eaLnBrk="1" fontAlgn="base" latinLnBrk="0" hangingPunct="1">
        <a:lnSpc>
          <a:spcPct val="100000"/>
        </a:lnSpc>
        <a:spcBef>
          <a:spcPct val="0"/>
        </a:spcBef>
        <a:spcAft>
          <a:spcPct val="0"/>
        </a:spcAft>
        <a:buNone/>
        <a:defRPr sz="4400" b="0" i="0" u="none" kern="1200" baseline="0">
          <a:solidFill>
            <a:schemeClr val="tx2"/>
          </a:solidFill>
          <a:latin typeface="+mj-lt"/>
          <a:ea typeface="+mj-ea"/>
          <a:cs typeface="+mj-cs"/>
        </a:defRPr>
      </a:lvl1pPr>
    </p:titleStyle>
    <p:bodyStyle>
      <a:lvl1pPr marL="342900" lvl="0" indent="-342900" algn="l" defTabSz="914400" rtl="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rtl="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rtl="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mn-lt"/>
          <a:ea typeface="+mn-ea"/>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3"/>
          <a:stretch>
            <a:fillRect/>
          </a:stretch>
        </p:blipFill>
        <p:spPr>
          <a:xfrm>
            <a:off x="0" y="32385"/>
            <a:ext cx="12213590" cy="6825615"/>
          </a:xfrm>
          <a:prstGeom prst="rect">
            <a:avLst/>
          </a:prstGeom>
        </p:spPr>
      </p:pic>
      <p:sp>
        <p:nvSpPr>
          <p:cNvPr id="2" name="矩形 398341"/>
          <p:cNvSpPr>
            <a:spLocks noTextEdit="1"/>
          </p:cNvSpPr>
          <p:nvPr/>
        </p:nvSpPr>
        <p:spPr>
          <a:xfrm>
            <a:off x="2464435" y="2632710"/>
            <a:ext cx="6970395" cy="1605280"/>
          </a:xfrm>
          <a:prstGeom prst="rect">
            <a:avLst/>
          </a:prstGeom>
        </p:spPr>
        <p:txBody>
          <a:bodyPr wrap="none" fromWordArt="1">
            <a:prstTxWarp prst="textPlain">
              <a:avLst>
                <a:gd name="adj" fmla="val 50000"/>
              </a:avLst>
            </a:prstTxWarp>
            <a:normAutofit/>
          </a:bodyPr>
          <a:lstStyle/>
          <a:p>
            <a:pPr algn="ctr"/>
            <a:r>
              <a:rPr lang="zh-CN" altLang="en-US" sz="2700" b="1">
                <a:ln w="9525" cap="flat" cmpd="sng">
                  <a:solidFill>
                    <a:schemeClr val="bg1"/>
                  </a:solidFill>
                  <a:prstDash val="solid"/>
                  <a:round/>
                  <a:headEnd type="none" w="med" len="med"/>
                  <a:tailEnd type="none" w="med" len="med"/>
                </a:ln>
                <a:solidFill>
                  <a:schemeClr val="accent2">
                    <a:lumMod val="75000"/>
                  </a:schemeClr>
                </a:solidFill>
                <a:effectLst>
                  <a:outerShdw dist="45791" dir="2021404" algn="ctr" rotWithShape="0">
                    <a:srgbClr val="B2B2B2">
                      <a:alpha val="79999"/>
                    </a:srgbClr>
                  </a:outerShdw>
                </a:effectLst>
                <a:latin typeface="黑体" panose="02010609060101010101" pitchFamily="49" charset="-122"/>
                <a:ea typeface="黑体" panose="02010609060101010101" pitchFamily="49" charset="-122"/>
              </a:rPr>
              <a:t>任务驱动型时评作文审题训练</a:t>
            </a:r>
          </a:p>
          <a:p>
            <a:pPr algn="ctr"/>
            <a:r>
              <a:rPr lang="zh-CN" altLang="en-US" sz="2700" b="1">
                <a:ln w="9525" cap="flat" cmpd="sng">
                  <a:solidFill>
                    <a:schemeClr val="bg1"/>
                  </a:solidFill>
                  <a:prstDash val="solid"/>
                  <a:round/>
                  <a:headEnd type="none" w="med" len="med"/>
                  <a:tailEnd type="none" w="med" len="med"/>
                </a:ln>
                <a:solidFill>
                  <a:schemeClr val="accent2">
                    <a:lumMod val="75000"/>
                  </a:schemeClr>
                </a:solidFill>
                <a:effectLst>
                  <a:outerShdw dist="45791" dir="2021404" algn="ctr" rotWithShape="0">
                    <a:srgbClr val="B2B2B2">
                      <a:alpha val="79999"/>
                    </a:srgbClr>
                  </a:outerShdw>
                </a:effectLst>
                <a:latin typeface="黑体" panose="02010609060101010101" pitchFamily="49" charset="-122"/>
                <a:ea typeface="黑体" panose="02010609060101010101" pitchFamily="49" charset="-122"/>
              </a:rPr>
              <a:t>（选择题）</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3970" y="118110"/>
            <a:ext cx="12164695" cy="5692775"/>
          </a:xfrm>
          <a:prstGeom prst="rect">
            <a:avLst/>
          </a:prstGeom>
          <a:noFill/>
        </p:spPr>
        <p:txBody>
          <a:bodyPr wrap="square" rtlCol="0">
            <a:spAutoFit/>
          </a:bodyPr>
          <a:lstStyle/>
          <a:p>
            <a:r>
              <a:rPr lang="en-US" altLang="zh-CN" sz="2800" dirty="0">
                <a:sym typeface="+mn-ea"/>
              </a:rPr>
              <a:t>1.</a:t>
            </a:r>
            <a:r>
              <a:rPr sz="2800" b="1" dirty="0">
                <a:sym typeface="+mn-ea"/>
              </a:rPr>
              <a:t>阅读下列材料，按照要求作文。（60分） </a:t>
            </a:r>
            <a:endParaRPr sz="2800" b="1" dirty="0"/>
          </a:p>
          <a:p>
            <a:r>
              <a:rPr sz="2800" b="1" dirty="0">
                <a:sym typeface="+mn-ea"/>
              </a:rPr>
              <a:t>       武汉新型肺炎疫情发生后，网络上舆情汹涌，引发全民关注。在有些省市，一些人嘴里喊着“武汉加油”，但只要一听到身边有武汉人，就立马变脸，唯恐避之不及，甚至出现“悬赏”、驱逐武汉人的闹剧。</a:t>
            </a:r>
            <a:endParaRPr sz="2800" b="1" dirty="0"/>
          </a:p>
          <a:p>
            <a:r>
              <a:rPr sz="2800" b="1" dirty="0">
                <a:sym typeface="+mn-ea"/>
              </a:rPr>
              <a:t>       </a:t>
            </a:r>
            <a:r>
              <a:rPr sz="2800" b="1" dirty="0" err="1">
                <a:sym typeface="+mn-ea"/>
              </a:rPr>
              <a:t>假设你是小强，你想</a:t>
            </a:r>
            <a:r>
              <a:rPr lang="zh-CN" sz="2800" b="1" dirty="0">
                <a:sym typeface="+mn-ea"/>
              </a:rPr>
              <a:t>为</a:t>
            </a:r>
            <a:r>
              <a:rPr sz="2800" b="1" dirty="0">
                <a:sym typeface="+mn-ea"/>
              </a:rPr>
              <a:t>《</a:t>
            </a:r>
            <a:r>
              <a:rPr sz="2800" b="1" dirty="0" err="1">
                <a:sym typeface="+mn-ea"/>
              </a:rPr>
              <a:t>温暖周刊》写一</a:t>
            </a:r>
            <a:r>
              <a:rPr lang="zh-CN" sz="2800" b="1" dirty="0">
                <a:sym typeface="+mn-ea"/>
              </a:rPr>
              <a:t>篇文章</a:t>
            </a:r>
            <a:r>
              <a:rPr sz="2800" b="1" dirty="0">
                <a:sym typeface="+mn-ea"/>
              </a:rPr>
              <a:t>，针对上述行为，谈谈你的看法和感悟，也可以讲述你的见闻和经历。注意语言得体，不少于800字。‍</a:t>
            </a:r>
            <a:endParaRPr sz="2800" b="1" dirty="0"/>
          </a:p>
          <a:p>
            <a:r>
              <a:rPr sz="2800" b="1" dirty="0"/>
              <a:t>      </a:t>
            </a:r>
            <a:r>
              <a:rPr sz="2800" b="1" dirty="0" err="1">
                <a:solidFill>
                  <a:srgbClr val="7030A0"/>
                </a:solidFill>
              </a:rPr>
              <a:t>下列标题中，</a:t>
            </a:r>
            <a:r>
              <a:rPr lang="zh-CN" sz="2800" b="1" dirty="0" err="1">
                <a:solidFill>
                  <a:srgbClr val="7030A0"/>
                </a:solidFill>
              </a:rPr>
              <a:t>不</a:t>
            </a:r>
            <a:r>
              <a:rPr sz="2800" b="1" dirty="0" err="1">
                <a:solidFill>
                  <a:srgbClr val="7030A0"/>
                </a:solidFill>
              </a:rPr>
              <a:t>合适的两项是</a:t>
            </a:r>
            <a:r>
              <a:rPr sz="2800" b="1" dirty="0">
                <a:solidFill>
                  <a:srgbClr val="7030A0"/>
                </a:solidFill>
              </a:rPr>
              <a:t>（   ）</a:t>
            </a:r>
          </a:p>
          <a:p>
            <a:r>
              <a:rPr sz="2800" b="1" dirty="0">
                <a:solidFill>
                  <a:srgbClr val="7030A0"/>
                </a:solidFill>
              </a:rPr>
              <a:t>      </a:t>
            </a:r>
            <a:r>
              <a:rPr lang="en-US" sz="2800" b="1" dirty="0">
                <a:solidFill>
                  <a:srgbClr val="7030A0"/>
                </a:solidFill>
              </a:rPr>
              <a:t>A.</a:t>
            </a:r>
            <a:r>
              <a:rPr lang="zh-CN" altLang="en-US" sz="2800" b="1" dirty="0">
                <a:solidFill>
                  <a:srgbClr val="7030A0"/>
                </a:solidFill>
              </a:rPr>
              <a:t>抗击疫情，人人有责</a:t>
            </a:r>
          </a:p>
          <a:p>
            <a:pPr algn="l">
              <a:buClrTx/>
              <a:buSzTx/>
              <a:buFontTx/>
            </a:pPr>
            <a:r>
              <a:rPr lang="zh-CN" altLang="en-US" sz="2800" b="1" dirty="0">
                <a:solidFill>
                  <a:srgbClr val="7030A0"/>
                </a:solidFill>
              </a:rPr>
              <a:t>      B.</a:t>
            </a:r>
            <a:r>
              <a:rPr lang="zh-CN" altLang="en-US" sz="2800" b="1" dirty="0">
                <a:solidFill>
                  <a:srgbClr val="7030A0"/>
                </a:solidFill>
                <a:sym typeface="+mn-ea"/>
              </a:rPr>
              <a:t>理性看待疫情，别让武汉人寒心</a:t>
            </a:r>
          </a:p>
          <a:p>
            <a:pPr algn="l">
              <a:buClrTx/>
              <a:buSzTx/>
              <a:buFontTx/>
            </a:pPr>
            <a:r>
              <a:rPr lang="zh-CN" altLang="en-US" sz="2800" b="1" dirty="0">
                <a:solidFill>
                  <a:srgbClr val="7030A0"/>
                </a:solidFill>
                <a:sym typeface="+mn-ea"/>
              </a:rPr>
              <a:t>      C.中国人不搞窝里斗</a:t>
            </a:r>
          </a:p>
          <a:p>
            <a:pPr algn="l">
              <a:buClrTx/>
              <a:buSzTx/>
              <a:buFontTx/>
            </a:pPr>
            <a:r>
              <a:rPr lang="zh-CN" altLang="en-US" sz="2800" b="1" dirty="0">
                <a:solidFill>
                  <a:srgbClr val="7030A0"/>
                </a:solidFill>
                <a:sym typeface="+mn-ea"/>
              </a:rPr>
              <a:t>      D.“抗疫”不能成“恐鄂”</a:t>
            </a:r>
          </a:p>
          <a:p>
            <a:pPr algn="l">
              <a:buClrTx/>
              <a:buSzTx/>
              <a:buFontTx/>
            </a:pPr>
            <a:r>
              <a:rPr lang="zh-CN" altLang="en-US" sz="2800" b="1" dirty="0">
                <a:solidFill>
                  <a:srgbClr val="7030A0"/>
                </a:solidFill>
              </a:rPr>
              <a:t>      E.</a:t>
            </a:r>
            <a:r>
              <a:rPr lang="zh-CN" altLang="en-US" sz="2800" b="1" dirty="0">
                <a:solidFill>
                  <a:srgbClr val="7030A0"/>
                </a:solidFill>
                <a:sym typeface="+mn-ea"/>
              </a:rPr>
              <a:t>战疫情而不是变无情</a:t>
            </a:r>
            <a:endParaRPr lang="zh-CN" altLang="en-US" sz="2800" b="1" dirty="0">
              <a:solidFill>
                <a:srgbClr val="7030A0"/>
              </a:solidFill>
            </a:endParaRPr>
          </a:p>
        </p:txBody>
      </p:sp>
      <p:sp>
        <p:nvSpPr>
          <p:cNvPr id="53252" name="矩形 378883"/>
          <p:cNvSpPr/>
          <p:nvPr/>
        </p:nvSpPr>
        <p:spPr>
          <a:xfrm>
            <a:off x="10996930" y="563943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28754" y="381080"/>
            <a:ext cx="5791048" cy="4154984"/>
          </a:xfrm>
          <a:prstGeom prst="rect">
            <a:avLst/>
          </a:prstGeom>
          <a:noFill/>
        </p:spPr>
        <p:txBody>
          <a:bodyPr wrap="square" rtlCol="0">
            <a:spAutoFit/>
          </a:bodyPr>
          <a:lstStyle/>
          <a:p>
            <a:r>
              <a:rPr lang="en-US" altLang="zh-CN" sz="2400" dirty="0"/>
              <a:t>《</a:t>
            </a:r>
            <a:r>
              <a:rPr lang="zh-CN" altLang="en-US" sz="2400" dirty="0"/>
              <a:t>战疫情而不是变无情</a:t>
            </a:r>
            <a:r>
              <a:rPr lang="en-US" altLang="zh-CN" sz="2400" dirty="0"/>
              <a:t>》</a:t>
            </a:r>
          </a:p>
          <a:p>
            <a:r>
              <a:rPr lang="en-US" altLang="zh-CN" sz="2400" dirty="0"/>
              <a:t>《</a:t>
            </a:r>
            <a:r>
              <a:rPr lang="zh-CN" altLang="en-US" sz="2400" dirty="0"/>
              <a:t>武汉人，是同胞也是同袍</a:t>
            </a:r>
            <a:r>
              <a:rPr lang="en-US" altLang="zh-CN" sz="2400" dirty="0"/>
              <a:t>》</a:t>
            </a:r>
          </a:p>
          <a:p>
            <a:r>
              <a:rPr lang="en-US" altLang="zh-CN" sz="2400" dirty="0"/>
              <a:t>《</a:t>
            </a:r>
            <a:r>
              <a:rPr lang="zh-CN" altLang="en-US" sz="2400" dirty="0"/>
              <a:t>摈弃双重标准，珍视同胞情谊</a:t>
            </a:r>
            <a:r>
              <a:rPr lang="en-US" altLang="zh-CN" sz="2400" dirty="0"/>
              <a:t>》</a:t>
            </a:r>
          </a:p>
          <a:p>
            <a:r>
              <a:rPr lang="en-US" altLang="zh-CN" sz="2400" dirty="0"/>
              <a:t>《</a:t>
            </a:r>
            <a:r>
              <a:rPr lang="zh-CN" altLang="en-US" sz="2400" dirty="0"/>
              <a:t>走出“邻避”困境，多点温暖真情</a:t>
            </a:r>
            <a:r>
              <a:rPr lang="en-US" altLang="zh-CN" sz="2400" dirty="0"/>
              <a:t>》</a:t>
            </a:r>
          </a:p>
          <a:p>
            <a:r>
              <a:rPr lang="en-US" altLang="zh-CN" sz="2400" dirty="0"/>
              <a:t>《</a:t>
            </a:r>
            <a:r>
              <a:rPr lang="zh-CN" altLang="en-US" sz="2400" dirty="0"/>
              <a:t>一千句“加油”，不如一次行动</a:t>
            </a:r>
            <a:r>
              <a:rPr lang="en-US" altLang="zh-CN" sz="2400" dirty="0"/>
              <a:t>》</a:t>
            </a:r>
          </a:p>
          <a:p>
            <a:r>
              <a:rPr lang="en-US" altLang="zh-CN" sz="2400" dirty="0"/>
              <a:t>《</a:t>
            </a:r>
            <a:r>
              <a:rPr lang="zh-CN" altLang="en-US" sz="2400" dirty="0"/>
              <a:t>武汉人，我们在一起</a:t>
            </a:r>
            <a:r>
              <a:rPr lang="en-US" altLang="zh-CN" sz="2400" dirty="0"/>
              <a:t>》</a:t>
            </a:r>
          </a:p>
          <a:p>
            <a:r>
              <a:rPr lang="en-US" altLang="zh-CN" sz="2400" dirty="0"/>
              <a:t>《</a:t>
            </a:r>
            <a:r>
              <a:rPr lang="zh-CN" altLang="en-US" sz="2400" dirty="0"/>
              <a:t>武汉人”不应成为我们的“假想敌”</a:t>
            </a:r>
            <a:r>
              <a:rPr lang="en-US" altLang="zh-CN" sz="2400" dirty="0"/>
              <a:t>》</a:t>
            </a:r>
          </a:p>
          <a:p>
            <a:r>
              <a:rPr lang="en-US" altLang="zh-CN" sz="2400" dirty="0"/>
              <a:t>《</a:t>
            </a:r>
            <a:r>
              <a:rPr lang="zh-CN" altLang="en-US" sz="2400" dirty="0"/>
              <a:t>岂曰无衣，与子同袍！</a:t>
            </a:r>
            <a:r>
              <a:rPr lang="en-US" altLang="zh-CN" sz="2400" dirty="0"/>
              <a:t>》</a:t>
            </a:r>
          </a:p>
          <a:p>
            <a:r>
              <a:rPr lang="en-US" altLang="zh-CN" sz="2400" dirty="0"/>
              <a:t>《</a:t>
            </a:r>
            <a:r>
              <a:rPr lang="zh-CN" altLang="en-US" sz="2400" dirty="0"/>
              <a:t>理性看待疫情，别让武汉人寒心</a:t>
            </a:r>
            <a:r>
              <a:rPr lang="en-US" altLang="zh-CN" sz="2400" dirty="0"/>
              <a:t>》</a:t>
            </a:r>
          </a:p>
          <a:p>
            <a:r>
              <a:rPr lang="en-US" altLang="zh-CN" sz="2400" dirty="0"/>
              <a:t>《“</a:t>
            </a:r>
            <a:r>
              <a:rPr lang="zh-CN" altLang="en-US" sz="2400" dirty="0"/>
              <a:t>抗疫”不能成“恐鄂”</a:t>
            </a:r>
            <a:r>
              <a:rPr lang="en-US" altLang="zh-CN" sz="2400" dirty="0"/>
              <a:t>》</a:t>
            </a:r>
          </a:p>
          <a:p>
            <a:r>
              <a:rPr lang="en-US" altLang="zh-CN" sz="2400" dirty="0"/>
              <a:t>《</a:t>
            </a:r>
            <a:r>
              <a:rPr lang="zh-CN" altLang="en-US" sz="2400" dirty="0"/>
              <a:t>隔离病毒不隔离人心</a:t>
            </a:r>
            <a:r>
              <a:rPr lang="en-US" altLang="zh-CN" sz="2400" dirty="0" smtClean="0"/>
              <a:t>》</a:t>
            </a:r>
            <a:endParaRPr lang="en-US" altLang="zh-CN" sz="2400" dirty="0"/>
          </a:p>
        </p:txBody>
      </p:sp>
      <p:sp>
        <p:nvSpPr>
          <p:cNvPr id="3" name="矩形 2"/>
          <p:cNvSpPr/>
          <p:nvPr/>
        </p:nvSpPr>
        <p:spPr>
          <a:xfrm>
            <a:off x="5791208" y="413777"/>
            <a:ext cx="6096000" cy="3046988"/>
          </a:xfrm>
          <a:prstGeom prst="rect">
            <a:avLst/>
          </a:prstGeom>
        </p:spPr>
        <p:txBody>
          <a:bodyPr>
            <a:spAutoFit/>
          </a:bodyPr>
          <a:lstStyle/>
          <a:p>
            <a:pPr lvl="0"/>
            <a:r>
              <a:rPr lang="en-US" altLang="zh-CN" sz="2400" dirty="0">
                <a:solidFill>
                  <a:srgbClr val="000000"/>
                </a:solidFill>
              </a:rPr>
              <a:t>《</a:t>
            </a:r>
            <a:r>
              <a:rPr lang="zh-CN" altLang="en-US" sz="2400" dirty="0">
                <a:solidFill>
                  <a:srgbClr val="000000"/>
                </a:solidFill>
              </a:rPr>
              <a:t>我们共同的敌人是病毒，不是武汉</a:t>
            </a:r>
            <a:r>
              <a:rPr lang="en-US" altLang="zh-CN" sz="2400" dirty="0">
                <a:solidFill>
                  <a:srgbClr val="000000"/>
                </a:solidFill>
              </a:rPr>
              <a:t>》</a:t>
            </a:r>
          </a:p>
          <a:p>
            <a:pPr lvl="0"/>
            <a:r>
              <a:rPr lang="en-US" altLang="zh-CN" sz="2400" dirty="0">
                <a:solidFill>
                  <a:srgbClr val="000000"/>
                </a:solidFill>
              </a:rPr>
              <a:t>《</a:t>
            </a:r>
            <a:r>
              <a:rPr lang="zh-CN" altLang="en-US" sz="2400" dirty="0">
                <a:solidFill>
                  <a:srgbClr val="000000"/>
                </a:solidFill>
              </a:rPr>
              <a:t>武汉人不是敌人而是同胞</a:t>
            </a:r>
            <a:r>
              <a:rPr lang="en-US" altLang="zh-CN" sz="2400" dirty="0">
                <a:solidFill>
                  <a:srgbClr val="000000"/>
                </a:solidFill>
              </a:rPr>
              <a:t>》</a:t>
            </a:r>
          </a:p>
          <a:p>
            <a:pPr lvl="0"/>
            <a:r>
              <a:rPr lang="en-US" altLang="zh-CN" sz="2400" dirty="0">
                <a:solidFill>
                  <a:srgbClr val="000000"/>
                </a:solidFill>
              </a:rPr>
              <a:t>《</a:t>
            </a:r>
            <a:r>
              <a:rPr lang="zh-CN" altLang="en-US" sz="2400" dirty="0">
                <a:solidFill>
                  <a:srgbClr val="000000"/>
                </a:solidFill>
              </a:rPr>
              <a:t>落实行动，做武汉的后援</a:t>
            </a:r>
            <a:r>
              <a:rPr lang="en-US" altLang="zh-CN" sz="2400" dirty="0">
                <a:solidFill>
                  <a:srgbClr val="000000"/>
                </a:solidFill>
              </a:rPr>
              <a:t>》</a:t>
            </a:r>
          </a:p>
          <a:p>
            <a:pPr lvl="0"/>
            <a:r>
              <a:rPr lang="en-US" altLang="zh-CN" sz="2400" dirty="0">
                <a:solidFill>
                  <a:srgbClr val="000000"/>
                </a:solidFill>
              </a:rPr>
              <a:t>《</a:t>
            </a:r>
            <a:r>
              <a:rPr lang="zh-CN" altLang="en-US" sz="2400" dirty="0">
                <a:solidFill>
                  <a:srgbClr val="000000"/>
                </a:solidFill>
              </a:rPr>
              <a:t>莫让武汉人雪上加霜</a:t>
            </a:r>
            <a:r>
              <a:rPr lang="en-US" altLang="zh-CN" sz="2400" dirty="0">
                <a:solidFill>
                  <a:srgbClr val="000000"/>
                </a:solidFill>
              </a:rPr>
              <a:t>》</a:t>
            </a:r>
          </a:p>
          <a:p>
            <a:pPr lvl="0"/>
            <a:r>
              <a:rPr lang="en-US" altLang="zh-CN" sz="2400" dirty="0">
                <a:solidFill>
                  <a:srgbClr val="000000"/>
                </a:solidFill>
              </a:rPr>
              <a:t>《</a:t>
            </a:r>
            <a:r>
              <a:rPr lang="zh-CN" altLang="en-US" sz="2400" dirty="0">
                <a:solidFill>
                  <a:srgbClr val="000000"/>
                </a:solidFill>
              </a:rPr>
              <a:t>我们惧怕疫情，但不能患“恐鄂”症</a:t>
            </a:r>
            <a:r>
              <a:rPr lang="en-US" altLang="zh-CN" sz="2400" dirty="0">
                <a:solidFill>
                  <a:srgbClr val="000000"/>
                </a:solidFill>
              </a:rPr>
              <a:t>》</a:t>
            </a:r>
          </a:p>
          <a:p>
            <a:pPr lvl="0"/>
            <a:r>
              <a:rPr lang="en-US" altLang="zh-CN" sz="2400" dirty="0">
                <a:solidFill>
                  <a:srgbClr val="000000"/>
                </a:solidFill>
              </a:rPr>
              <a:t>《</a:t>
            </a:r>
            <a:r>
              <a:rPr lang="zh-CN" altLang="en-US" sz="2400" dirty="0">
                <a:solidFill>
                  <a:srgbClr val="000000"/>
                </a:solidFill>
              </a:rPr>
              <a:t>严防疫情扩散，而非排斥武汉</a:t>
            </a:r>
            <a:r>
              <a:rPr lang="en-US" altLang="zh-CN" sz="2400" dirty="0">
                <a:solidFill>
                  <a:srgbClr val="000000"/>
                </a:solidFill>
              </a:rPr>
              <a:t>》</a:t>
            </a:r>
          </a:p>
          <a:p>
            <a:pPr lvl="0"/>
            <a:r>
              <a:rPr lang="en-US" altLang="zh-CN" sz="2400" dirty="0">
                <a:solidFill>
                  <a:srgbClr val="000000"/>
                </a:solidFill>
              </a:rPr>
              <a:t>《</a:t>
            </a:r>
            <a:r>
              <a:rPr lang="zh-CN" altLang="en-US" sz="2400" dirty="0">
                <a:solidFill>
                  <a:srgbClr val="000000"/>
                </a:solidFill>
              </a:rPr>
              <a:t>武汉人绝不是洪水猛兽</a:t>
            </a:r>
            <a:r>
              <a:rPr lang="en-US" altLang="zh-CN" sz="2400" dirty="0">
                <a:solidFill>
                  <a:srgbClr val="000000"/>
                </a:solidFill>
              </a:rPr>
              <a:t>》</a:t>
            </a:r>
          </a:p>
          <a:p>
            <a:pPr lvl="0"/>
            <a:r>
              <a:rPr lang="en-US" altLang="zh-CN" sz="2400" dirty="0">
                <a:solidFill>
                  <a:srgbClr val="000000"/>
                </a:solidFill>
              </a:rPr>
              <a:t>《</a:t>
            </a:r>
            <a:r>
              <a:rPr lang="zh-CN" altLang="en-US" sz="2400" dirty="0">
                <a:solidFill>
                  <a:srgbClr val="000000"/>
                </a:solidFill>
              </a:rPr>
              <a:t>和武汉站在同一战线上</a:t>
            </a:r>
            <a:r>
              <a:rPr lang="en-US" altLang="zh-CN" sz="2400" dirty="0">
                <a:solidFill>
                  <a:srgbClr val="000000"/>
                </a:solidFill>
              </a:rPr>
              <a:t>》</a:t>
            </a:r>
          </a:p>
        </p:txBody>
      </p:sp>
    </p:spTree>
    <p:extLst>
      <p:ext uri="{BB962C8B-B14F-4D97-AF65-F5344CB8AC3E}">
        <p14:creationId xmlns:p14="http://schemas.microsoft.com/office/powerpoint/2010/main" val="28574214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3970" y="118110"/>
            <a:ext cx="12164695" cy="6739255"/>
          </a:xfrm>
          <a:prstGeom prst="rect">
            <a:avLst/>
          </a:prstGeom>
          <a:noFill/>
        </p:spPr>
        <p:txBody>
          <a:bodyPr wrap="square" rtlCol="0">
            <a:spAutoFit/>
          </a:bodyPr>
          <a:lstStyle/>
          <a:p>
            <a:r>
              <a:rPr lang="en-US" altLang="zh-CN" sz="2400" b="1" dirty="0">
                <a:sym typeface="+mn-ea"/>
              </a:rPr>
              <a:t>2.</a:t>
            </a:r>
            <a:r>
              <a:rPr lang="en-US" sz="2400" b="1">
                <a:sym typeface="+mn-ea"/>
              </a:rPr>
              <a:t> </a:t>
            </a:r>
            <a:r>
              <a:rPr sz="2400" b="1">
                <a:sym typeface="+mn-ea"/>
              </a:rPr>
              <a:t>阅读下列材料，按照要求作文。（60分）</a:t>
            </a:r>
            <a:endParaRPr sz="2400" b="1"/>
          </a:p>
          <a:p>
            <a:r>
              <a:rPr sz="2400" b="1">
                <a:sym typeface="+mn-ea"/>
              </a:rPr>
              <a:t>　　随着武汉疫情在逐步蔓延，网络上出现了许多谣言，比如“饮用高度酒能抵抗新型冠状病毒”“钟南山院士建议盐水漱口防病毒““广东省中医院开具预防新型冠状病毒肺炎药方””中部战区空军今天会在武汉上空开始播撒消毒粉液”，不一而足。对于这些谣言，某微信群展开了激烈的争论。</a:t>
            </a:r>
            <a:endParaRPr sz="2400" b="1"/>
          </a:p>
          <a:p>
            <a:r>
              <a:rPr sz="2400" b="1">
                <a:sym typeface="+mn-ea"/>
              </a:rPr>
              <a:t>　　贵州敏敏：我觉得，只要是谣言就一定要封杀，要追究发布者的责任！</a:t>
            </a:r>
            <a:endParaRPr sz="2400" b="1"/>
          </a:p>
          <a:p>
            <a:r>
              <a:rPr sz="2400" b="1">
                <a:sym typeface="+mn-ea"/>
              </a:rPr>
              <a:t>　　河北锋哥：但是，人家的初心还是好的呢，还不是为了生命健康？</a:t>
            </a:r>
            <a:endParaRPr sz="2400" b="1"/>
          </a:p>
          <a:p>
            <a:r>
              <a:rPr sz="2400" b="1">
                <a:sym typeface="+mn-ea"/>
              </a:rPr>
              <a:t>　　重庆明亮：辨别谣言需要专业知识，不容易分辨呢！</a:t>
            </a:r>
            <a:endParaRPr sz="2400" b="1"/>
          </a:p>
          <a:p>
            <a:r>
              <a:rPr sz="2400" b="1">
                <a:sym typeface="+mn-ea"/>
              </a:rPr>
              <a:t>　　河南丽姐：老人家最爱转发这些链接，我说了，他们都不听的。</a:t>
            </a:r>
            <a:endParaRPr sz="2400" b="1"/>
          </a:p>
          <a:p>
            <a:r>
              <a:rPr sz="2400" b="1">
                <a:sym typeface="+mn-ea"/>
              </a:rPr>
              <a:t>　　湖北小强：封杀谣言肯定是对的，初衷良好也需要方式正确。……</a:t>
            </a:r>
            <a:endParaRPr sz="2400" b="1"/>
          </a:p>
          <a:p>
            <a:r>
              <a:rPr sz="2400" b="1">
                <a:sym typeface="+mn-ea"/>
              </a:rPr>
              <a:t>　　面对与疫情一起爆发的网络谣言，你的态度是什么？你的做法又是什么？请写一篇文章，投稿到武汉的主流报纸《楚天都市报》的“防疫一线”栏目。不少于800字。‍</a:t>
            </a:r>
          </a:p>
          <a:p>
            <a:pPr algn="l">
              <a:buClrTx/>
              <a:buSzTx/>
              <a:buFontTx/>
            </a:pPr>
            <a:r>
              <a:rPr sz="2400" b="1" dirty="0">
                <a:sym typeface="+mn-ea"/>
              </a:rPr>
              <a:t>     </a:t>
            </a:r>
            <a:r>
              <a:rPr sz="2400" b="1" dirty="0" err="1">
                <a:solidFill>
                  <a:srgbClr val="7030A0"/>
                </a:solidFill>
                <a:sym typeface="+mn-ea"/>
              </a:rPr>
              <a:t>下列标题中，不合适的两项是（     ）</a:t>
            </a:r>
            <a:endParaRPr sz="2400" b="1" dirty="0" err="1">
              <a:solidFill>
                <a:srgbClr val="7030A0"/>
              </a:solidFill>
            </a:endParaRPr>
          </a:p>
          <a:p>
            <a:pPr algn="l">
              <a:buClrTx/>
              <a:buSzTx/>
              <a:buFontTx/>
            </a:pPr>
            <a:r>
              <a:rPr sz="2400" b="1" dirty="0" err="1">
                <a:solidFill>
                  <a:srgbClr val="7030A0"/>
                </a:solidFill>
                <a:sym typeface="+mn-ea"/>
              </a:rPr>
              <a:t>      A.对谣言要坚决说“不”</a:t>
            </a:r>
            <a:endParaRPr sz="2400" b="1" dirty="0" err="1">
              <a:solidFill>
                <a:srgbClr val="7030A0"/>
              </a:solidFill>
            </a:endParaRPr>
          </a:p>
          <a:p>
            <a:pPr algn="l">
              <a:buClrTx/>
              <a:buSzTx/>
              <a:buFontTx/>
            </a:pPr>
            <a:r>
              <a:rPr sz="2400" b="1" dirty="0" err="1">
                <a:solidFill>
                  <a:srgbClr val="7030A0"/>
                </a:solidFill>
                <a:sym typeface="+mn-ea"/>
              </a:rPr>
              <a:t>      B.</a:t>
            </a:r>
            <a:r>
              <a:rPr lang="zh-CN" sz="2400" b="1" dirty="0" err="1">
                <a:solidFill>
                  <a:srgbClr val="7030A0"/>
                </a:solidFill>
                <a:sym typeface="+mn-ea"/>
              </a:rPr>
              <a:t>不忘初心，抵抗疫情</a:t>
            </a:r>
            <a:endParaRPr sz="2400" b="1" dirty="0" err="1">
              <a:solidFill>
                <a:srgbClr val="7030A0"/>
              </a:solidFill>
            </a:endParaRPr>
          </a:p>
          <a:p>
            <a:pPr algn="l">
              <a:buClrTx/>
              <a:buSzTx/>
              <a:buFontTx/>
            </a:pPr>
            <a:r>
              <a:rPr sz="2400" b="1" dirty="0" err="1">
                <a:solidFill>
                  <a:srgbClr val="7030A0"/>
                </a:solidFill>
                <a:sym typeface="+mn-ea"/>
              </a:rPr>
              <a:t>      C.破除谣言，科学是利器</a:t>
            </a:r>
          </a:p>
          <a:p>
            <a:pPr algn="l">
              <a:buClrTx/>
              <a:buSzTx/>
              <a:buFontTx/>
            </a:pPr>
            <a:r>
              <a:rPr sz="2400" b="1" dirty="0" err="1">
                <a:solidFill>
                  <a:srgbClr val="7030A0"/>
                </a:solidFill>
                <a:sym typeface="+mn-ea"/>
              </a:rPr>
              <a:t>      D.面对谣言，既要“打”也要“疏”</a:t>
            </a:r>
          </a:p>
          <a:p>
            <a:pPr algn="l">
              <a:buClrTx/>
              <a:buSzTx/>
              <a:buFontTx/>
            </a:pPr>
            <a:r>
              <a:rPr sz="2400" b="1" dirty="0" err="1">
                <a:solidFill>
                  <a:srgbClr val="7030A0"/>
                </a:solidFill>
                <a:sym typeface="+mn-ea"/>
              </a:rPr>
              <a:t>      E.</a:t>
            </a:r>
            <a:r>
              <a:rPr lang="zh-CN" sz="2400" b="1" dirty="0" err="1">
                <a:solidFill>
                  <a:srgbClr val="7030A0"/>
                </a:solidFill>
                <a:sym typeface="+mn-ea"/>
              </a:rPr>
              <a:t>老人的素质有待提升</a:t>
            </a:r>
          </a:p>
        </p:txBody>
      </p:sp>
      <p:sp>
        <p:nvSpPr>
          <p:cNvPr id="53252" name="矩形 378883"/>
          <p:cNvSpPr/>
          <p:nvPr/>
        </p:nvSpPr>
        <p:spPr>
          <a:xfrm>
            <a:off x="10996930" y="563943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642315"/>
            <a:ext cx="6096000" cy="4524315"/>
          </a:xfrm>
          <a:prstGeom prst="rect">
            <a:avLst/>
          </a:prstGeom>
        </p:spPr>
        <p:txBody>
          <a:bodyPr>
            <a:spAutoFit/>
          </a:bodyPr>
          <a:lstStyle/>
          <a:p>
            <a:r>
              <a:rPr lang="en-US" altLang="zh-CN" sz="2400" dirty="0">
                <a:solidFill>
                  <a:srgbClr val="191919"/>
                </a:solidFill>
                <a:latin typeface="PingFang SC"/>
              </a:rPr>
              <a:t>《</a:t>
            </a:r>
            <a:r>
              <a:rPr lang="zh-CN" altLang="en-US" sz="2400" dirty="0">
                <a:solidFill>
                  <a:srgbClr val="191919"/>
                </a:solidFill>
                <a:latin typeface="PingFang SC"/>
              </a:rPr>
              <a:t>封杀谣言，刻不容缓</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绝不能让谣言再飞一会儿</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对谣言要坚决说“不”</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铲除谣言孳生的土壤</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破除谣言，科学是利器</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谎言只会被真相拆穿</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杜绝谣言，首先要传递真相</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打好谣言“病毒”阻击战</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疫情有毒，网络谣言更有害！</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谣言面前，不做“看客”，要当“剑客”</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谣言止于智者</a:t>
            </a:r>
            <a:r>
              <a:rPr lang="en-US" altLang="zh-CN" sz="2400" dirty="0">
                <a:solidFill>
                  <a:srgbClr val="191919"/>
                </a:solidFill>
                <a:latin typeface="PingFang SC"/>
              </a:rPr>
              <a:t>》</a:t>
            </a:r>
          </a:p>
          <a:p>
            <a:r>
              <a:rPr lang="en-US" altLang="zh-CN" sz="2400" dirty="0">
                <a:solidFill>
                  <a:srgbClr val="191919"/>
                </a:solidFill>
                <a:latin typeface="PingFang SC"/>
              </a:rPr>
              <a:t>《</a:t>
            </a:r>
            <a:r>
              <a:rPr lang="zh-CN" altLang="en-US" sz="2400" dirty="0">
                <a:solidFill>
                  <a:srgbClr val="191919"/>
                </a:solidFill>
                <a:latin typeface="PingFang SC"/>
              </a:rPr>
              <a:t>打击谣言和公开真相应同步进行</a:t>
            </a:r>
            <a:r>
              <a:rPr lang="en-US" altLang="zh-CN" sz="2400" dirty="0" smtClean="0">
                <a:solidFill>
                  <a:srgbClr val="191919"/>
                </a:solidFill>
                <a:latin typeface="PingFang SC"/>
              </a:rPr>
              <a:t>》</a:t>
            </a:r>
            <a:endParaRPr lang="en-US" altLang="zh-CN" sz="2400" dirty="0">
              <a:solidFill>
                <a:srgbClr val="191919"/>
              </a:solidFill>
              <a:latin typeface="PingFang SC"/>
            </a:endParaRPr>
          </a:p>
        </p:txBody>
      </p:sp>
      <p:sp>
        <p:nvSpPr>
          <p:cNvPr id="3" name="矩形 2"/>
          <p:cNvSpPr/>
          <p:nvPr/>
        </p:nvSpPr>
        <p:spPr>
          <a:xfrm>
            <a:off x="6088723" y="609674"/>
            <a:ext cx="6096000" cy="4893647"/>
          </a:xfrm>
          <a:prstGeom prst="rect">
            <a:avLst/>
          </a:prstGeom>
        </p:spPr>
        <p:txBody>
          <a:bodyPr>
            <a:spAutoFit/>
          </a:bodyPr>
          <a:lstStyle/>
          <a:p>
            <a:r>
              <a:rPr lang="en-US" altLang="zh-CN" sz="2400" dirty="0"/>
              <a:t>《</a:t>
            </a:r>
            <a:r>
              <a:rPr lang="zh-CN" altLang="en-US" sz="2400" dirty="0"/>
              <a:t>别因好心做了传谣者</a:t>
            </a:r>
            <a:r>
              <a:rPr lang="en-US" altLang="zh-CN" sz="2400" dirty="0"/>
              <a:t>》</a:t>
            </a:r>
          </a:p>
          <a:p>
            <a:r>
              <a:rPr lang="en-US" altLang="zh-CN" sz="2400" dirty="0"/>
              <a:t>《</a:t>
            </a:r>
            <a:r>
              <a:rPr lang="zh-CN" altLang="en-US" sz="2400" dirty="0"/>
              <a:t>打击谣言，注意方式方法</a:t>
            </a:r>
            <a:r>
              <a:rPr lang="en-US" altLang="zh-CN" sz="2400" dirty="0"/>
              <a:t>》</a:t>
            </a:r>
          </a:p>
          <a:p>
            <a:r>
              <a:rPr lang="en-US" altLang="zh-CN" sz="2400" dirty="0"/>
              <a:t>《</a:t>
            </a:r>
            <a:r>
              <a:rPr lang="zh-CN" altLang="en-US" sz="2400" dirty="0"/>
              <a:t>解谣言之“毒”，首先要用“法律”</a:t>
            </a:r>
            <a:r>
              <a:rPr lang="en-US" altLang="zh-CN" sz="2400" dirty="0"/>
              <a:t>》</a:t>
            </a:r>
          </a:p>
          <a:p>
            <a:r>
              <a:rPr lang="en-US" altLang="zh-CN" sz="2400" dirty="0"/>
              <a:t>《</a:t>
            </a:r>
            <a:r>
              <a:rPr lang="zh-CN" altLang="en-US" sz="2400" dirty="0"/>
              <a:t>依法治“谣”是重要抗疫举措</a:t>
            </a:r>
            <a:r>
              <a:rPr lang="en-US" altLang="zh-CN" sz="2400" dirty="0"/>
              <a:t>》</a:t>
            </a:r>
          </a:p>
          <a:p>
            <a:r>
              <a:rPr lang="en-US" altLang="zh-CN" sz="2400" dirty="0"/>
              <a:t>《</a:t>
            </a:r>
            <a:r>
              <a:rPr lang="zh-CN" altLang="en-US" sz="2400" dirty="0"/>
              <a:t>每次传谣都是制造恐慌</a:t>
            </a:r>
            <a:r>
              <a:rPr lang="en-US" altLang="zh-CN" sz="2400" dirty="0"/>
              <a:t>》</a:t>
            </a:r>
          </a:p>
          <a:p>
            <a:r>
              <a:rPr lang="en-US" altLang="zh-CN" sz="2400" dirty="0"/>
              <a:t>《</a:t>
            </a:r>
            <a:r>
              <a:rPr lang="zh-CN" altLang="en-US" sz="2400" dirty="0"/>
              <a:t>初衷好，不代表可以传谣</a:t>
            </a:r>
            <a:r>
              <a:rPr lang="en-US" altLang="zh-CN" sz="2400" dirty="0"/>
              <a:t>》</a:t>
            </a:r>
          </a:p>
          <a:p>
            <a:r>
              <a:rPr lang="en-US" altLang="zh-CN" sz="2400" dirty="0"/>
              <a:t>《</a:t>
            </a:r>
            <a:r>
              <a:rPr lang="zh-CN" altLang="en-US" sz="2400" dirty="0"/>
              <a:t>疫情已肆虐，不让谣言再猖獗</a:t>
            </a:r>
            <a:r>
              <a:rPr lang="en-US" altLang="zh-CN" sz="2400" dirty="0"/>
              <a:t>》</a:t>
            </a:r>
          </a:p>
          <a:p>
            <a:r>
              <a:rPr lang="en-US" altLang="zh-CN" sz="2400" dirty="0"/>
              <a:t>《</a:t>
            </a:r>
            <a:r>
              <a:rPr lang="zh-CN" altLang="en-US" sz="2400" dirty="0"/>
              <a:t>谣言面前，擦亮双眼</a:t>
            </a:r>
            <a:r>
              <a:rPr lang="en-US" altLang="zh-CN" sz="2400" dirty="0"/>
              <a:t>》</a:t>
            </a:r>
          </a:p>
          <a:p>
            <a:r>
              <a:rPr lang="en-US" altLang="zh-CN" sz="2400" dirty="0"/>
              <a:t>《</a:t>
            </a:r>
            <a:r>
              <a:rPr lang="zh-CN" altLang="en-US" sz="2400" dirty="0"/>
              <a:t>辨别谣言，长点心眼</a:t>
            </a:r>
            <a:r>
              <a:rPr lang="en-US" altLang="zh-CN" sz="2400" dirty="0"/>
              <a:t>》</a:t>
            </a:r>
          </a:p>
          <a:p>
            <a:r>
              <a:rPr lang="en-US" altLang="zh-CN" sz="2400" dirty="0"/>
              <a:t>《</a:t>
            </a:r>
            <a:r>
              <a:rPr lang="zh-CN" altLang="en-US" sz="2400" dirty="0"/>
              <a:t>疫情汹汹，传谣就是添乱</a:t>
            </a:r>
            <a:r>
              <a:rPr lang="en-US" altLang="zh-CN" sz="2400" dirty="0"/>
              <a:t>》</a:t>
            </a:r>
          </a:p>
          <a:p>
            <a:r>
              <a:rPr lang="en-US" altLang="zh-CN" sz="2400" dirty="0"/>
              <a:t>《</a:t>
            </a:r>
            <a:r>
              <a:rPr lang="zh-CN" altLang="en-US" sz="2400" dirty="0"/>
              <a:t>打击谣言，但不宜“棒杀”</a:t>
            </a:r>
            <a:r>
              <a:rPr lang="en-US" altLang="zh-CN" sz="2400" dirty="0"/>
              <a:t>》</a:t>
            </a:r>
          </a:p>
          <a:p>
            <a:r>
              <a:rPr lang="en-US" altLang="zh-CN" sz="2400" dirty="0"/>
              <a:t>《</a:t>
            </a:r>
            <a:r>
              <a:rPr lang="zh-CN" altLang="en-US" sz="2400" dirty="0"/>
              <a:t>面对谣言，既要“打”也要“疏”</a:t>
            </a:r>
            <a:r>
              <a:rPr lang="en-US" altLang="zh-CN" sz="2400" dirty="0"/>
              <a:t>》</a:t>
            </a:r>
          </a:p>
          <a:p>
            <a:r>
              <a:rPr lang="en-US" altLang="zh-CN" sz="2400" dirty="0"/>
              <a:t>《</a:t>
            </a:r>
            <a:r>
              <a:rPr lang="zh-CN" altLang="en-US" sz="2400" dirty="0"/>
              <a:t>防止谣言，须先教再打</a:t>
            </a:r>
            <a:r>
              <a:rPr lang="en-US" altLang="zh-CN" sz="2400" dirty="0"/>
              <a:t>》</a:t>
            </a:r>
          </a:p>
        </p:txBody>
      </p:sp>
    </p:spTree>
    <p:extLst>
      <p:ext uri="{BB962C8B-B14F-4D97-AF65-F5344CB8AC3E}">
        <p14:creationId xmlns:p14="http://schemas.microsoft.com/office/powerpoint/2010/main" val="26123968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3970" y="118110"/>
            <a:ext cx="12164695" cy="6554470"/>
          </a:xfrm>
          <a:prstGeom prst="rect">
            <a:avLst/>
          </a:prstGeom>
          <a:noFill/>
        </p:spPr>
        <p:txBody>
          <a:bodyPr wrap="square" rtlCol="0">
            <a:spAutoFit/>
          </a:bodyPr>
          <a:lstStyle/>
          <a:p>
            <a:r>
              <a:rPr lang="en-US" altLang="zh-CN" sz="2800" dirty="0">
                <a:sym typeface="+mn-ea"/>
              </a:rPr>
              <a:t>3.</a:t>
            </a:r>
            <a:r>
              <a:rPr lang="zh-CN" altLang="en-US" sz="2800" dirty="0">
                <a:sym typeface="+mn-ea"/>
              </a:rPr>
              <a:t>【</a:t>
            </a:r>
            <a:r>
              <a:rPr lang="en-US" altLang="zh-CN" sz="2800" dirty="0">
                <a:sym typeface="+mn-ea"/>
              </a:rPr>
              <a:t>2015</a:t>
            </a:r>
            <a:r>
              <a:rPr lang="zh-CN" altLang="en-US" sz="2800" dirty="0">
                <a:sym typeface="+mn-ea"/>
              </a:rPr>
              <a:t>年全国新课标</a:t>
            </a:r>
            <a:r>
              <a:rPr lang="en-US" altLang="zh-CN" sz="2800" dirty="0">
                <a:sym typeface="+mn-ea"/>
              </a:rPr>
              <a:t>1</a:t>
            </a:r>
            <a:r>
              <a:rPr lang="zh-CN" altLang="en-US" sz="2800" dirty="0">
                <a:sym typeface="+mn-ea"/>
              </a:rPr>
              <a:t>】</a:t>
            </a:r>
            <a:r>
              <a:rPr sz="2800" b="1" dirty="0" err="1"/>
              <a:t>阅读下面的材料，根据要求写一篇不少</a:t>
            </a:r>
            <a:endParaRPr sz="2800" b="1" dirty="0"/>
          </a:p>
          <a:p>
            <a:r>
              <a:rPr sz="2800" b="1" dirty="0"/>
              <a:t>于800字的文章。（60分）</a:t>
            </a:r>
          </a:p>
          <a:p>
            <a:r>
              <a:rPr sz="2800" b="1" dirty="0"/>
              <a:t>       因父亲总是在高速路上开车时接电话，家人屡劝不改，女大学生小陈迫于无奈，更出于生命安全的考虑，通过微博私信向警方举报了自己的父亲；警方查实后，依法对老陈进行了教育和处罚，并将这起举报发在官方微博上。此事赢得众多网友点赞，也引一些质疑，经媒体报道后，激起了更大范围、更多角度的讨论。</a:t>
            </a:r>
          </a:p>
          <a:p>
            <a:r>
              <a:rPr sz="2800" b="1" dirty="0"/>
              <a:t>       </a:t>
            </a:r>
            <a:r>
              <a:rPr sz="2800" b="1" dirty="0" err="1"/>
              <a:t>对于以上事情，你怎么看？请给小陈、老陈或其他相关方写一封信，表明你的态度，阐述你的看法</a:t>
            </a:r>
            <a:r>
              <a:rPr sz="2800" b="1" dirty="0"/>
              <a:t>。</a:t>
            </a:r>
          </a:p>
          <a:p>
            <a:r>
              <a:rPr sz="2800" b="1" dirty="0"/>
              <a:t>       </a:t>
            </a:r>
            <a:r>
              <a:rPr sz="2800" b="1" dirty="0" err="1"/>
              <a:t>要求综合材料内容及含意，选好角度，确定立意，完成写作任务。明确收信人，统一以“明华”为写信人，不得泄露个人信息</a:t>
            </a:r>
            <a:r>
              <a:rPr sz="2800" b="1" dirty="0"/>
              <a:t>。</a:t>
            </a:r>
          </a:p>
          <a:p>
            <a:r>
              <a:rPr sz="2800" b="1" dirty="0"/>
              <a:t>       </a:t>
            </a:r>
            <a:r>
              <a:rPr sz="2800" b="1" dirty="0" err="1">
                <a:solidFill>
                  <a:srgbClr val="7030A0"/>
                </a:solidFill>
              </a:rPr>
              <a:t>下列议论文标题中，最合适的两项是</a:t>
            </a:r>
            <a:r>
              <a:rPr sz="2800" b="1" dirty="0">
                <a:solidFill>
                  <a:srgbClr val="7030A0"/>
                </a:solidFill>
              </a:rPr>
              <a:t>（   ）</a:t>
            </a:r>
          </a:p>
          <a:p>
            <a:r>
              <a:rPr sz="2800" b="1" dirty="0">
                <a:solidFill>
                  <a:srgbClr val="7030A0"/>
                </a:solidFill>
              </a:rPr>
              <a:t>        </a:t>
            </a:r>
            <a:r>
              <a:rPr sz="2800" b="1" dirty="0" err="1">
                <a:solidFill>
                  <a:srgbClr val="7030A0"/>
                </a:solidFill>
              </a:rPr>
              <a:t>A.论安全</a:t>
            </a:r>
            <a:r>
              <a:rPr sz="2800" b="1" dirty="0">
                <a:solidFill>
                  <a:srgbClr val="7030A0"/>
                </a:solidFill>
              </a:rPr>
              <a:t>                                </a:t>
            </a:r>
            <a:r>
              <a:rPr sz="2800" b="1" dirty="0" err="1">
                <a:solidFill>
                  <a:srgbClr val="7030A0"/>
                </a:solidFill>
              </a:rPr>
              <a:t>B.守规彰显孝心，责任铸就大爱</a:t>
            </a:r>
            <a:r>
              <a:rPr sz="2800" b="1" dirty="0">
                <a:solidFill>
                  <a:srgbClr val="7030A0"/>
                </a:solidFill>
              </a:rPr>
              <a:t>     </a:t>
            </a:r>
          </a:p>
          <a:p>
            <a:r>
              <a:rPr sz="2800" b="1" dirty="0">
                <a:solidFill>
                  <a:srgbClr val="7030A0"/>
                </a:solidFill>
              </a:rPr>
              <a:t>        </a:t>
            </a:r>
            <a:r>
              <a:rPr sz="2800" b="1" dirty="0" err="1">
                <a:solidFill>
                  <a:srgbClr val="7030A0"/>
                </a:solidFill>
              </a:rPr>
              <a:t>C.法律需要多点人文关怀</a:t>
            </a:r>
            <a:r>
              <a:rPr sz="2800" b="1" dirty="0">
                <a:solidFill>
                  <a:srgbClr val="7030A0"/>
                </a:solidFill>
              </a:rPr>
              <a:t>       </a:t>
            </a:r>
            <a:r>
              <a:rPr sz="2800" b="1" dirty="0" err="1">
                <a:solidFill>
                  <a:srgbClr val="7030A0"/>
                </a:solidFill>
              </a:rPr>
              <a:t>D.大义灭亲，为你点赞</a:t>
            </a:r>
            <a:r>
              <a:rPr sz="2800" b="1" dirty="0">
                <a:solidFill>
                  <a:srgbClr val="7030A0"/>
                </a:solidFill>
              </a:rPr>
              <a:t>   </a:t>
            </a:r>
          </a:p>
          <a:p>
            <a:r>
              <a:rPr sz="2800" b="1" dirty="0">
                <a:solidFill>
                  <a:srgbClr val="7030A0"/>
                </a:solidFill>
              </a:rPr>
              <a:t>        </a:t>
            </a:r>
            <a:r>
              <a:rPr sz="2800" b="1" dirty="0" err="1">
                <a:solidFill>
                  <a:srgbClr val="7030A0"/>
                </a:solidFill>
              </a:rPr>
              <a:t>E.遵规守范</a:t>
            </a:r>
            <a:r>
              <a:rPr sz="2800" b="1" dirty="0" smtClean="0">
                <a:solidFill>
                  <a:srgbClr val="7030A0"/>
                </a:solidFill>
              </a:rPr>
              <a:t>，</a:t>
            </a:r>
            <a:r>
              <a:rPr lang="zh-CN" altLang="en-US" sz="2800" b="1" dirty="0" smtClean="0">
                <a:solidFill>
                  <a:srgbClr val="7030A0"/>
                </a:solidFill>
              </a:rPr>
              <a:t>尊重</a:t>
            </a:r>
            <a:r>
              <a:rPr sz="2800" b="1" dirty="0" err="1" smtClean="0">
                <a:solidFill>
                  <a:srgbClr val="7030A0"/>
                </a:solidFill>
              </a:rPr>
              <a:t>生命</a:t>
            </a:r>
            <a:endParaRPr sz="2800" b="1" dirty="0">
              <a:solidFill>
                <a:srgbClr val="7030A0"/>
              </a:solidFill>
            </a:endParaRPr>
          </a:p>
        </p:txBody>
      </p:sp>
      <p:sp>
        <p:nvSpPr>
          <p:cNvPr id="53252" name="矩形 378883"/>
          <p:cNvSpPr/>
          <p:nvPr/>
        </p:nvSpPr>
        <p:spPr>
          <a:xfrm>
            <a:off x="10996930" y="563943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3970" y="118110"/>
            <a:ext cx="12164695" cy="6554470"/>
          </a:xfrm>
          <a:prstGeom prst="rect">
            <a:avLst/>
          </a:prstGeom>
          <a:noFill/>
        </p:spPr>
        <p:txBody>
          <a:bodyPr wrap="square" rtlCol="0">
            <a:spAutoFit/>
          </a:bodyPr>
          <a:lstStyle/>
          <a:p>
            <a:r>
              <a:rPr lang="en-US" altLang="zh-CN" sz="2800" dirty="0">
                <a:sym typeface="+mn-ea"/>
              </a:rPr>
              <a:t>4.</a:t>
            </a:r>
            <a:r>
              <a:rPr lang="zh-CN" altLang="en-US" sz="2800" dirty="0">
                <a:sym typeface="+mn-ea"/>
              </a:rPr>
              <a:t>【</a:t>
            </a:r>
            <a:r>
              <a:rPr lang="en-US" altLang="zh-CN" sz="2800" dirty="0">
                <a:sym typeface="+mn-ea"/>
              </a:rPr>
              <a:t>2015</a:t>
            </a:r>
            <a:r>
              <a:rPr lang="zh-CN" altLang="en-US" sz="2800" dirty="0">
                <a:sym typeface="+mn-ea"/>
              </a:rPr>
              <a:t>年全国新课标</a:t>
            </a:r>
            <a:r>
              <a:rPr lang="en-US" altLang="zh-CN" sz="2800" dirty="0">
                <a:sym typeface="+mn-ea"/>
              </a:rPr>
              <a:t>2</a:t>
            </a:r>
            <a:r>
              <a:rPr lang="zh-CN" altLang="en-US" sz="2800" dirty="0">
                <a:sym typeface="+mn-ea"/>
              </a:rPr>
              <a:t>】</a:t>
            </a:r>
            <a:r>
              <a:rPr sz="2800" b="1" dirty="0">
                <a:sym typeface="+mn-ea"/>
              </a:rPr>
              <a:t>（60分）</a:t>
            </a:r>
            <a:endParaRPr lang="zh-CN" altLang="en-US" sz="2800" dirty="0">
              <a:sym typeface="+mn-ea"/>
            </a:endParaRPr>
          </a:p>
          <a:p>
            <a:r>
              <a:rPr lang="zh-CN" altLang="en-US" sz="2800" dirty="0">
                <a:sym typeface="+mn-ea"/>
              </a:rPr>
              <a:t>       </a:t>
            </a:r>
            <a:r>
              <a:rPr sz="2800" b="1" dirty="0"/>
              <a:t>当代风采人物评选活动已产生最后三名候选人。小李，笃学敏思，矢志创新，为破解生命科学之谜作出重大贡献，率领团队一举跻身为国际学术最前沿。老王，爱岗敬业，练就一手绝活，变普通技术为完美艺术，走出一条从职高生到焊接大师的“大国工匠”之路，小刘，酷爱摄影，跋山涉水捕捉时间美景，他的博客赢得网友一片赞叹：“你带我们品味大千世界”“你帮我们留住美丽乡愁”。     </a:t>
            </a:r>
          </a:p>
          <a:p>
            <a:r>
              <a:rPr sz="2800" b="1" dirty="0"/>
              <a:t>       </a:t>
            </a:r>
            <a:r>
              <a:rPr sz="2800" b="1" dirty="0" err="1"/>
              <a:t>这三个人中，你认为谁更具风采</a:t>
            </a:r>
            <a:r>
              <a:rPr lang="zh-CN" sz="2800" b="1" dirty="0"/>
              <a:t>？</a:t>
            </a:r>
            <a:r>
              <a:rPr sz="2800" b="1" dirty="0" err="1"/>
              <a:t>请综合材料内容及含意作文，体现你的思考、权衡与选择</a:t>
            </a:r>
            <a:r>
              <a:rPr sz="2800" b="1" dirty="0"/>
              <a:t>。 </a:t>
            </a:r>
            <a:r>
              <a:rPr sz="2800" b="1" dirty="0" err="1"/>
              <a:t>要求选好角度，确定立意，明确文体，自拟标题；不要套作，不得抄袭</a:t>
            </a:r>
            <a:r>
              <a:rPr lang="zh-CN" sz="2800" b="1" dirty="0"/>
              <a:t>。</a:t>
            </a:r>
          </a:p>
          <a:p>
            <a:endParaRPr sz="2800" b="1" dirty="0"/>
          </a:p>
          <a:p>
            <a:r>
              <a:rPr sz="2800" b="1" dirty="0"/>
              <a:t>       </a:t>
            </a:r>
            <a:r>
              <a:rPr sz="2800" b="1" dirty="0" err="1">
                <a:solidFill>
                  <a:srgbClr val="7030A0"/>
                </a:solidFill>
              </a:rPr>
              <a:t>下列议论文标题中，最不合适的两项是</a:t>
            </a:r>
            <a:r>
              <a:rPr sz="2800" b="1" dirty="0">
                <a:solidFill>
                  <a:srgbClr val="7030A0"/>
                </a:solidFill>
              </a:rPr>
              <a:t>（    ）</a:t>
            </a:r>
          </a:p>
          <a:p>
            <a:r>
              <a:rPr sz="2800" b="1" dirty="0">
                <a:solidFill>
                  <a:srgbClr val="7030A0"/>
                </a:solidFill>
              </a:rPr>
              <a:t>        </a:t>
            </a:r>
            <a:r>
              <a:rPr sz="2800" b="1" dirty="0" err="1" smtClean="0">
                <a:solidFill>
                  <a:srgbClr val="7030A0"/>
                </a:solidFill>
              </a:rPr>
              <a:t>A</a:t>
            </a:r>
            <a:r>
              <a:rPr lang="en-US" sz="2800" b="1" dirty="0" err="1">
                <a:solidFill>
                  <a:srgbClr val="7030A0"/>
                </a:solidFill>
              </a:rPr>
              <a:t>.</a:t>
            </a:r>
            <a:r>
              <a:rPr sz="2800" b="1" dirty="0" err="1" smtClean="0">
                <a:solidFill>
                  <a:srgbClr val="7030A0"/>
                </a:solidFill>
              </a:rPr>
              <a:t>潜心于学术</a:t>
            </a:r>
            <a:r>
              <a:rPr sz="2800" b="1" dirty="0" err="1">
                <a:solidFill>
                  <a:srgbClr val="7030A0"/>
                </a:solidFill>
              </a:rPr>
              <a:t>，造福于未来</a:t>
            </a:r>
            <a:r>
              <a:rPr sz="2800" b="1" dirty="0">
                <a:solidFill>
                  <a:srgbClr val="7030A0"/>
                </a:solidFill>
              </a:rPr>
              <a:t>        </a:t>
            </a:r>
            <a:r>
              <a:rPr sz="2800" b="1" dirty="0" err="1" smtClean="0">
                <a:solidFill>
                  <a:srgbClr val="7030A0"/>
                </a:solidFill>
              </a:rPr>
              <a:t>B</a:t>
            </a:r>
            <a:r>
              <a:rPr lang="en-US" sz="2800" b="1" dirty="0" err="1" smtClean="0">
                <a:solidFill>
                  <a:srgbClr val="7030A0"/>
                </a:solidFill>
              </a:rPr>
              <a:t>.</a:t>
            </a:r>
            <a:r>
              <a:rPr sz="2800" b="1" dirty="0" err="1" smtClean="0">
                <a:solidFill>
                  <a:srgbClr val="7030A0"/>
                </a:solidFill>
              </a:rPr>
              <a:t>风采非我愿</a:t>
            </a:r>
            <a:r>
              <a:rPr sz="2800" b="1" dirty="0" err="1">
                <a:solidFill>
                  <a:srgbClr val="7030A0"/>
                </a:solidFill>
              </a:rPr>
              <a:t>，但愿贡献高</a:t>
            </a:r>
            <a:r>
              <a:rPr sz="2800" b="1" dirty="0">
                <a:solidFill>
                  <a:srgbClr val="7030A0"/>
                </a:solidFill>
              </a:rPr>
              <a:t>     </a:t>
            </a:r>
          </a:p>
          <a:p>
            <a:r>
              <a:rPr sz="2800" b="1" dirty="0">
                <a:solidFill>
                  <a:srgbClr val="7030A0"/>
                </a:solidFill>
              </a:rPr>
              <a:t>        </a:t>
            </a:r>
            <a:r>
              <a:rPr sz="2800" b="1" dirty="0" err="1" smtClean="0">
                <a:solidFill>
                  <a:srgbClr val="7030A0"/>
                </a:solidFill>
              </a:rPr>
              <a:t>C</a:t>
            </a:r>
            <a:r>
              <a:rPr lang="en-US" sz="2800" b="1" dirty="0" err="1" smtClean="0">
                <a:solidFill>
                  <a:srgbClr val="7030A0"/>
                </a:solidFill>
              </a:rPr>
              <a:t>.</a:t>
            </a:r>
            <a:r>
              <a:rPr sz="2800" b="1" dirty="0" err="1" smtClean="0">
                <a:solidFill>
                  <a:srgbClr val="7030A0"/>
                </a:solidFill>
              </a:rPr>
              <a:t>大国工匠</a:t>
            </a:r>
            <a:r>
              <a:rPr sz="2800" b="1" dirty="0" err="1">
                <a:solidFill>
                  <a:srgbClr val="7030A0"/>
                </a:solidFill>
              </a:rPr>
              <a:t>，风采无限</a:t>
            </a:r>
            <a:r>
              <a:rPr sz="2800" b="1" dirty="0">
                <a:solidFill>
                  <a:srgbClr val="7030A0"/>
                </a:solidFill>
              </a:rPr>
              <a:t>               </a:t>
            </a:r>
            <a:r>
              <a:rPr sz="2800" b="1" dirty="0" err="1" smtClean="0">
                <a:solidFill>
                  <a:srgbClr val="7030A0"/>
                </a:solidFill>
              </a:rPr>
              <a:t>D</a:t>
            </a:r>
            <a:r>
              <a:rPr lang="en-US" sz="2800" b="1" dirty="0" err="1" smtClean="0">
                <a:solidFill>
                  <a:srgbClr val="7030A0"/>
                </a:solidFill>
              </a:rPr>
              <a:t>.</a:t>
            </a:r>
            <a:r>
              <a:rPr sz="2800" b="1" dirty="0" err="1" smtClean="0">
                <a:solidFill>
                  <a:srgbClr val="7030A0"/>
                </a:solidFill>
              </a:rPr>
              <a:t>激扬时代浪花</a:t>
            </a:r>
            <a:r>
              <a:rPr sz="2800" b="1" dirty="0" err="1">
                <a:solidFill>
                  <a:srgbClr val="7030A0"/>
                </a:solidFill>
              </a:rPr>
              <a:t>，你们就是最美</a:t>
            </a:r>
            <a:r>
              <a:rPr sz="2800" b="1" dirty="0">
                <a:solidFill>
                  <a:srgbClr val="7030A0"/>
                </a:solidFill>
              </a:rPr>
              <a:t>       </a:t>
            </a:r>
          </a:p>
          <a:p>
            <a:r>
              <a:rPr sz="2800" b="1" dirty="0">
                <a:solidFill>
                  <a:srgbClr val="7030A0"/>
                </a:solidFill>
              </a:rPr>
              <a:t>        </a:t>
            </a:r>
            <a:r>
              <a:rPr sz="2800" b="1" dirty="0" err="1" smtClean="0">
                <a:solidFill>
                  <a:srgbClr val="7030A0"/>
                </a:solidFill>
              </a:rPr>
              <a:t>E</a:t>
            </a:r>
            <a:r>
              <a:rPr lang="en-US" sz="2800" b="1" dirty="0" err="1" smtClean="0">
                <a:solidFill>
                  <a:srgbClr val="7030A0"/>
                </a:solidFill>
              </a:rPr>
              <a:t>.</a:t>
            </a:r>
            <a:r>
              <a:rPr sz="2800" b="1" dirty="0" err="1" smtClean="0">
                <a:solidFill>
                  <a:srgbClr val="7030A0"/>
                </a:solidFill>
              </a:rPr>
              <a:t>品味大千世界</a:t>
            </a:r>
            <a:r>
              <a:rPr sz="2800" b="1" dirty="0" err="1">
                <a:solidFill>
                  <a:srgbClr val="7030A0"/>
                </a:solidFill>
              </a:rPr>
              <a:t>，尽显时代风采</a:t>
            </a:r>
            <a:endParaRPr sz="2800" b="1" dirty="0">
              <a:solidFill>
                <a:srgbClr val="7030A0"/>
              </a:solidFill>
            </a:endParaRPr>
          </a:p>
        </p:txBody>
      </p:sp>
      <p:sp>
        <p:nvSpPr>
          <p:cNvPr id="53252" name="矩形 378883"/>
          <p:cNvSpPr/>
          <p:nvPr/>
        </p:nvSpPr>
        <p:spPr>
          <a:xfrm>
            <a:off x="11193145" y="508698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28754" y="302359"/>
            <a:ext cx="11810690" cy="6555641"/>
          </a:xfrm>
          <a:prstGeom prst="rect">
            <a:avLst/>
          </a:prstGeom>
        </p:spPr>
        <p:txBody>
          <a:bodyPr wrap="square">
            <a:spAutoFit/>
          </a:bodyPr>
          <a:lstStyle/>
          <a:p>
            <a:r>
              <a:rPr lang="zh-CN" altLang="en-US" sz="2800" dirty="0"/>
              <a:t>材料主要描述了大李、老王、小刘三种类型人物的风采。关键词：风采人物评选；大李，笃学敏思，矢志创新，团队，学术前沿；老王，爱岗敬业，绝活，变普通为完美， “大国工匠”；小刘，酷爱摄影，跋山涉水，捕捉美景，赢得赞叹；更具风采，综合材料，思考权衡。综合材料内容来看，三人都具有志向远大、热爱自己的事业、坚持服务人民和社会的精神品质。大李具有创新的进取精神；老王爱岗敬业，精益求精的大国工匠精神；小刘追求艺术的个性，具有发现美、创造美的精神，为我们留下了美丽的人生品味</a:t>
            </a:r>
            <a:r>
              <a:rPr lang="zh-CN" altLang="en-US" sz="2800" dirty="0" smtClean="0"/>
              <a:t>。</a:t>
            </a:r>
            <a:r>
              <a:rPr lang="zh-CN" altLang="en-US" sz="2800" dirty="0">
                <a:solidFill>
                  <a:srgbClr val="FF0000"/>
                </a:solidFill>
              </a:rPr>
              <a:t>学术：人类进步的基石，也是最前沿的</a:t>
            </a:r>
            <a:r>
              <a:rPr lang="zh-CN" altLang="en-US" sz="2800" dirty="0" smtClean="0">
                <a:solidFill>
                  <a:srgbClr val="FF0000"/>
                </a:solidFill>
              </a:rPr>
              <a:t>。技术</a:t>
            </a:r>
            <a:r>
              <a:rPr lang="zh-CN" altLang="en-US" sz="2800" dirty="0">
                <a:solidFill>
                  <a:srgbClr val="FF0000"/>
                </a:solidFill>
              </a:rPr>
              <a:t>：行行出状元，爱岗敬业、脚踏实地就是英雄。艺术：热爱生活，艺术可以为生活、为他人带来美，能够影响更多的人。</a:t>
            </a:r>
            <a:r>
              <a:rPr lang="zh-CN" altLang="en-US" sz="2800" dirty="0" smtClean="0">
                <a:solidFill>
                  <a:srgbClr val="FF0000"/>
                </a:solidFill>
              </a:rPr>
              <a:t>考生</a:t>
            </a:r>
            <a:r>
              <a:rPr lang="zh-CN" altLang="en-US" sz="2800" dirty="0">
                <a:solidFill>
                  <a:srgbClr val="FF0000"/>
                </a:solidFill>
              </a:rPr>
              <a:t>可任选一种构思立意即可</a:t>
            </a:r>
            <a:r>
              <a:rPr lang="zh-CN" altLang="en-US" sz="2800" dirty="0" smtClean="0">
                <a:solidFill>
                  <a:srgbClr val="FF0000"/>
                </a:solidFill>
              </a:rPr>
              <a:t>。</a:t>
            </a:r>
            <a:endParaRPr lang="en-US" altLang="zh-CN" sz="2800" dirty="0" smtClean="0">
              <a:solidFill>
                <a:srgbClr val="FF0000"/>
              </a:solidFill>
            </a:endParaRPr>
          </a:p>
          <a:p>
            <a:r>
              <a:rPr lang="zh-CN" altLang="en-US" sz="2800" dirty="0"/>
              <a:t>这则材料作文依然沿用了前几年的社会生活类事实性材料，表现出了对社会核心价值观的思考与重视，也凸显个性的张扬与发展的人本理念。这则材料思辨性差，考生容易出现千篇一律的立意现象。立意时，最好要注意材料中关于一些细节的提示，如“谁更具风采”、“ 综合材料”、“思考权衡”等关键词，立意时，要注意新颖、独到。</a:t>
            </a:r>
          </a:p>
        </p:txBody>
      </p:sp>
    </p:spTree>
    <p:extLst>
      <p:ext uri="{BB962C8B-B14F-4D97-AF65-F5344CB8AC3E}">
        <p14:creationId xmlns:p14="http://schemas.microsoft.com/office/powerpoint/2010/main" val="2903028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98120" y="27940"/>
            <a:ext cx="11604625" cy="6492875"/>
          </a:xfrm>
          <a:prstGeom prst="rect">
            <a:avLst/>
          </a:prstGeom>
          <a:noFill/>
        </p:spPr>
        <p:txBody>
          <a:bodyPr wrap="square" rtlCol="0">
            <a:spAutoFit/>
          </a:bodyPr>
          <a:lstStyle/>
          <a:p>
            <a:r>
              <a:rPr lang="en-US" altLang="zh-CN" sz="3200" b="1" dirty="0"/>
              <a:t>5. </a:t>
            </a:r>
            <a:r>
              <a:rPr lang="zh-CN" altLang="en-US" sz="3200" b="1" dirty="0"/>
              <a:t>阅读下面的材料，按要求作文。</a:t>
            </a:r>
            <a:r>
              <a:rPr sz="3200" b="1" dirty="0">
                <a:sym typeface="+mn-ea"/>
              </a:rPr>
              <a:t>（60分）</a:t>
            </a:r>
            <a:r>
              <a:rPr lang="zh-CN" altLang="en-US" sz="3200" b="1" dirty="0"/>
              <a:t>　　</a:t>
            </a:r>
          </a:p>
          <a:p>
            <a:r>
              <a:rPr lang="zh-CN" altLang="en-US" sz="3200" b="1" dirty="0"/>
              <a:t>        随着电视剧《琅琊榜》的热播，剧中出现的“琅琊山”、“琅琊阁”等名称也受到热捧。近日，安徽滁州琅琊山风景名胜区内的“会峰阁”改名为“琅琊阁”引发网友热议；此外，江苏南京、山东东南沿海等地也跃跃欲试地想和“琅琊”攀亲戚，加入了争抢“琅琊”地名的混战。　　</a:t>
            </a:r>
          </a:p>
          <a:p>
            <a:r>
              <a:rPr lang="zh-CN" altLang="en-US" sz="3200" b="1" dirty="0"/>
              <a:t>       对于以上事情你怎么看？请综合材料内容，选好角度，确定立意，明确文体，自拟标题，写一篇不少于800字的文章。</a:t>
            </a:r>
          </a:p>
          <a:p>
            <a:endParaRPr lang="zh-CN" altLang="en-US" sz="3200" b="1" dirty="0"/>
          </a:p>
          <a:p>
            <a:r>
              <a:rPr lang="zh-CN" altLang="en-US" sz="3200" b="1" dirty="0">
                <a:solidFill>
                  <a:srgbClr val="7030A0"/>
                </a:solidFill>
              </a:rPr>
              <a:t>       下列议论文标题中，最不合适的两项（    ）</a:t>
            </a:r>
          </a:p>
          <a:p>
            <a:r>
              <a:rPr lang="zh-CN" altLang="en-US" sz="3200" b="1" dirty="0">
                <a:solidFill>
                  <a:srgbClr val="7030A0"/>
                </a:solidFill>
              </a:rPr>
              <a:t>        </a:t>
            </a:r>
            <a:r>
              <a:rPr lang="zh-CN" altLang="en-US" sz="3200" b="1" dirty="0" smtClean="0">
                <a:solidFill>
                  <a:srgbClr val="7030A0"/>
                </a:solidFill>
              </a:rPr>
              <a:t>A</a:t>
            </a:r>
            <a:r>
              <a:rPr lang="en-US" altLang="zh-CN" sz="3200" b="1" dirty="0" smtClean="0">
                <a:solidFill>
                  <a:srgbClr val="7030A0"/>
                </a:solidFill>
              </a:rPr>
              <a:t>.</a:t>
            </a:r>
            <a:r>
              <a:rPr lang="zh-CN" altLang="en-US" sz="3200" b="1" dirty="0" smtClean="0">
                <a:solidFill>
                  <a:srgbClr val="7030A0"/>
                </a:solidFill>
              </a:rPr>
              <a:t>退</a:t>
            </a:r>
            <a:r>
              <a:rPr lang="zh-CN" altLang="en-US" sz="3200" b="1" dirty="0">
                <a:solidFill>
                  <a:srgbClr val="7030A0"/>
                </a:solidFill>
              </a:rPr>
              <a:t>一步海阔天空                        </a:t>
            </a:r>
            <a:r>
              <a:rPr lang="zh-CN" altLang="en-US" sz="3200" b="1" dirty="0" smtClean="0">
                <a:solidFill>
                  <a:srgbClr val="7030A0"/>
                </a:solidFill>
              </a:rPr>
              <a:t>B</a:t>
            </a:r>
            <a:r>
              <a:rPr lang="en-US" altLang="zh-CN" sz="3200" b="1" dirty="0" smtClean="0">
                <a:solidFill>
                  <a:srgbClr val="7030A0"/>
                </a:solidFill>
              </a:rPr>
              <a:t>.</a:t>
            </a:r>
            <a:r>
              <a:rPr lang="zh-CN" altLang="en-US" sz="3200" b="1" dirty="0" smtClean="0">
                <a:solidFill>
                  <a:srgbClr val="7030A0"/>
                </a:solidFill>
              </a:rPr>
              <a:t>改名</a:t>
            </a:r>
            <a:r>
              <a:rPr lang="zh-CN" altLang="en-US" sz="3200" b="1" dirty="0">
                <a:solidFill>
                  <a:srgbClr val="7030A0"/>
                </a:solidFill>
              </a:rPr>
              <a:t>图利，短视之举    </a:t>
            </a:r>
          </a:p>
          <a:p>
            <a:r>
              <a:rPr lang="zh-CN" altLang="en-US" sz="3200" b="1" dirty="0">
                <a:solidFill>
                  <a:srgbClr val="7030A0"/>
                </a:solidFill>
              </a:rPr>
              <a:t>        </a:t>
            </a:r>
            <a:r>
              <a:rPr lang="zh-CN" altLang="en-US" sz="3200" b="1" dirty="0" smtClean="0">
                <a:solidFill>
                  <a:srgbClr val="7030A0"/>
                </a:solidFill>
              </a:rPr>
              <a:t>C</a:t>
            </a:r>
            <a:r>
              <a:rPr lang="en-US" altLang="zh-CN" sz="3200" b="1" dirty="0" smtClean="0">
                <a:solidFill>
                  <a:srgbClr val="7030A0"/>
                </a:solidFill>
              </a:rPr>
              <a:t>.</a:t>
            </a:r>
            <a:r>
              <a:rPr lang="zh-CN" altLang="en-US" sz="3200" b="1" dirty="0" smtClean="0">
                <a:solidFill>
                  <a:srgbClr val="7030A0"/>
                </a:solidFill>
              </a:rPr>
              <a:t>文化</a:t>
            </a:r>
            <a:r>
              <a:rPr lang="zh-CN" altLang="en-US" sz="3200" b="1" dirty="0">
                <a:solidFill>
                  <a:srgbClr val="7030A0"/>
                </a:solidFill>
              </a:rPr>
              <a:t>须自爱，改名要谨慎          </a:t>
            </a:r>
            <a:r>
              <a:rPr lang="zh-CN" altLang="en-US" sz="3200" b="1" dirty="0" smtClean="0">
                <a:solidFill>
                  <a:srgbClr val="7030A0"/>
                </a:solidFill>
              </a:rPr>
              <a:t>D</a:t>
            </a:r>
            <a:r>
              <a:rPr lang="en-US" altLang="zh-CN" sz="3200" b="1" dirty="0" smtClean="0">
                <a:solidFill>
                  <a:srgbClr val="7030A0"/>
                </a:solidFill>
              </a:rPr>
              <a:t>.</a:t>
            </a:r>
            <a:r>
              <a:rPr lang="zh-CN" altLang="en-US" sz="3200" b="1" dirty="0" smtClean="0">
                <a:solidFill>
                  <a:srgbClr val="7030A0"/>
                </a:solidFill>
              </a:rPr>
              <a:t>尊重</a:t>
            </a:r>
            <a:r>
              <a:rPr lang="zh-CN" altLang="en-US" sz="3200" b="1" dirty="0">
                <a:solidFill>
                  <a:srgbClr val="7030A0"/>
                </a:solidFill>
              </a:rPr>
              <a:t>文化，不计名利</a:t>
            </a:r>
          </a:p>
          <a:p>
            <a:r>
              <a:rPr lang="zh-CN" altLang="en-US" sz="3200" b="1" dirty="0">
                <a:solidFill>
                  <a:srgbClr val="7030A0"/>
                </a:solidFill>
              </a:rPr>
              <a:t>        </a:t>
            </a:r>
            <a:r>
              <a:rPr lang="zh-CN" altLang="en-US" sz="3200" b="1" dirty="0" smtClean="0">
                <a:solidFill>
                  <a:srgbClr val="7030A0"/>
                </a:solidFill>
              </a:rPr>
              <a:t>E</a:t>
            </a:r>
            <a:r>
              <a:rPr lang="en-US" altLang="zh-CN" sz="3200" b="1" dirty="0" smtClean="0">
                <a:solidFill>
                  <a:srgbClr val="7030A0"/>
                </a:solidFill>
              </a:rPr>
              <a:t>.</a:t>
            </a:r>
            <a:r>
              <a:rPr lang="zh-CN" altLang="en-US" sz="3200" b="1" dirty="0" smtClean="0">
                <a:solidFill>
                  <a:srgbClr val="7030A0"/>
                </a:solidFill>
              </a:rPr>
              <a:t>有</a:t>
            </a:r>
            <a:r>
              <a:rPr lang="zh-CN" altLang="en-US" sz="3200" b="1" dirty="0">
                <a:solidFill>
                  <a:srgbClr val="7030A0"/>
                </a:solidFill>
              </a:rPr>
              <a:t>一种改名叫买椟还珠</a:t>
            </a:r>
          </a:p>
        </p:txBody>
      </p:sp>
      <p:sp>
        <p:nvSpPr>
          <p:cNvPr id="53252" name="矩形 378883"/>
          <p:cNvSpPr/>
          <p:nvPr/>
        </p:nvSpPr>
        <p:spPr>
          <a:xfrm>
            <a:off x="10667880" y="6172128"/>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ext Box 2"/>
          <p:cNvSpPr txBox="1">
            <a:spLocks noChangeArrowheads="1"/>
          </p:cNvSpPr>
          <p:nvPr/>
        </p:nvSpPr>
        <p:spPr bwMode="auto">
          <a:xfrm>
            <a:off x="1752600" y="184150"/>
            <a:ext cx="87630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spcBef>
                <a:spcPct val="50000"/>
              </a:spcBef>
            </a:pPr>
            <a:endParaRPr lang="zh-CN" altLang="zh-CN" sz="3200">
              <a:latin typeface="华文新魏" panose="02010800040101010101" pitchFamily="2" charset="-122"/>
              <a:ea typeface="华文新魏" panose="02010800040101010101" pitchFamily="2" charset="-122"/>
            </a:endParaRPr>
          </a:p>
        </p:txBody>
      </p:sp>
      <p:sp>
        <p:nvSpPr>
          <p:cNvPr id="9219" name="Text Box 3"/>
          <p:cNvSpPr txBox="1">
            <a:spLocks noChangeArrowheads="1"/>
          </p:cNvSpPr>
          <p:nvPr/>
        </p:nvSpPr>
        <p:spPr bwMode="auto">
          <a:xfrm>
            <a:off x="1905000" y="152400"/>
            <a:ext cx="8763000" cy="1220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spcBef>
                <a:spcPct val="50000"/>
              </a:spcBef>
            </a:pPr>
            <a:r>
              <a:rPr lang="en-US" altLang="zh-CN" sz="3200" b="1" dirty="0">
                <a:solidFill>
                  <a:srgbClr val="FF0000"/>
                </a:solidFill>
                <a:latin typeface="华文新魏" panose="02010800040101010101" pitchFamily="2" charset="-122"/>
                <a:ea typeface="华文新魏" panose="02010800040101010101" pitchFamily="2" charset="-122"/>
              </a:rPr>
              <a:t>【</a:t>
            </a:r>
            <a:r>
              <a:rPr lang="zh-CN" altLang="en-US" sz="3200" b="1" dirty="0">
                <a:solidFill>
                  <a:srgbClr val="FF0000"/>
                </a:solidFill>
                <a:latin typeface="华文新魏" panose="02010800040101010101" pitchFamily="2" charset="-122"/>
                <a:ea typeface="华文新魏" panose="02010800040101010101" pitchFamily="2" charset="-122"/>
              </a:rPr>
              <a:t>题目是眼</a:t>
            </a:r>
            <a:r>
              <a:rPr lang="en-US" altLang="zh-CN" sz="3200" b="1" dirty="0">
                <a:solidFill>
                  <a:srgbClr val="FF0000"/>
                </a:solidFill>
                <a:ea typeface="华文新魏" panose="02010800040101010101" pitchFamily="2" charset="-122"/>
              </a:rPr>
              <a:t>——</a:t>
            </a:r>
            <a:r>
              <a:rPr lang="zh-CN" altLang="en-US" sz="3200" b="1" dirty="0">
                <a:solidFill>
                  <a:srgbClr val="FF0000"/>
                </a:solidFill>
                <a:latin typeface="华文新魏" panose="02010800040101010101" pitchFamily="2" charset="-122"/>
                <a:ea typeface="华文新魏" panose="02010800040101010101" pitchFamily="2" charset="-122"/>
              </a:rPr>
              <a:t>先有准态度，再求好文采</a:t>
            </a:r>
            <a:r>
              <a:rPr lang="en-US" altLang="zh-CN" sz="3200" b="1" dirty="0">
                <a:solidFill>
                  <a:srgbClr val="FF0000"/>
                </a:solidFill>
                <a:latin typeface="华文新魏" panose="02010800040101010101" pitchFamily="2" charset="-122"/>
                <a:ea typeface="华文新魏" panose="02010800040101010101" pitchFamily="2" charset="-122"/>
              </a:rPr>
              <a:t>】</a:t>
            </a:r>
          </a:p>
          <a:p>
            <a:pPr eaLnBrk="1" hangingPunct="1">
              <a:spcBef>
                <a:spcPct val="50000"/>
              </a:spcBef>
            </a:pPr>
            <a:r>
              <a:rPr lang="zh-CN" altLang="en-US" sz="2800" b="1" dirty="0" smtClean="0">
                <a:latin typeface="华文新魏" panose="02010800040101010101" pitchFamily="2" charset="-122"/>
                <a:ea typeface="华文新魏" panose="02010800040101010101" pitchFamily="2" charset="-122"/>
              </a:rPr>
              <a:t>如果</a:t>
            </a:r>
            <a:r>
              <a:rPr lang="zh-CN" altLang="en-US" sz="2800" b="1" dirty="0">
                <a:latin typeface="华文新魏" panose="02010800040101010101" pitchFamily="2" charset="-122"/>
                <a:ea typeface="华文新魏" panose="02010800040101010101" pitchFamily="2" charset="-122"/>
              </a:rPr>
              <a:t>你是评卷教师，你会喜欢那组题目？</a:t>
            </a:r>
            <a:endParaRPr lang="zh-CN" altLang="en-US" sz="2800" dirty="0">
              <a:latin typeface="华文新魏" panose="02010800040101010101" pitchFamily="2" charset="-122"/>
              <a:ea typeface="华文新魏" panose="02010800040101010101" pitchFamily="2" charset="-122"/>
            </a:endParaRPr>
          </a:p>
        </p:txBody>
      </p:sp>
      <p:sp>
        <p:nvSpPr>
          <p:cNvPr id="9220" name="Line 4"/>
          <p:cNvSpPr>
            <a:spLocks noChangeShapeType="1"/>
          </p:cNvSpPr>
          <p:nvPr/>
        </p:nvSpPr>
        <p:spPr bwMode="auto">
          <a:xfrm>
            <a:off x="6248396" y="1828842"/>
            <a:ext cx="0" cy="4572000"/>
          </a:xfrm>
          <a:prstGeom prst="line">
            <a:avLst/>
          </a:prstGeom>
          <a:noFill/>
          <a:ln w="571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9221" name="Text Box 5"/>
          <p:cNvSpPr txBox="1">
            <a:spLocks noChangeArrowheads="1"/>
          </p:cNvSpPr>
          <p:nvPr/>
        </p:nvSpPr>
        <p:spPr bwMode="auto">
          <a:xfrm>
            <a:off x="304952" y="1600201"/>
            <a:ext cx="5333860" cy="55430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a:ea typeface="华文新魏" panose="02010800040101010101" pitchFamily="2" charset="-122"/>
              </a:rPr>
              <a:t>要守住</a:t>
            </a:r>
            <a:r>
              <a:rPr lang="zh-CN" altLang="en-US" sz="2400" dirty="0" smtClean="0">
                <a:ea typeface="华文新魏" panose="02010800040101010101" pitchFamily="2" charset="-122"/>
              </a:rPr>
              <a:t>本我</a:t>
            </a: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本真</a:t>
            </a: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自我</a:t>
            </a: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初心</a:t>
            </a:r>
            <a:r>
              <a:rPr lang="en-US" altLang="zh-CN" sz="2400" dirty="0" smtClean="0">
                <a:ea typeface="华文新魏" panose="02010800040101010101" pitchFamily="2" charset="-122"/>
              </a:rPr>
              <a:t>》                      </a:t>
            </a:r>
            <a:r>
              <a:rPr lang="en-US" altLang="zh-CN" sz="2400" dirty="0">
                <a:ea typeface="华文新魏" panose="02010800040101010101" pitchFamily="2" charset="-122"/>
              </a:rPr>
              <a:t>《</a:t>
            </a:r>
            <a:r>
              <a:rPr lang="zh-CN" altLang="en-US" sz="2400" dirty="0">
                <a:ea typeface="华文新魏" panose="02010800040101010101" pitchFamily="2" charset="-122"/>
              </a:rPr>
              <a:t>不忘初心方得始终</a:t>
            </a:r>
            <a:r>
              <a:rPr lang="en-US" altLang="zh-CN" sz="2400" dirty="0" smtClean="0">
                <a:ea typeface="华文新魏" panose="02010800040101010101" pitchFamily="2" charset="-122"/>
              </a:rPr>
              <a:t>》         </a:t>
            </a: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做</a:t>
            </a:r>
            <a:r>
              <a:rPr lang="zh-CN" altLang="en-US" sz="2400" dirty="0">
                <a:ea typeface="华文新魏" panose="02010800040101010101" pitchFamily="2" charset="-122"/>
              </a:rPr>
              <a:t>传统文化的守护</a:t>
            </a:r>
            <a:r>
              <a:rPr lang="zh-CN" altLang="en-US" sz="2400" dirty="0" smtClean="0">
                <a:ea typeface="华文新魏" panose="02010800040101010101" pitchFamily="2" charset="-122"/>
              </a:rPr>
              <a:t>人</a:t>
            </a:r>
            <a:r>
              <a:rPr lang="en-US" altLang="zh-CN" sz="2400" dirty="0" smtClean="0">
                <a:ea typeface="华文新魏" panose="02010800040101010101" pitchFamily="2" charset="-122"/>
              </a:rPr>
              <a:t>》</a:t>
            </a: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要</a:t>
            </a:r>
            <a:r>
              <a:rPr lang="zh-CN" altLang="en-US" sz="2400" dirty="0">
                <a:ea typeface="华文新魏" panose="02010800040101010101" pitchFamily="2" charset="-122"/>
              </a:rPr>
              <a:t>理性</a:t>
            </a:r>
            <a:r>
              <a:rPr lang="zh-CN" altLang="en-US" sz="2400" dirty="0" smtClean="0">
                <a:ea typeface="华文新魏" panose="02010800040101010101" pitchFamily="2" charset="-122"/>
              </a:rPr>
              <a:t>消费</a:t>
            </a:r>
            <a:r>
              <a:rPr lang="en-US" altLang="zh-CN" sz="2400" dirty="0" smtClean="0">
                <a:ea typeface="华文新魏" panose="02010800040101010101" pitchFamily="2" charset="-122"/>
              </a:rPr>
              <a:t>》</a:t>
            </a:r>
            <a:endParaRPr lang="zh-CN" altLang="en-US" sz="2400" dirty="0">
              <a:ea typeface="华文新魏" panose="02010800040101010101" pitchFamily="2" charset="-122"/>
            </a:endParaRP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人生</a:t>
            </a:r>
            <a:r>
              <a:rPr lang="zh-CN" altLang="en-US" sz="2400" dirty="0">
                <a:ea typeface="华文新魏" panose="02010800040101010101" pitchFamily="2" charset="-122"/>
              </a:rPr>
              <a:t>需要改变</a:t>
            </a:r>
            <a:r>
              <a:rPr lang="en-US" altLang="zh-CN" sz="2400" dirty="0">
                <a:ea typeface="华文新魏" panose="02010800040101010101" pitchFamily="2" charset="-122"/>
              </a:rPr>
              <a:t>//</a:t>
            </a:r>
            <a:r>
              <a:rPr lang="zh-CN" altLang="en-US" sz="2400" dirty="0">
                <a:ea typeface="华文新魏" panose="02010800040101010101" pitchFamily="2" charset="-122"/>
              </a:rPr>
              <a:t>唯有改变才能进步</a:t>
            </a:r>
            <a:r>
              <a:rPr lang="en-US" altLang="zh-CN" sz="2400" dirty="0">
                <a:ea typeface="华文新魏" panose="02010800040101010101" pitchFamily="2" charset="-122"/>
              </a:rPr>
              <a:t>//</a:t>
            </a:r>
            <a:r>
              <a:rPr lang="zh-CN" altLang="en-US" sz="2400" dirty="0">
                <a:ea typeface="华文新魏" panose="02010800040101010101" pitchFamily="2" charset="-122"/>
              </a:rPr>
              <a:t>要跟上时代</a:t>
            </a:r>
            <a:r>
              <a:rPr lang="zh-CN" altLang="en-US" sz="2400" dirty="0" smtClean="0">
                <a:ea typeface="华文新魏" panose="02010800040101010101" pitchFamily="2" charset="-122"/>
              </a:rPr>
              <a:t>步伐</a:t>
            </a:r>
            <a:r>
              <a:rPr lang="en-US" altLang="zh-CN" sz="2400" dirty="0" smtClean="0">
                <a:ea typeface="华文新魏" panose="02010800040101010101" pitchFamily="2" charset="-122"/>
              </a:rPr>
              <a:t>》</a:t>
            </a:r>
            <a:endParaRPr lang="zh-CN" altLang="en-US" sz="2400" dirty="0">
              <a:ea typeface="华文新魏" panose="02010800040101010101" pitchFamily="2" charset="-122"/>
            </a:endParaRP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创新</a:t>
            </a:r>
            <a:r>
              <a:rPr lang="zh-CN" altLang="en-US" sz="2400" dirty="0">
                <a:ea typeface="华文新魏" panose="02010800040101010101" pitchFamily="2" charset="-122"/>
              </a:rPr>
              <a:t>促</a:t>
            </a:r>
            <a:r>
              <a:rPr lang="zh-CN" altLang="en-US" sz="2400" dirty="0" smtClean="0">
                <a:ea typeface="华文新魏" panose="02010800040101010101" pitchFamily="2" charset="-122"/>
              </a:rPr>
              <a:t>发展</a:t>
            </a:r>
            <a:r>
              <a:rPr lang="en-US" altLang="zh-CN" sz="2400" dirty="0" smtClean="0">
                <a:ea typeface="华文新魏" panose="02010800040101010101" pitchFamily="2" charset="-122"/>
              </a:rPr>
              <a:t>》</a:t>
            </a:r>
            <a:endParaRPr lang="zh-CN" altLang="en-US" sz="2400" dirty="0">
              <a:ea typeface="华文新魏" panose="02010800040101010101" pitchFamily="2" charset="-122"/>
            </a:endParaRPr>
          </a:p>
          <a:p>
            <a:pPr eaLnBrk="1" hangingPunct="1">
              <a:lnSpc>
                <a:spcPct val="95000"/>
              </a:lnSpc>
              <a:spcBef>
                <a:spcPts val="0"/>
              </a:spcBef>
            </a:pPr>
            <a:r>
              <a:rPr lang="en-US" altLang="zh-CN" sz="2400" dirty="0">
                <a:ea typeface="华文新魏" panose="02010800040101010101" pitchFamily="2" charset="-122"/>
              </a:rPr>
              <a:t>《</a:t>
            </a:r>
            <a:r>
              <a:rPr lang="zh-CN" altLang="en-US" sz="2400" dirty="0">
                <a:ea typeface="华文新魏" panose="02010800040101010101" pitchFamily="2" charset="-122"/>
              </a:rPr>
              <a:t>脚踏实地见本色</a:t>
            </a:r>
            <a:r>
              <a:rPr lang="en-US" altLang="zh-CN" sz="2400" dirty="0" smtClean="0">
                <a:ea typeface="华文新魏" panose="02010800040101010101" pitchFamily="2" charset="-122"/>
              </a:rPr>
              <a:t>》</a:t>
            </a: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smtClean="0">
                <a:ea typeface="华文新魏" panose="02010800040101010101" pitchFamily="2" charset="-122"/>
              </a:rPr>
              <a:t>做事</a:t>
            </a:r>
            <a:r>
              <a:rPr lang="zh-CN" altLang="en-US" sz="2400" dirty="0">
                <a:ea typeface="华文新魏" panose="02010800040101010101" pitchFamily="2" charset="-122"/>
              </a:rPr>
              <a:t>不能浮躁，要</a:t>
            </a:r>
            <a:r>
              <a:rPr lang="zh-CN" altLang="en-US" sz="2400" dirty="0" smtClean="0">
                <a:ea typeface="华文新魏" panose="02010800040101010101" pitchFamily="2" charset="-122"/>
              </a:rPr>
              <a:t>脚踏实地</a:t>
            </a:r>
            <a:r>
              <a:rPr lang="en-US" altLang="zh-CN" sz="2400" dirty="0" smtClean="0">
                <a:ea typeface="华文新魏" panose="02010800040101010101" pitchFamily="2" charset="-122"/>
              </a:rPr>
              <a:t>》</a:t>
            </a: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a:ea typeface="华文新魏" panose="02010800040101010101" pitchFamily="2" charset="-122"/>
              </a:rPr>
              <a:t>趋炎附势终落败</a:t>
            </a:r>
            <a:r>
              <a:rPr lang="en-US" altLang="zh-CN" sz="2400" dirty="0">
                <a:ea typeface="华文新魏" panose="02010800040101010101" pitchFamily="2" charset="-122"/>
              </a:rPr>
              <a:t>》                </a:t>
            </a:r>
            <a:endParaRPr lang="en-US" altLang="zh-CN" sz="2400" dirty="0" smtClean="0">
              <a:ea typeface="华文新魏" panose="02010800040101010101" pitchFamily="2" charset="-122"/>
            </a:endParaRP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a:ea typeface="华文新魏" panose="02010800040101010101" pitchFamily="2" charset="-122"/>
              </a:rPr>
              <a:t>抓住机遇巧安排</a:t>
            </a:r>
            <a:r>
              <a:rPr lang="en-US" altLang="zh-CN" sz="2400" dirty="0">
                <a:ea typeface="华文新魏" panose="02010800040101010101" pitchFamily="2" charset="-122"/>
              </a:rPr>
              <a:t>》                </a:t>
            </a:r>
            <a:endParaRPr lang="en-US" altLang="zh-CN" sz="2400" dirty="0" smtClean="0">
              <a:ea typeface="华文新魏" panose="02010800040101010101" pitchFamily="2" charset="-122"/>
            </a:endParaRP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a:ea typeface="华文新魏" panose="02010800040101010101" pitchFamily="2" charset="-122"/>
              </a:rPr>
              <a:t>所欲莫过于生者</a:t>
            </a:r>
            <a:r>
              <a:rPr lang="en-US" altLang="zh-CN" sz="2400" dirty="0">
                <a:ea typeface="华文新魏" panose="02010800040101010101" pitchFamily="2" charset="-122"/>
              </a:rPr>
              <a:t>》                  </a:t>
            </a:r>
            <a:endParaRPr lang="en-US" altLang="zh-CN" sz="2400" dirty="0" smtClean="0">
              <a:ea typeface="华文新魏" panose="02010800040101010101" pitchFamily="2" charset="-122"/>
            </a:endParaRP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a:ea typeface="华文新魏" panose="02010800040101010101" pitchFamily="2" charset="-122"/>
              </a:rPr>
              <a:t>走自己的路让别人说去</a:t>
            </a:r>
            <a:r>
              <a:rPr lang="en-US" altLang="zh-CN" sz="2400" dirty="0" smtClean="0">
                <a:ea typeface="华文新魏" panose="02010800040101010101" pitchFamily="2" charset="-122"/>
              </a:rPr>
              <a:t>》</a:t>
            </a:r>
          </a:p>
          <a:p>
            <a:pPr eaLnBrk="1" hangingPunct="1">
              <a:lnSpc>
                <a:spcPct val="95000"/>
              </a:lnSpc>
              <a:spcBef>
                <a:spcPts val="0"/>
              </a:spcBef>
            </a:pPr>
            <a:r>
              <a:rPr lang="en-US" altLang="zh-CN" sz="2400" dirty="0" smtClean="0">
                <a:ea typeface="华文新魏" panose="02010800040101010101" pitchFamily="2" charset="-122"/>
              </a:rPr>
              <a:t>《</a:t>
            </a:r>
            <a:r>
              <a:rPr lang="zh-CN" altLang="en-US" sz="2400" dirty="0">
                <a:ea typeface="华文新魏" panose="02010800040101010101" pitchFamily="2" charset="-122"/>
              </a:rPr>
              <a:t>信息传播带来经济效益</a:t>
            </a:r>
            <a:r>
              <a:rPr lang="en-US" altLang="zh-CN" sz="2400" dirty="0">
                <a:ea typeface="华文新魏" panose="02010800040101010101" pitchFamily="2" charset="-122"/>
              </a:rPr>
              <a:t>》</a:t>
            </a:r>
          </a:p>
          <a:p>
            <a:pPr eaLnBrk="1" hangingPunct="1">
              <a:lnSpc>
                <a:spcPct val="75000"/>
              </a:lnSpc>
              <a:spcBef>
                <a:spcPct val="50000"/>
              </a:spcBef>
            </a:pPr>
            <a:endParaRPr lang="en-US" altLang="zh-CN" sz="2800" dirty="0">
              <a:ea typeface="华文新魏" panose="02010800040101010101" pitchFamily="2" charset="-122"/>
            </a:endParaRPr>
          </a:p>
        </p:txBody>
      </p:sp>
      <p:sp>
        <p:nvSpPr>
          <p:cNvPr id="9222" name="Text Box 6"/>
          <p:cNvSpPr txBox="1">
            <a:spLocks noChangeArrowheads="1"/>
          </p:cNvSpPr>
          <p:nvPr/>
        </p:nvSpPr>
        <p:spPr bwMode="auto">
          <a:xfrm>
            <a:off x="6886946" y="1805738"/>
            <a:ext cx="4495800" cy="459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5000"/>
              </a:lnSpc>
              <a:spcBef>
                <a:spcPct val="50000"/>
              </a:spcBef>
            </a:pPr>
            <a:r>
              <a:rPr lang="en-US" altLang="zh-CN" sz="2800" dirty="0">
                <a:ea typeface="华文新魏" panose="02010800040101010101" pitchFamily="2" charset="-122"/>
              </a:rPr>
              <a:t>《</a:t>
            </a:r>
            <a:r>
              <a:rPr lang="zh-CN" altLang="en-US" sz="2800" dirty="0">
                <a:ea typeface="华文新魏" panose="02010800040101010101" pitchFamily="2" charset="-122"/>
              </a:rPr>
              <a:t>花香蝶自绕</a:t>
            </a:r>
            <a:r>
              <a:rPr lang="en-US" altLang="zh-CN" sz="2800" dirty="0">
                <a:ea typeface="华文新魏" panose="02010800040101010101" pitchFamily="2" charset="-122"/>
              </a:rPr>
              <a:t>》                      《</a:t>
            </a:r>
            <a:r>
              <a:rPr lang="zh-CN" altLang="en-US" sz="2800" dirty="0">
                <a:ea typeface="华文新魏" panose="02010800040101010101" pitchFamily="2" charset="-122"/>
              </a:rPr>
              <a:t>酿得酒香，哪怕巷深</a:t>
            </a:r>
            <a:r>
              <a:rPr lang="en-US" altLang="zh-CN" sz="2800" dirty="0">
                <a:ea typeface="华文新魏" panose="02010800040101010101" pitchFamily="2" charset="-122"/>
              </a:rPr>
              <a:t>》《</a:t>
            </a:r>
            <a:r>
              <a:rPr lang="zh-CN" altLang="en-US" sz="2800" dirty="0">
                <a:ea typeface="华文新魏" panose="02010800040101010101" pitchFamily="2" charset="-122"/>
              </a:rPr>
              <a:t>摒弃盲从自成一家</a:t>
            </a:r>
            <a:r>
              <a:rPr lang="en-US" altLang="zh-CN" sz="2800" dirty="0">
                <a:ea typeface="华文新魏" panose="02010800040101010101" pitchFamily="2" charset="-122"/>
              </a:rPr>
              <a:t>》             《</a:t>
            </a:r>
            <a:r>
              <a:rPr lang="zh-CN" altLang="en-US" sz="2800" dirty="0">
                <a:ea typeface="华文新魏" panose="02010800040101010101" pitchFamily="2" charset="-122"/>
              </a:rPr>
              <a:t>拒绝东施效颦</a:t>
            </a:r>
            <a:r>
              <a:rPr lang="en-US" altLang="zh-CN" sz="2800" dirty="0">
                <a:ea typeface="华文新魏" panose="02010800040101010101" pitchFamily="2" charset="-122"/>
              </a:rPr>
              <a:t>》                  《</a:t>
            </a:r>
            <a:r>
              <a:rPr lang="zh-CN" altLang="en-US" sz="2800" dirty="0">
                <a:ea typeface="华文新魏" panose="02010800040101010101" pitchFamily="2" charset="-122"/>
              </a:rPr>
              <a:t>假借名号要不得</a:t>
            </a:r>
            <a:r>
              <a:rPr lang="en-US" altLang="zh-CN" sz="2800" dirty="0">
                <a:ea typeface="华文新魏" panose="02010800040101010101" pitchFamily="2" charset="-122"/>
              </a:rPr>
              <a:t>》                《</a:t>
            </a:r>
            <a:r>
              <a:rPr lang="zh-CN" altLang="en-US" sz="2800" dirty="0">
                <a:ea typeface="华文新魏" panose="02010800040101010101" pitchFamily="2" charset="-122"/>
              </a:rPr>
              <a:t>别让噱头毁了特色</a:t>
            </a:r>
            <a:r>
              <a:rPr lang="en-US" altLang="zh-CN" sz="2800" dirty="0">
                <a:ea typeface="华文新魏" panose="02010800040101010101" pitchFamily="2" charset="-122"/>
              </a:rPr>
              <a:t>》                </a:t>
            </a:r>
            <a:r>
              <a:rPr lang="en-US" altLang="zh-CN" sz="2800" dirty="0" smtClean="0">
                <a:ea typeface="华文新魏" panose="02010800040101010101" pitchFamily="2" charset="-122"/>
              </a:rPr>
              <a:t>《</a:t>
            </a:r>
            <a:r>
              <a:rPr lang="zh-CN" altLang="en-US" sz="2800" dirty="0" smtClean="0">
                <a:ea typeface="华文新魏" panose="02010800040101010101" pitchFamily="2" charset="-122"/>
              </a:rPr>
              <a:t>有一种改名叫买椟还珠</a:t>
            </a:r>
            <a:r>
              <a:rPr lang="en-US" altLang="zh-CN" sz="2800" dirty="0" smtClean="0">
                <a:ea typeface="华文新魏" panose="02010800040101010101" pitchFamily="2" charset="-122"/>
              </a:rPr>
              <a:t>》 《</a:t>
            </a:r>
            <a:r>
              <a:rPr lang="zh-CN" altLang="en-US" sz="2800" dirty="0" smtClean="0">
                <a:ea typeface="华文新魏" panose="02010800040101010101" pitchFamily="2" charset="-122"/>
              </a:rPr>
              <a:t>改名图利，短视之举</a:t>
            </a:r>
            <a:r>
              <a:rPr lang="en-US" altLang="zh-CN" sz="2800" dirty="0" smtClean="0">
                <a:ea typeface="华文新魏" panose="02010800040101010101" pitchFamily="2" charset="-122"/>
              </a:rPr>
              <a:t>》                             </a:t>
            </a:r>
            <a:r>
              <a:rPr lang="en-US" altLang="zh-CN" sz="2800" dirty="0">
                <a:ea typeface="华文新魏" panose="02010800040101010101" pitchFamily="2" charset="-122"/>
              </a:rPr>
              <a:t>《</a:t>
            </a:r>
            <a:r>
              <a:rPr lang="zh-CN" altLang="en-US" sz="2800" dirty="0">
                <a:ea typeface="华文新魏" panose="02010800040101010101" pitchFamily="2" charset="-122"/>
              </a:rPr>
              <a:t>切莫“热”昏头</a:t>
            </a:r>
            <a:r>
              <a:rPr lang="en-US" altLang="zh-CN" sz="2800" dirty="0">
                <a:ea typeface="华文新魏" panose="02010800040101010101" pitchFamily="2" charset="-122"/>
              </a:rPr>
              <a:t>》                  《</a:t>
            </a:r>
            <a:r>
              <a:rPr lang="zh-CN" altLang="en-US" sz="2800" dirty="0">
                <a:ea typeface="华文新魏" panose="02010800040101010101" pitchFamily="2" charset="-122"/>
              </a:rPr>
              <a:t>一味迎合要不得</a:t>
            </a:r>
            <a:r>
              <a:rPr lang="en-US" altLang="zh-CN" sz="2800" dirty="0">
                <a:ea typeface="华文新魏" panose="02010800040101010101" pitchFamily="2" charset="-122"/>
              </a:rPr>
              <a:t>》                 《</a:t>
            </a:r>
            <a:r>
              <a:rPr lang="zh-CN" altLang="en-US" sz="2800" dirty="0">
                <a:ea typeface="华文新魏" panose="02010800040101010101" pitchFamily="2" charset="-122"/>
              </a:rPr>
              <a:t>借“势”需巧</a:t>
            </a:r>
            <a:r>
              <a:rPr lang="en-US" altLang="zh-CN" sz="2800" dirty="0">
                <a:ea typeface="华文新魏" panose="02010800040101010101" pitchFamily="2" charset="-122"/>
              </a:rPr>
              <a:t>》</a:t>
            </a:r>
          </a:p>
        </p:txBody>
      </p:sp>
    </p:spTree>
    <p:extLst>
      <p:ext uri="{BB962C8B-B14F-4D97-AF65-F5344CB8AC3E}">
        <p14:creationId xmlns:p14="http://schemas.microsoft.com/office/powerpoint/2010/main" val="327410491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98120" y="-47625"/>
            <a:ext cx="11604625" cy="6554470"/>
          </a:xfrm>
          <a:prstGeom prst="rect">
            <a:avLst/>
          </a:prstGeom>
          <a:noFill/>
        </p:spPr>
        <p:txBody>
          <a:bodyPr wrap="square" rtlCol="0">
            <a:spAutoFit/>
          </a:bodyPr>
          <a:lstStyle/>
          <a:p>
            <a:r>
              <a:rPr lang="en-US" altLang="zh-CN" sz="2800" b="1" dirty="0"/>
              <a:t>6. </a:t>
            </a:r>
            <a:r>
              <a:rPr lang="zh-CN" altLang="en-US" sz="2800" b="1" dirty="0"/>
              <a:t>阅读下面的材料，根据要求写一篇不少于800字的文章。（60分）    </a:t>
            </a:r>
          </a:p>
          <a:p>
            <a:r>
              <a:rPr lang="zh-CN" altLang="en-US" sz="2800" b="1" dirty="0"/>
              <a:t>       经典，是指经过历史选择出来的“最有价值的书”。它们理应</a:t>
            </a:r>
          </a:p>
          <a:p>
            <a:r>
              <a:rPr lang="zh-CN" altLang="en-US" sz="2800" b="1" dirty="0"/>
              <a:t>是经久不衰的万世之作。 但是，前不久，某大学在网上搞了个“死活读不下去排行榜”，最终得出了一个令人瞠目结舌的结论：《红楼梦》高居该榜榜首，不仅如此，在这份榜单前10名中，中国古典四大名著尽数在列；此外还有《百年孤独》《尤利西斯》《瓦尔登湖》等外国名著，也位列前10名。这份榜单，引发了社会一片热议。</a:t>
            </a:r>
          </a:p>
          <a:p>
            <a:r>
              <a:rPr lang="zh-CN" altLang="en-US" sz="2800" b="1" dirty="0"/>
              <a:t>        对于以上事情，你怎么看？请你据此作文，体现你的思考、表明你的态度，阐述你的看法。要求综合材料内容及含意，选好角度，确定立意，标题自拟，完成写作任务。</a:t>
            </a:r>
          </a:p>
          <a:p>
            <a:endParaRPr lang="zh-CN" altLang="en-US" sz="2800" b="1" dirty="0"/>
          </a:p>
          <a:p>
            <a:r>
              <a:rPr lang="zh-CN" altLang="en-US" sz="2800" b="1" dirty="0">
                <a:solidFill>
                  <a:srgbClr val="7030A0"/>
                </a:solidFill>
              </a:rPr>
              <a:t>       下列议论文标题中，最合适的两项是（      ）</a:t>
            </a:r>
          </a:p>
          <a:p>
            <a:r>
              <a:rPr lang="zh-CN" altLang="en-US" sz="2800" b="1" dirty="0">
                <a:solidFill>
                  <a:srgbClr val="7030A0"/>
                </a:solidFill>
              </a:rPr>
              <a:t>        A读书是最有价值的提升               B亲近经典，提升灵魂           </a:t>
            </a:r>
          </a:p>
          <a:p>
            <a:r>
              <a:rPr lang="zh-CN" altLang="en-US" sz="2800" b="1" dirty="0">
                <a:solidFill>
                  <a:srgbClr val="7030A0"/>
                </a:solidFill>
              </a:rPr>
              <a:t>        C别让经典湮没于“通俗时代”    D论经典文学的经典性        </a:t>
            </a:r>
          </a:p>
          <a:p>
            <a:r>
              <a:rPr lang="zh-CN" altLang="en-US" sz="2800" b="1" dirty="0">
                <a:solidFill>
                  <a:srgbClr val="7030A0"/>
                </a:solidFill>
              </a:rPr>
              <a:t>        E让灵魂在文学中升华</a:t>
            </a:r>
          </a:p>
        </p:txBody>
      </p:sp>
      <p:sp>
        <p:nvSpPr>
          <p:cNvPr id="53252" name="矩形 378883"/>
          <p:cNvSpPr/>
          <p:nvPr/>
        </p:nvSpPr>
        <p:spPr>
          <a:xfrm>
            <a:off x="11193145" y="508698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81150" y="685872"/>
            <a:ext cx="11658294" cy="4524315"/>
          </a:xfrm>
          <a:prstGeom prst="rect">
            <a:avLst/>
          </a:prstGeom>
        </p:spPr>
        <p:txBody>
          <a:bodyPr wrap="square">
            <a:spAutoFit/>
          </a:bodyPr>
          <a:lstStyle/>
          <a:p>
            <a:r>
              <a:rPr lang="zh-CN" altLang="en-US" sz="2400" dirty="0" smtClean="0">
                <a:solidFill>
                  <a:srgbClr val="111111"/>
                </a:solidFill>
                <a:latin typeface="simsun" panose="02010600030101010101" pitchFamily="2" charset="-122"/>
                <a:ea typeface="simsun" panose="02010600030101010101" pitchFamily="2" charset="-122"/>
              </a:rPr>
              <a:t>    立意</a:t>
            </a:r>
            <a:r>
              <a:rPr lang="zh-CN" altLang="en-US" sz="2400" dirty="0">
                <a:solidFill>
                  <a:srgbClr val="111111"/>
                </a:solidFill>
                <a:latin typeface="simsun" panose="02010600030101010101" pitchFamily="2" charset="-122"/>
                <a:ea typeface="simsun" panose="02010600030101010101" pitchFamily="2" charset="-122"/>
              </a:rPr>
              <a:t>：看到这样的社会现象，我们首先要学会透过现象看本质，进而对此质疑、批判，或者赞同。但要学会多问自己，</a:t>
            </a:r>
            <a:r>
              <a:rPr lang="zh-CN" altLang="en-US" sz="2400" dirty="0">
                <a:solidFill>
                  <a:srgbClr val="FF0000"/>
                </a:solidFill>
                <a:latin typeface="simsun" panose="02010600030101010101" pitchFamily="2" charset="-122"/>
                <a:ea typeface="simsun" panose="02010600030101010101" pitchFamily="2" charset="-122"/>
              </a:rPr>
              <a:t>为何如此</a:t>
            </a:r>
            <a:r>
              <a:rPr lang="zh-CN" altLang="en-US" sz="2400" dirty="0">
                <a:solidFill>
                  <a:srgbClr val="111111"/>
                </a:solidFill>
                <a:latin typeface="simsun" panose="02010600030101010101" pitchFamily="2" charset="-122"/>
                <a:ea typeface="simsun" panose="02010600030101010101" pitchFamily="2" charset="-122"/>
              </a:rPr>
              <a:t>？于是，立意角度产生：</a:t>
            </a:r>
            <a:r>
              <a:rPr lang="zh-CN" altLang="en-US" sz="2400" dirty="0"/>
              <a:t/>
            </a:r>
            <a:br>
              <a:rPr lang="zh-CN" altLang="en-US" sz="2400" dirty="0"/>
            </a:br>
            <a:r>
              <a:rPr lang="zh-CN" altLang="en-US" sz="2400" dirty="0">
                <a:solidFill>
                  <a:srgbClr val="111111"/>
                </a:solidFill>
                <a:latin typeface="simsun" panose="02010600030101010101" pitchFamily="2" charset="-122"/>
                <a:ea typeface="simsun" panose="02010600030101010101" pitchFamily="2" charset="-122"/>
              </a:rPr>
              <a:t>拒绝阅读经典，原因大多是世事浮躁，人们更愿意接纳“浅阅读”“快阅读”“碎片化阅读”甚至干脆“读图”；</a:t>
            </a:r>
            <a:r>
              <a:rPr lang="zh-CN" altLang="en-US" sz="2400" dirty="0">
                <a:solidFill>
                  <a:srgbClr val="FF0000"/>
                </a:solidFill>
                <a:latin typeface="simsun" panose="02010600030101010101" pitchFamily="2" charset="-122"/>
                <a:ea typeface="simsun" panose="02010600030101010101" pitchFamily="2" charset="-122"/>
              </a:rPr>
              <a:t>本质原因是当下社会的价值取向问题</a:t>
            </a:r>
            <a:r>
              <a:rPr lang="zh-CN" altLang="en-US" sz="2400" dirty="0">
                <a:solidFill>
                  <a:srgbClr val="111111"/>
                </a:solidFill>
                <a:latin typeface="simsun" panose="02010600030101010101" pitchFamily="2" charset="-122"/>
                <a:ea typeface="simsun" panose="02010600030101010101" pitchFamily="2" charset="-122"/>
              </a:rPr>
              <a:t>。在一个追求“成功”的时代，像</a:t>
            </a:r>
            <a:r>
              <a:rPr lang="en-US" altLang="zh-CN" sz="2400" dirty="0">
                <a:solidFill>
                  <a:srgbClr val="111111"/>
                </a:solidFill>
                <a:latin typeface="simsun" panose="02010600030101010101" pitchFamily="2" charset="-122"/>
                <a:ea typeface="simsun" panose="02010600030101010101" pitchFamily="2" charset="-122"/>
              </a:rPr>
              <a:t>《</a:t>
            </a:r>
            <a:r>
              <a:rPr lang="zh-CN" altLang="en-US" sz="2400" dirty="0">
                <a:solidFill>
                  <a:srgbClr val="111111"/>
                </a:solidFill>
                <a:latin typeface="simsun" panose="02010600030101010101" pitchFamily="2" charset="-122"/>
                <a:ea typeface="simsun" panose="02010600030101010101" pitchFamily="2" charset="-122"/>
              </a:rPr>
              <a:t>红楼梦</a:t>
            </a:r>
            <a:r>
              <a:rPr lang="en-US" altLang="zh-CN" sz="2400" dirty="0">
                <a:solidFill>
                  <a:srgbClr val="111111"/>
                </a:solidFill>
                <a:latin typeface="simsun" panose="02010600030101010101" pitchFamily="2" charset="-122"/>
                <a:ea typeface="simsun" panose="02010600030101010101" pitchFamily="2" charset="-122"/>
              </a:rPr>
              <a:t>》</a:t>
            </a:r>
            <a:r>
              <a:rPr lang="zh-CN" altLang="en-US" sz="2400" dirty="0">
                <a:solidFill>
                  <a:srgbClr val="111111"/>
                </a:solidFill>
                <a:latin typeface="simsun" panose="02010600030101010101" pitchFamily="2" charset="-122"/>
                <a:ea typeface="simsun" panose="02010600030101010101" pitchFamily="2" charset="-122"/>
              </a:rPr>
              <a:t>这样缺少“实用价值”，缺少“谋取实际利益”功能，同时又缺少快速获取娱乐“快感”的作品，被阅读者驱逐是“理所当然”的。但这些承载着人类基本价值观念和文化取向的“经典”，被我们以“不实用”而拒绝的时候，我们是否忽视了人类沉重的肉身恰是因“无用”的阅读而获得心灵的轻盈和洁净的。这样写作可围绕“有用与无用”“与经典同行”等展开。</a:t>
            </a:r>
            <a:r>
              <a:rPr lang="zh-CN" altLang="en-US" sz="2400" dirty="0"/>
              <a:t/>
            </a:r>
            <a:br>
              <a:rPr lang="zh-CN" altLang="en-US" sz="2400" dirty="0"/>
            </a:br>
            <a:r>
              <a:rPr lang="zh-CN" altLang="en-US" sz="2400" dirty="0">
                <a:solidFill>
                  <a:srgbClr val="111111"/>
                </a:solidFill>
                <a:latin typeface="simsun" panose="02010600030101010101" pitchFamily="2" charset="-122"/>
                <a:ea typeface="simsun" panose="02010600030101010101" pitchFamily="2" charset="-122"/>
              </a:rPr>
              <a:t>   </a:t>
            </a:r>
            <a:r>
              <a:rPr lang="zh-CN" altLang="en-US" sz="2400" dirty="0" smtClean="0">
                <a:solidFill>
                  <a:srgbClr val="111111"/>
                </a:solidFill>
                <a:latin typeface="simsun" panose="02010600030101010101" pitchFamily="2" charset="-122"/>
                <a:ea typeface="simsun" panose="02010600030101010101" pitchFamily="2" charset="-122"/>
              </a:rPr>
              <a:t>  我们</a:t>
            </a:r>
            <a:r>
              <a:rPr lang="zh-CN" altLang="en-US" sz="2400" dirty="0">
                <a:solidFill>
                  <a:srgbClr val="111111"/>
                </a:solidFill>
                <a:latin typeface="simsun" panose="02010600030101010101" pitchFamily="2" charset="-122"/>
                <a:ea typeface="simsun" panose="02010600030101010101" pitchFamily="2" charset="-122"/>
              </a:rPr>
              <a:t>也可勇敢质疑，曾经的“经典”是否一定是真正意义上的经典，有些依托社会背景生成的“深邃”的经典是否有足够理由要求不同生活阅历的人去阅读、热爱并读出“意义”？这样写作可就“何为经典”“人类经典演变过程”等展开。</a:t>
            </a:r>
            <a:endParaRPr lang="zh-CN" altLang="en-US" sz="2400" dirty="0"/>
          </a:p>
        </p:txBody>
      </p:sp>
    </p:spTree>
    <p:extLst>
      <p:ext uri="{BB962C8B-B14F-4D97-AF65-F5344CB8AC3E}">
        <p14:creationId xmlns:p14="http://schemas.microsoft.com/office/powerpoint/2010/main" val="15807022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98120" y="-47625"/>
            <a:ext cx="11604625" cy="6985635"/>
          </a:xfrm>
          <a:prstGeom prst="rect">
            <a:avLst/>
          </a:prstGeom>
          <a:noFill/>
        </p:spPr>
        <p:txBody>
          <a:bodyPr wrap="square" rtlCol="0">
            <a:spAutoFit/>
          </a:bodyPr>
          <a:lstStyle/>
          <a:p>
            <a:r>
              <a:rPr lang="en-US" altLang="zh-CN" sz="2800" b="1" dirty="0"/>
              <a:t>7.</a:t>
            </a:r>
            <a:r>
              <a:rPr lang="zh-CN" altLang="en-US" sz="2800" b="1" dirty="0"/>
              <a:t>阅读下面的材料，根据要求写一篇不少于800字的文章。（60分）</a:t>
            </a:r>
          </a:p>
          <a:p>
            <a:r>
              <a:rPr lang="zh-CN" altLang="en-US" sz="2800" b="1" dirty="0"/>
              <a:t>        陈小姐带着在宝宝车中熟睡的1岁大的孩子乘公交车，司机李师</a:t>
            </a:r>
          </a:p>
          <a:p>
            <a:r>
              <a:rPr lang="zh-CN" altLang="en-US" sz="2800" b="1" dirty="0"/>
              <a:t>傅让陈小姐将宝宝车折叠放好，否则就要购买1元的行李货品票。陈小姐表示，如果把车折叠起来会把孩子弄醒，而车上没有空座位，把孩子抱在手中乘车又很危险。她认为司机的要求不合理，坚决不交这1元钱，而司机拒不开车。为了这1元钱，陈小姐与司机“对峙”数小时，期间陈小姐多次报警，警察两度出警，车上数十人被迫转车。最后，在警察苦口婆心的劝导后，陈小姐搭乘警车回家。此事引起了社会各方面的反响，议论不一。</a:t>
            </a:r>
          </a:p>
          <a:p>
            <a:r>
              <a:rPr lang="zh-CN" altLang="en-US" sz="2800" b="1" dirty="0"/>
              <a:t>       对于以上事情，你怎么看？请就陈小姐、李师傅、其他乘客或警察的行为，表明你的态度，阐述你的看法。要求综合材料内容及含意，选好角度，确定立意，完成写作任务。</a:t>
            </a:r>
          </a:p>
          <a:p>
            <a:r>
              <a:rPr lang="zh-CN" altLang="en-US" sz="2800" b="1" dirty="0">
                <a:solidFill>
                  <a:srgbClr val="7030A0"/>
                </a:solidFill>
              </a:rPr>
              <a:t>       下列议论文标题中，最不合适的两项是（    ）</a:t>
            </a:r>
          </a:p>
          <a:p>
            <a:r>
              <a:rPr lang="zh-CN" altLang="en-US" sz="2800" b="1" dirty="0">
                <a:solidFill>
                  <a:srgbClr val="7030A0"/>
                </a:solidFill>
              </a:rPr>
              <a:t>         A. 孩子本无辜，父母要担责         B. 个人集体，皆需兼顾     </a:t>
            </a:r>
          </a:p>
          <a:p>
            <a:r>
              <a:rPr lang="zh-CN" altLang="en-US" sz="2800" b="1" dirty="0">
                <a:solidFill>
                  <a:srgbClr val="7030A0"/>
                </a:solidFill>
              </a:rPr>
              <a:t>         C. 退一步海阔天空                        D . 秩序      </a:t>
            </a:r>
          </a:p>
          <a:p>
            <a:r>
              <a:rPr lang="zh-CN" altLang="en-US" sz="2800" b="1" dirty="0">
                <a:solidFill>
                  <a:srgbClr val="7030A0"/>
                </a:solidFill>
              </a:rPr>
              <a:t>         E. 相互谦让，让社会更和谐</a:t>
            </a:r>
          </a:p>
        </p:txBody>
      </p:sp>
      <p:sp>
        <p:nvSpPr>
          <p:cNvPr id="53252" name="矩形 378883"/>
          <p:cNvSpPr/>
          <p:nvPr/>
        </p:nvSpPr>
        <p:spPr>
          <a:xfrm>
            <a:off x="11193145" y="509968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28754" y="58847"/>
            <a:ext cx="11582096" cy="6740307"/>
          </a:xfrm>
          <a:prstGeom prst="rect">
            <a:avLst/>
          </a:prstGeom>
        </p:spPr>
        <p:txBody>
          <a:bodyPr wrap="square">
            <a:spAutoFit/>
          </a:bodyPr>
          <a:lstStyle/>
          <a:p>
            <a:r>
              <a:rPr lang="zh-CN" altLang="en-US" sz="2400" dirty="0">
                <a:solidFill>
                  <a:srgbClr val="423B3B"/>
                </a:solidFill>
                <a:latin typeface="宋体" panose="02010600030101010101" pitchFamily="2" charset="-122"/>
              </a:rPr>
              <a:t>本道作文题开放性比较强，审题的</a:t>
            </a:r>
            <a:r>
              <a:rPr lang="zh-CN" altLang="en-US" sz="2400" dirty="0">
                <a:solidFill>
                  <a:srgbClr val="FF0000"/>
                </a:solidFill>
                <a:latin typeface="宋体" panose="02010600030101010101" pitchFamily="2" charset="-122"/>
              </a:rPr>
              <a:t>角度</a:t>
            </a:r>
            <a:r>
              <a:rPr lang="zh-CN" altLang="en-US" sz="2400" dirty="0">
                <a:solidFill>
                  <a:srgbClr val="423B3B"/>
                </a:solidFill>
                <a:latin typeface="宋体" panose="02010600030101010101" pitchFamily="2" charset="-122"/>
              </a:rPr>
              <a:t>也较多，我们可分别从</a:t>
            </a:r>
            <a:r>
              <a:rPr lang="zh-CN" altLang="en-US" sz="2400" dirty="0">
                <a:solidFill>
                  <a:srgbClr val="FF0000"/>
                </a:solidFill>
                <a:latin typeface="宋体" panose="02010600030101010101" pitchFamily="2" charset="-122"/>
              </a:rPr>
              <a:t>陈小姐、司机、乘客等角度来分析、立意。</a:t>
            </a:r>
          </a:p>
          <a:p>
            <a:r>
              <a:rPr lang="zh-CN" altLang="en-US" sz="2400" dirty="0">
                <a:solidFill>
                  <a:srgbClr val="423B3B"/>
                </a:solidFill>
                <a:latin typeface="宋体" panose="02010600030101010101" pitchFamily="2" charset="-122"/>
              </a:rPr>
              <a:t>陈小姐与司机“对峙”的起因，是陈小姐怕把孩子“弄醒”，“把小孩抱在手中乘车”很危险，可见陈小姐把对孩子的爱和孩子的安全放在第一位，但从影响上来看，造成了“车上数十人被迫转车”，因此可想到“如何兼顾个人利益和集体利益”的问题。另一方面，陈小姐认为司机的要求非常不合理，所以她不交这</a:t>
            </a:r>
            <a:r>
              <a:rPr lang="en-US" altLang="zh-CN" sz="2400" dirty="0">
                <a:solidFill>
                  <a:srgbClr val="423B3B"/>
                </a:solidFill>
                <a:latin typeface="宋体" panose="02010600030101010101" pitchFamily="2" charset="-122"/>
              </a:rPr>
              <a:t>1</a:t>
            </a:r>
            <a:r>
              <a:rPr lang="zh-CN" altLang="en-US" sz="2400" dirty="0">
                <a:solidFill>
                  <a:srgbClr val="423B3B"/>
                </a:solidFill>
                <a:latin typeface="宋体" panose="02010600030101010101" pitchFamily="2" charset="-122"/>
              </a:rPr>
              <a:t>元钱，甚至报警，似乎过于较真，但乘客不是为了</a:t>
            </a:r>
            <a:r>
              <a:rPr lang="en-US" altLang="zh-CN" sz="2400" dirty="0">
                <a:solidFill>
                  <a:srgbClr val="423B3B"/>
                </a:solidFill>
                <a:latin typeface="宋体" panose="02010600030101010101" pitchFamily="2" charset="-122"/>
              </a:rPr>
              <a:t>1</a:t>
            </a:r>
            <a:r>
              <a:rPr lang="zh-CN" altLang="en-US" sz="2400" dirty="0">
                <a:solidFill>
                  <a:srgbClr val="423B3B"/>
                </a:solidFill>
                <a:latin typeface="宋体" panose="02010600030101010101" pitchFamily="2" charset="-122"/>
              </a:rPr>
              <a:t>元钱的花费问题，而是在寻求一个合理的解释。司机要这</a:t>
            </a:r>
            <a:r>
              <a:rPr lang="en-US" altLang="zh-CN" sz="2400" dirty="0">
                <a:solidFill>
                  <a:srgbClr val="423B3B"/>
                </a:solidFill>
                <a:latin typeface="宋体" panose="02010600030101010101" pitchFamily="2" charset="-122"/>
              </a:rPr>
              <a:t>1</a:t>
            </a:r>
            <a:r>
              <a:rPr lang="zh-CN" altLang="en-US" sz="2400" dirty="0">
                <a:solidFill>
                  <a:srgbClr val="423B3B"/>
                </a:solidFill>
                <a:latin typeface="宋体" panose="02010600030101010101" pitchFamily="2" charset="-122"/>
              </a:rPr>
              <a:t>元钱，不是抠门，也不是故意和陈小姐过不去，而是遵守公司的相关规定，因此司机的行为其实是坚持原则的表现。所以可从正面立意：处事不可无原则。也可从反面立意：处事要灵活，不可固执。</a:t>
            </a:r>
          </a:p>
          <a:p>
            <a:r>
              <a:rPr lang="zh-CN" altLang="en-US" sz="2400" dirty="0">
                <a:solidFill>
                  <a:srgbClr val="423B3B"/>
                </a:solidFill>
                <a:latin typeface="宋体" panose="02010600030101010101" pitchFamily="2" charset="-122"/>
              </a:rPr>
              <a:t>材料中提到“车上没有空座位”，“陈小姐与司机‘对峙’数小时”后，“车上数十人被迫转车”。其间没有乘客出来调解，更没有一个乘客给抱小孩的陈小姐让座，足见乘客的冷漠与无动于衷。如果有一个乘客站出来，也许事情就可以得到解决。据此可联想到社会公德、助人为乐、尊老爱幼的民族传统等。</a:t>
            </a:r>
          </a:p>
          <a:p>
            <a:r>
              <a:rPr lang="zh-CN" altLang="en-US" sz="2400" dirty="0">
                <a:solidFill>
                  <a:srgbClr val="423B3B"/>
                </a:solidFill>
                <a:latin typeface="宋体" panose="02010600030101010101" pitchFamily="2" charset="-122"/>
              </a:rPr>
              <a:t>这一“对峙”事件也从另外一个角度体现了现代社会人们强烈的心理防范意识，陌生人之间有很深的敌对情绪。父辈“与人为善”的品德在现代社会很难找到，宽容、忍让、退一步海阔天空等思想很难得到人们的认同，社会在进步，生活步调在加快，人们的心理却更加狭隘、浮躁。</a:t>
            </a:r>
          </a:p>
        </p:txBody>
      </p:sp>
    </p:spTree>
    <p:extLst>
      <p:ext uri="{BB962C8B-B14F-4D97-AF65-F5344CB8AC3E}">
        <p14:creationId xmlns:p14="http://schemas.microsoft.com/office/powerpoint/2010/main" val="26457733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98120" y="103505"/>
            <a:ext cx="11604625" cy="5939155"/>
          </a:xfrm>
          <a:prstGeom prst="rect">
            <a:avLst/>
          </a:prstGeom>
          <a:noFill/>
        </p:spPr>
        <p:txBody>
          <a:bodyPr wrap="square" rtlCol="0">
            <a:spAutoFit/>
          </a:bodyPr>
          <a:lstStyle/>
          <a:p>
            <a:r>
              <a:rPr lang="en-US" altLang="zh-CN" sz="2800" b="1" dirty="0"/>
              <a:t>       8. </a:t>
            </a:r>
            <a:r>
              <a:rPr lang="zh-CN" altLang="en-US" sz="2800" b="1" dirty="0"/>
              <a:t>台湾爱乐乐团到大陆某市演出，场地两侧不断打出“演出中请</a:t>
            </a:r>
          </a:p>
          <a:p>
            <a:r>
              <a:rPr lang="zh-CN" altLang="en-US" sz="2800" b="1" dirty="0"/>
              <a:t>勿摄影录音”字幕。演出中，不少观众被精彩表演所感染而猛拍猛录。在场地维持秩序的工作人员，发现谁违规，就用镭射光笔直接照谁，被照观众有的自觉理亏，有的恼羞成怒，现场秩序时好时坏。演出后，爱乐乐团官方微博发出帖子，表明不欢迎那些不尊重艺术的观众。  </a:t>
            </a:r>
          </a:p>
          <a:p>
            <a:r>
              <a:rPr lang="zh-CN" altLang="en-US" sz="2800" b="1" dirty="0"/>
              <a:t>       对以上这件事，你是怎么看？请你以网友的身份，对爱乐乐团、观众或工作人员的表现加以评论，表明自己的态度，阐述自己的看法。  要求综合材料内容及含意，选好角度，确定立意，完成写作任务。</a:t>
            </a:r>
          </a:p>
          <a:p>
            <a:endParaRPr lang="zh-CN" altLang="en-US" sz="2800" b="1" dirty="0"/>
          </a:p>
          <a:p>
            <a:r>
              <a:rPr lang="zh-CN" altLang="en-US" sz="2800" b="1" dirty="0"/>
              <a:t>       </a:t>
            </a:r>
            <a:r>
              <a:rPr lang="zh-CN" altLang="en-US" sz="3200" b="1" dirty="0">
                <a:solidFill>
                  <a:srgbClr val="7030A0"/>
                </a:solidFill>
              </a:rPr>
              <a:t>下列议论文标题，最不合适的两项（  ）</a:t>
            </a:r>
          </a:p>
          <a:p>
            <a:r>
              <a:rPr lang="zh-CN" altLang="en-US" sz="3200" b="1" dirty="0">
                <a:solidFill>
                  <a:srgbClr val="7030A0"/>
                </a:solidFill>
              </a:rPr>
              <a:t>        </a:t>
            </a:r>
            <a:r>
              <a:rPr lang="zh-CN" altLang="en-US" sz="3200" b="1" dirty="0" smtClean="0">
                <a:solidFill>
                  <a:srgbClr val="7030A0"/>
                </a:solidFill>
              </a:rPr>
              <a:t>A</a:t>
            </a:r>
            <a:r>
              <a:rPr lang="en-US" altLang="zh-CN" sz="3200" b="1" dirty="0" smtClean="0">
                <a:solidFill>
                  <a:srgbClr val="7030A0"/>
                </a:solidFill>
              </a:rPr>
              <a:t>.</a:t>
            </a:r>
            <a:r>
              <a:rPr lang="zh-CN" altLang="en-US" sz="3200" b="1" dirty="0" smtClean="0">
                <a:solidFill>
                  <a:srgbClr val="7030A0"/>
                </a:solidFill>
              </a:rPr>
              <a:t>维护权益，可以更温情        B</a:t>
            </a:r>
            <a:r>
              <a:rPr lang="en-US" altLang="zh-CN" sz="3200" b="1" dirty="0" smtClean="0">
                <a:solidFill>
                  <a:srgbClr val="7030A0"/>
                </a:solidFill>
              </a:rPr>
              <a:t>.</a:t>
            </a:r>
            <a:r>
              <a:rPr lang="zh-CN" altLang="en-US" sz="3200" b="1" dirty="0" smtClean="0">
                <a:solidFill>
                  <a:srgbClr val="7030A0"/>
                </a:solidFill>
              </a:rPr>
              <a:t>为维护艺术之举喝彩</a:t>
            </a:r>
            <a:r>
              <a:rPr lang="zh-CN" altLang="en-US" sz="3200" b="1" dirty="0">
                <a:solidFill>
                  <a:srgbClr val="7030A0"/>
                </a:solidFill>
              </a:rPr>
              <a:t>         </a:t>
            </a:r>
          </a:p>
          <a:p>
            <a:r>
              <a:rPr lang="zh-CN" altLang="en-US" sz="3200" b="1" dirty="0">
                <a:solidFill>
                  <a:srgbClr val="7030A0"/>
                </a:solidFill>
              </a:rPr>
              <a:t>        </a:t>
            </a:r>
            <a:r>
              <a:rPr lang="zh-CN" altLang="en-US" sz="3200" b="1" dirty="0" smtClean="0">
                <a:solidFill>
                  <a:srgbClr val="7030A0"/>
                </a:solidFill>
              </a:rPr>
              <a:t>C</a:t>
            </a:r>
            <a:r>
              <a:rPr lang="en-US" altLang="zh-CN" sz="3200" b="1" dirty="0" smtClean="0">
                <a:solidFill>
                  <a:srgbClr val="7030A0"/>
                </a:solidFill>
              </a:rPr>
              <a:t>.</a:t>
            </a:r>
            <a:r>
              <a:rPr lang="zh-CN" altLang="en-US" sz="3200" b="1" dirty="0" smtClean="0">
                <a:solidFill>
                  <a:srgbClr val="7030A0"/>
                </a:solidFill>
              </a:rPr>
              <a:t>将心比心，贵在理解            D</a:t>
            </a:r>
            <a:r>
              <a:rPr lang="en-US" altLang="zh-CN" sz="3200" b="1" dirty="0" smtClean="0">
                <a:solidFill>
                  <a:srgbClr val="7030A0"/>
                </a:solidFill>
              </a:rPr>
              <a:t>.</a:t>
            </a:r>
            <a:r>
              <a:rPr lang="zh-CN" altLang="en-US" sz="3200" b="1" dirty="0" smtClean="0">
                <a:solidFill>
                  <a:srgbClr val="7030A0"/>
                </a:solidFill>
              </a:rPr>
              <a:t>尊重</a:t>
            </a:r>
            <a:r>
              <a:rPr lang="zh-CN" altLang="en-US" sz="3200" b="1" dirty="0">
                <a:solidFill>
                  <a:srgbClr val="7030A0"/>
                </a:solidFill>
              </a:rPr>
              <a:t>艺术，从我做起      </a:t>
            </a:r>
          </a:p>
          <a:p>
            <a:r>
              <a:rPr lang="zh-CN" altLang="en-US" sz="3200" b="1" dirty="0">
                <a:solidFill>
                  <a:srgbClr val="7030A0"/>
                </a:solidFill>
              </a:rPr>
              <a:t>        </a:t>
            </a:r>
            <a:r>
              <a:rPr lang="zh-CN" altLang="en-US" sz="3200" b="1" dirty="0" smtClean="0">
                <a:solidFill>
                  <a:srgbClr val="7030A0"/>
                </a:solidFill>
              </a:rPr>
              <a:t>E</a:t>
            </a:r>
            <a:r>
              <a:rPr lang="en-US" altLang="zh-CN" sz="3200" b="1" dirty="0" smtClean="0">
                <a:solidFill>
                  <a:srgbClr val="7030A0"/>
                </a:solidFill>
              </a:rPr>
              <a:t>.</a:t>
            </a:r>
            <a:r>
              <a:rPr lang="zh-CN" altLang="en-US" sz="3200" b="1" dirty="0" smtClean="0">
                <a:solidFill>
                  <a:srgbClr val="7030A0"/>
                </a:solidFill>
              </a:rPr>
              <a:t>尊重</a:t>
            </a:r>
            <a:r>
              <a:rPr lang="zh-CN" altLang="en-US" sz="3200" b="1" dirty="0">
                <a:solidFill>
                  <a:srgbClr val="7030A0"/>
                </a:solidFill>
              </a:rPr>
              <a:t>音乐</a:t>
            </a:r>
          </a:p>
        </p:txBody>
      </p:sp>
      <p:sp>
        <p:nvSpPr>
          <p:cNvPr id="53252" name="矩形 378883"/>
          <p:cNvSpPr/>
          <p:nvPr/>
        </p:nvSpPr>
        <p:spPr>
          <a:xfrm>
            <a:off x="10363088" y="3733792"/>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smtClean="0">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BE</a:t>
            </a:r>
            <a:endPar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474345"/>
            <a:ext cx="11963246" cy="5262979"/>
          </a:xfrm>
          <a:prstGeom prst="rect">
            <a:avLst/>
          </a:prstGeom>
        </p:spPr>
        <p:txBody>
          <a:bodyPr wrap="square">
            <a:spAutoFit/>
          </a:bodyPr>
          <a:lstStyle/>
          <a:p>
            <a:r>
              <a:rPr lang="zh-CN" altLang="en-US" sz="2400" dirty="0">
                <a:solidFill>
                  <a:srgbClr val="111111"/>
                </a:solidFill>
                <a:latin typeface="simsun" panose="02010600030101010101" pitchFamily="2" charset="-122"/>
                <a:ea typeface="simsun" panose="02010600030101010101" pitchFamily="2" charset="-122"/>
              </a:rPr>
              <a:t>材料由三件事构成的，彼此相联系，又可以彼此独立。第一件事，台湾爱乐乐团演出，禁止观众拍照摄影，但不少观众依旧摄影录像。引发第二件事，维持秩序的工作人员用激光笔提醒违规观众，观众反应不一，秩序时好时坏，影响演出。第三件事是后续事件，爱乐乐团表明态度，不欢迎不尊重艺术的观众。从事件的叙述来分析，材料至少提供三个主要争议点：一是怎么看待观众不文明现象；二是怎么看待工作人员处理这种不文明现象的方式；三是怎么看待乐团拒绝不文明观众入场的态度。这也意味着材料同时提供了诸多</a:t>
            </a:r>
            <a:r>
              <a:rPr lang="zh-CN" altLang="en-US" sz="2400" dirty="0">
                <a:solidFill>
                  <a:srgbClr val="FF0000"/>
                </a:solidFill>
                <a:latin typeface="simsun" panose="02010600030101010101" pitchFamily="2" charset="-122"/>
                <a:ea typeface="simsun" panose="02010600030101010101" pitchFamily="2" charset="-122"/>
              </a:rPr>
              <a:t>思考的角度：乐团、观众、工作人员</a:t>
            </a:r>
            <a:r>
              <a:rPr lang="zh-CN" altLang="en-US" sz="2400" dirty="0">
                <a:solidFill>
                  <a:srgbClr val="111111"/>
                </a:solidFill>
                <a:latin typeface="simsun" panose="02010600030101010101" pitchFamily="2" charset="-122"/>
                <a:ea typeface="simsun" panose="02010600030101010101" pitchFamily="2" charset="-122"/>
              </a:rPr>
              <a:t>等等。围绕这三个争议点以及不同的思考角度，可以延伸出不同的立场态度，为学生写作提供巨大的写作空间，让每个学生都有自己写作的选择与思考的方向。这样既体现了立意的多样性，又可落实评分的层级性。总之，学生可以按照作文要求的写作任务，选择上述角度的任何一个，只要不脱离材料内容及含意的范围，并在立足于材料的基础上恰当地联系当代社会生活，做到言之有据、言之成理，那么，都将能在立意上达成重要角度乃至核心角度。参考立意：从观众角度，“文明聆听，乐声更美妙”；“文明之花需要大家的栽培”；“文明，从我开始”；“文明，始于细节”等。</a:t>
            </a:r>
            <a:endParaRPr lang="zh-CN" altLang="en-US" sz="2400" dirty="0"/>
          </a:p>
        </p:txBody>
      </p:sp>
    </p:spTree>
    <p:extLst>
      <p:ext uri="{BB962C8B-B14F-4D97-AF65-F5344CB8AC3E}">
        <p14:creationId xmlns:p14="http://schemas.microsoft.com/office/powerpoint/2010/main" val="287347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06375" y="104140"/>
            <a:ext cx="11604625" cy="6123940"/>
          </a:xfrm>
          <a:prstGeom prst="rect">
            <a:avLst/>
          </a:prstGeom>
          <a:noFill/>
        </p:spPr>
        <p:txBody>
          <a:bodyPr wrap="square" rtlCol="0">
            <a:spAutoFit/>
          </a:bodyPr>
          <a:lstStyle/>
          <a:p>
            <a:r>
              <a:rPr lang="en-US" sz="2800" b="1" dirty="0"/>
              <a:t>9. </a:t>
            </a:r>
            <a:r>
              <a:rPr sz="2800" b="1" dirty="0"/>
              <a:t>阅读下面的材料，根据要求写一篇不少于800字的文章。（60分）</a:t>
            </a:r>
          </a:p>
          <a:p>
            <a:r>
              <a:rPr sz="2800" b="1" dirty="0"/>
              <a:t>       一位记者问钢琴大师格拉芙曼，在教了许多中国学生、造访中国将近四十次后，对中国琴童及其家长，有没有特别想说的话。格拉芙曼说，“我觉得中国人太强调竞争，尤其要争第一，而且在日常生活中就不自觉地强调这种观念。”竞争，难道不是必要的吗？争做第一，难道还有什么不好吗？</a:t>
            </a:r>
          </a:p>
          <a:p>
            <a:r>
              <a:rPr sz="2800" b="1" dirty="0"/>
              <a:t>       你对上述问题有何看法？请就此写一篇文章表明你的态度，体现你的思考与权衡。要求选好角度，确定立意，明确文体，自拟标题；不要套作，不得抄袭。</a:t>
            </a:r>
          </a:p>
          <a:p>
            <a:endParaRPr sz="2800" b="1" dirty="0"/>
          </a:p>
          <a:p>
            <a:r>
              <a:rPr sz="2800" b="1" dirty="0"/>
              <a:t>       </a:t>
            </a:r>
            <a:r>
              <a:rPr sz="2800" b="1" dirty="0" err="1">
                <a:solidFill>
                  <a:srgbClr val="7030A0"/>
                </a:solidFill>
              </a:rPr>
              <a:t>下列议论文标题中，最不合适的两项是</a:t>
            </a:r>
            <a:r>
              <a:rPr sz="2800" b="1" dirty="0">
                <a:solidFill>
                  <a:srgbClr val="7030A0"/>
                </a:solidFill>
              </a:rPr>
              <a:t>（    ）</a:t>
            </a:r>
          </a:p>
          <a:p>
            <a:r>
              <a:rPr sz="2800" b="1" dirty="0">
                <a:solidFill>
                  <a:srgbClr val="7030A0"/>
                </a:solidFill>
              </a:rPr>
              <a:t>        A. </a:t>
            </a:r>
            <a:r>
              <a:rPr sz="2800" b="1" dirty="0" err="1">
                <a:solidFill>
                  <a:srgbClr val="7030A0"/>
                </a:solidFill>
              </a:rPr>
              <a:t>急功近利</a:t>
            </a:r>
            <a:r>
              <a:rPr lang="zh-CN" sz="2800" b="1" dirty="0">
                <a:solidFill>
                  <a:srgbClr val="7030A0"/>
                </a:solidFill>
              </a:rPr>
              <a:t>，</a:t>
            </a:r>
            <a:r>
              <a:rPr sz="2800" b="1" dirty="0" err="1">
                <a:solidFill>
                  <a:srgbClr val="7030A0"/>
                </a:solidFill>
              </a:rPr>
              <a:t>过犹不及</a:t>
            </a:r>
            <a:r>
              <a:rPr sz="2800" b="1" dirty="0">
                <a:solidFill>
                  <a:srgbClr val="7030A0"/>
                </a:solidFill>
              </a:rPr>
              <a:t>           B. </a:t>
            </a:r>
            <a:r>
              <a:rPr sz="2800" b="1" dirty="0" err="1">
                <a:solidFill>
                  <a:srgbClr val="7030A0"/>
                </a:solidFill>
              </a:rPr>
              <a:t>争做第一，力争上游</a:t>
            </a:r>
            <a:r>
              <a:rPr sz="2800" b="1" dirty="0">
                <a:solidFill>
                  <a:srgbClr val="7030A0"/>
                </a:solidFill>
              </a:rPr>
              <a:t>      </a:t>
            </a:r>
          </a:p>
          <a:p>
            <a:r>
              <a:rPr sz="2800" b="1" dirty="0">
                <a:solidFill>
                  <a:srgbClr val="7030A0"/>
                </a:solidFill>
              </a:rPr>
              <a:t>        C. </a:t>
            </a:r>
            <a:r>
              <a:rPr sz="2800" b="1" dirty="0" err="1">
                <a:solidFill>
                  <a:srgbClr val="7030A0"/>
                </a:solidFill>
              </a:rPr>
              <a:t>有一种竞争叫急功近利</a:t>
            </a:r>
            <a:r>
              <a:rPr sz="2800" b="1" dirty="0">
                <a:solidFill>
                  <a:srgbClr val="7030A0"/>
                </a:solidFill>
              </a:rPr>
              <a:t>       D. </a:t>
            </a:r>
            <a:r>
              <a:rPr sz="2800" b="1" dirty="0" err="1" smtClean="0">
                <a:solidFill>
                  <a:srgbClr val="7030A0"/>
                </a:solidFill>
              </a:rPr>
              <a:t>切莫妖魔化</a:t>
            </a:r>
            <a:r>
              <a:rPr sz="2800" b="1" dirty="0" err="1">
                <a:solidFill>
                  <a:srgbClr val="7030A0"/>
                </a:solidFill>
              </a:rPr>
              <a:t>“中国式竞争</a:t>
            </a:r>
            <a:r>
              <a:rPr sz="2800" b="1" dirty="0" smtClean="0">
                <a:solidFill>
                  <a:srgbClr val="7030A0"/>
                </a:solidFill>
              </a:rPr>
              <a:t>”</a:t>
            </a:r>
            <a:r>
              <a:rPr sz="2800" b="1" dirty="0">
                <a:solidFill>
                  <a:srgbClr val="7030A0"/>
                </a:solidFill>
              </a:rPr>
              <a:t>    </a:t>
            </a:r>
          </a:p>
          <a:p>
            <a:r>
              <a:rPr sz="2800" b="1" dirty="0">
                <a:solidFill>
                  <a:srgbClr val="7030A0"/>
                </a:solidFill>
              </a:rPr>
              <a:t>        E. </a:t>
            </a:r>
            <a:r>
              <a:rPr sz="2800" b="1" dirty="0" err="1">
                <a:solidFill>
                  <a:srgbClr val="7030A0"/>
                </a:solidFill>
              </a:rPr>
              <a:t>竞争有度，成长第一</a:t>
            </a:r>
            <a:endParaRPr lang="zh-CN" altLang="en-US" sz="2800" b="1" dirty="0">
              <a:solidFill>
                <a:srgbClr val="7030A0"/>
              </a:solidFill>
            </a:endParaRPr>
          </a:p>
        </p:txBody>
      </p:sp>
      <p:sp>
        <p:nvSpPr>
          <p:cNvPr id="53252" name="矩形 378883"/>
          <p:cNvSpPr/>
          <p:nvPr/>
        </p:nvSpPr>
        <p:spPr>
          <a:xfrm>
            <a:off x="10274935" y="416242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1963246" cy="6740307"/>
          </a:xfrm>
          <a:prstGeom prst="rect">
            <a:avLst/>
          </a:prstGeom>
        </p:spPr>
        <p:txBody>
          <a:bodyPr wrap="square">
            <a:spAutoFit/>
          </a:bodyPr>
          <a:lstStyle/>
          <a:p>
            <a:pPr fontAlgn="ctr">
              <a:spcAft>
                <a:spcPts val="0"/>
              </a:spcAft>
            </a:pPr>
            <a:r>
              <a:rPr lang="zh-CN" altLang="zh-CN" sz="2400" kern="100" dirty="0">
                <a:latin typeface="Times New Roman" panose="02020603050405020304" pitchFamily="18" charset="0"/>
                <a:cs typeface="宋体" panose="02010600030101010101" pitchFamily="2" charset="-122"/>
              </a:rPr>
              <a:t>材料的核心话题是</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争第一</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有无必要，好不好。对于</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争第一</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，仁者见仁，智者见智，但该竞争还得竞争，该</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争第一</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时得当仁不让，这是一个民族谋求生存的选择，这是一个国家追求发展的必然，这也是每一个当代人、每一个有志者必须要面对的社会现实，是必须面对的当今世界的严酷现实。</a:t>
            </a:r>
            <a:r>
              <a:rPr lang="zh-CN" altLang="zh-CN" sz="2400" kern="100" dirty="0">
                <a:solidFill>
                  <a:srgbClr val="FF0000"/>
                </a:solidFill>
                <a:latin typeface="Times New Roman" panose="02020603050405020304" pitchFamily="18" charset="0"/>
                <a:cs typeface="宋体" panose="02010600030101010101" pitchFamily="2" charset="-122"/>
              </a:rPr>
              <a:t>审题立意时，考生可以认为</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争第一</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必要或不必要，也可以认为</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不争第一</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必要或不必要。最好采用辩证方法分析</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争</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与</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不争</a:t>
            </a:r>
            <a:r>
              <a:rPr lang="en-US"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solidFill>
                  <a:srgbClr val="FF0000"/>
                </a:solidFill>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即有的事情需要</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争</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，有的事情不必要</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争</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。考生只要能进行合理的因果分析，对</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争第一</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与</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不争第一</a:t>
            </a:r>
            <a:r>
              <a:rPr lang="en-US" altLang="zh-CN" sz="2400" kern="100" dirty="0">
                <a:latin typeface="Times New Roman" panose="02020603050405020304" pitchFamily="18" charset="0"/>
                <a:cs typeface="宋体" panose="02010600030101010101" pitchFamily="2" charset="-122"/>
              </a:rPr>
              <a:t>”</a:t>
            </a:r>
            <a:r>
              <a:rPr lang="zh-CN" altLang="zh-CN" sz="2400" kern="100" dirty="0">
                <a:latin typeface="Times New Roman" panose="02020603050405020304" pitchFamily="18" charset="0"/>
                <a:cs typeface="宋体" panose="02010600030101010101" pitchFamily="2" charset="-122"/>
              </a:rPr>
              <a:t>的利弊进行有说服力的比较分析即可</a:t>
            </a:r>
            <a:r>
              <a:rPr lang="zh-CN" altLang="zh-CN" sz="2400" kern="100" dirty="0" smtClean="0">
                <a:latin typeface="Times New Roman" panose="02020603050405020304" pitchFamily="18" charset="0"/>
                <a:cs typeface="宋体" panose="02010600030101010101" pitchFamily="2" charset="-122"/>
              </a:rPr>
              <a:t>。</a:t>
            </a:r>
            <a:endParaRPr lang="en-US" altLang="zh-CN" sz="2400" kern="100" dirty="0" smtClean="0">
              <a:latin typeface="Times New Roman" panose="02020603050405020304" pitchFamily="18" charset="0"/>
              <a:cs typeface="宋体" panose="02010600030101010101" pitchFamily="2" charset="-122"/>
            </a:endParaRPr>
          </a:p>
          <a:p>
            <a:pPr fontAlgn="ctr"/>
            <a:r>
              <a:rPr lang="zh-CN" altLang="zh-CN" sz="2400" dirty="0"/>
              <a:t>参考立意：</a:t>
            </a:r>
          </a:p>
          <a:p>
            <a:pPr fontAlgn="ctr"/>
            <a:r>
              <a:rPr lang="en-US" altLang="zh-CN" sz="2400" dirty="0"/>
              <a:t>1</a:t>
            </a:r>
            <a:r>
              <a:rPr lang="zh-CN" altLang="zh-CN" sz="2400" dirty="0"/>
              <a:t>．竞争是必要的，但并非凡事都要争；</a:t>
            </a:r>
          </a:p>
          <a:p>
            <a:pPr fontAlgn="ctr"/>
            <a:r>
              <a:rPr lang="en-US" altLang="zh-CN" sz="2400" dirty="0"/>
              <a:t>2</a:t>
            </a:r>
            <a:r>
              <a:rPr lang="zh-CN" altLang="zh-CN" sz="2400" dirty="0"/>
              <a:t>．争第一是可贵的精神，但不应是最终的目的；</a:t>
            </a:r>
          </a:p>
          <a:p>
            <a:pPr fontAlgn="ctr"/>
            <a:r>
              <a:rPr lang="en-US" altLang="zh-CN" sz="2400" dirty="0"/>
              <a:t>3</a:t>
            </a:r>
            <a:r>
              <a:rPr lang="zh-CN" altLang="zh-CN" sz="2400" dirty="0"/>
              <a:t>．国人崇尚竞争，热衷于</a:t>
            </a:r>
            <a:r>
              <a:rPr lang="en-US" altLang="zh-CN" sz="2400" dirty="0"/>
              <a:t>“</a:t>
            </a:r>
            <a:r>
              <a:rPr lang="zh-CN" altLang="zh-CN" sz="2400" dirty="0"/>
              <a:t>争第一</a:t>
            </a:r>
            <a:r>
              <a:rPr lang="en-US" altLang="zh-CN" sz="2400" dirty="0"/>
              <a:t>”</a:t>
            </a:r>
            <a:r>
              <a:rPr lang="zh-CN" altLang="zh-CN" sz="2400" dirty="0"/>
              <a:t>，既是一种积极进取，也是一种无奈之举；</a:t>
            </a:r>
          </a:p>
          <a:p>
            <a:pPr fontAlgn="ctr"/>
            <a:r>
              <a:rPr lang="en-US" altLang="zh-CN" sz="2400" dirty="0"/>
              <a:t>……</a:t>
            </a:r>
            <a:endParaRPr lang="zh-CN" altLang="zh-CN" sz="2400" dirty="0"/>
          </a:p>
          <a:p>
            <a:pPr fontAlgn="ctr"/>
            <a:r>
              <a:rPr lang="zh-CN" altLang="zh-CN" sz="2400" dirty="0"/>
              <a:t>行文结构：</a:t>
            </a:r>
          </a:p>
          <a:p>
            <a:pPr fontAlgn="ctr"/>
            <a:r>
              <a:rPr lang="zh-CN" altLang="zh-CN" sz="2400" dirty="0"/>
              <a:t>议论文的结构较为常见的是并列式、层进式和对比式。此题可采用层进式的结构行文，首先通过分析材料由此自己的观点；然后采用层进的方式进行论述，层进式注意分论点的提取，如此题可围绕</a:t>
            </a:r>
            <a:r>
              <a:rPr lang="en-US" altLang="zh-CN" sz="2400" dirty="0"/>
              <a:t>“</a:t>
            </a:r>
            <a:r>
              <a:rPr lang="zh-CN" altLang="zh-CN" sz="2400" dirty="0"/>
              <a:t>做人做事，更需坚持自我，不改变初心，专注于事，不争虚荣</a:t>
            </a:r>
            <a:r>
              <a:rPr lang="en-US" altLang="zh-CN" sz="2400" dirty="0"/>
              <a:t>”</a:t>
            </a:r>
            <a:r>
              <a:rPr lang="zh-CN" altLang="zh-CN" sz="2400" dirty="0"/>
              <a:t>这一中心论点，接着指出中国竞争之风盛行的现状，然后论证盲目的竞争的危害，进而论述做人做事需要有不争的智慧，最后指出争第一并不是最重要的来总结全文</a:t>
            </a:r>
            <a:r>
              <a:rPr lang="zh-CN" altLang="zh-CN" sz="2400" dirty="0" smtClean="0"/>
              <a:t>。</a:t>
            </a:r>
            <a:endParaRPr lang="zh-CN" altLang="zh-CN" sz="2400" dirty="0"/>
          </a:p>
        </p:txBody>
      </p:sp>
    </p:spTree>
    <p:extLst>
      <p:ext uri="{BB962C8B-B14F-4D97-AF65-F5344CB8AC3E}">
        <p14:creationId xmlns:p14="http://schemas.microsoft.com/office/powerpoint/2010/main" val="32578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06375" y="104140"/>
            <a:ext cx="11604625" cy="6554470"/>
          </a:xfrm>
          <a:prstGeom prst="rect">
            <a:avLst/>
          </a:prstGeom>
          <a:noFill/>
        </p:spPr>
        <p:txBody>
          <a:bodyPr wrap="square" rtlCol="0">
            <a:spAutoFit/>
          </a:bodyPr>
          <a:lstStyle/>
          <a:p>
            <a:r>
              <a:rPr lang="en-US" sz="2800" b="1" dirty="0"/>
              <a:t>10.</a:t>
            </a:r>
            <a:r>
              <a:rPr sz="2800" b="1" dirty="0"/>
              <a:t>阅读下面的材料，根据要求写一篇不少于800字的文章。（60分）</a:t>
            </a:r>
          </a:p>
          <a:p>
            <a:r>
              <a:rPr sz="2800" b="1" dirty="0"/>
              <a:t>       小王出生在一个大家族。每逢节假日，长辈们都会召集家族成员聚会，而小王对此不感兴趣，经常借故缺席。长辈们很不高兴，小王也很苦恼。如今，有不少家族都面临类似的情况，当地晚报“百姓家事”栏目就此展开了热烈的讨论。</a:t>
            </a:r>
          </a:p>
          <a:p>
            <a:r>
              <a:rPr sz="2800" b="1" dirty="0"/>
              <a:t>        对于以上事情，你怎么看？请给小王或小王的父母写一封信，或向“百姓家事”栏目投稿，表明你的态度，阐述你的看法。要求综合材料内容及含意，选好角度，确定立意，完成写作任务。若写信，统一以“一平”为写信人，不得泄露个人信息。若投稿，请自拟标题。</a:t>
            </a:r>
          </a:p>
          <a:p>
            <a:r>
              <a:rPr sz="2800" b="1" dirty="0"/>
              <a:t>       </a:t>
            </a:r>
            <a:r>
              <a:rPr sz="2800" b="1" dirty="0" err="1">
                <a:solidFill>
                  <a:srgbClr val="7030A0"/>
                </a:solidFill>
              </a:rPr>
              <a:t>下列议论文标题中，最不合适的两项是</a:t>
            </a:r>
            <a:r>
              <a:rPr sz="2800" b="1" dirty="0">
                <a:solidFill>
                  <a:srgbClr val="7030A0"/>
                </a:solidFill>
              </a:rPr>
              <a:t>（    ）</a:t>
            </a:r>
          </a:p>
          <a:p>
            <a:r>
              <a:rPr sz="2800" b="1" dirty="0">
                <a:solidFill>
                  <a:srgbClr val="7030A0"/>
                </a:solidFill>
              </a:rPr>
              <a:t>        A. </a:t>
            </a:r>
            <a:r>
              <a:rPr sz="2800" b="1" dirty="0" err="1">
                <a:solidFill>
                  <a:srgbClr val="7030A0"/>
                </a:solidFill>
              </a:rPr>
              <a:t>百善孝为先</a:t>
            </a:r>
            <a:r>
              <a:rPr sz="2800" b="1" dirty="0">
                <a:solidFill>
                  <a:srgbClr val="7030A0"/>
                </a:solidFill>
              </a:rPr>
              <a:t>            </a:t>
            </a:r>
          </a:p>
          <a:p>
            <a:r>
              <a:rPr sz="2800" b="1" dirty="0">
                <a:solidFill>
                  <a:srgbClr val="7030A0"/>
                </a:solidFill>
              </a:rPr>
              <a:t>        B. </a:t>
            </a:r>
            <a:r>
              <a:rPr sz="2800" b="1" dirty="0" err="1">
                <a:solidFill>
                  <a:srgbClr val="7030A0"/>
                </a:solidFill>
              </a:rPr>
              <a:t>与时俱进，团聚有方</a:t>
            </a:r>
            <a:r>
              <a:rPr sz="2800" b="1" dirty="0">
                <a:solidFill>
                  <a:srgbClr val="7030A0"/>
                </a:solidFill>
              </a:rPr>
              <a:t>    </a:t>
            </a:r>
          </a:p>
          <a:p>
            <a:r>
              <a:rPr sz="2800" b="1" dirty="0">
                <a:solidFill>
                  <a:srgbClr val="7030A0"/>
                </a:solidFill>
              </a:rPr>
              <a:t>        C. </a:t>
            </a:r>
            <a:r>
              <a:rPr sz="2800" b="1" dirty="0" err="1">
                <a:solidFill>
                  <a:srgbClr val="7030A0"/>
                </a:solidFill>
              </a:rPr>
              <a:t>家族聚会呼唤年轻人的参与</a:t>
            </a:r>
            <a:r>
              <a:rPr sz="2800" b="1" dirty="0">
                <a:solidFill>
                  <a:srgbClr val="7030A0"/>
                </a:solidFill>
              </a:rPr>
              <a:t>          </a:t>
            </a:r>
          </a:p>
          <a:p>
            <a:r>
              <a:rPr sz="2800" b="1" dirty="0">
                <a:solidFill>
                  <a:srgbClr val="7030A0"/>
                </a:solidFill>
              </a:rPr>
              <a:t>        D. </a:t>
            </a:r>
            <a:r>
              <a:rPr sz="2800" b="1" dirty="0" err="1">
                <a:solidFill>
                  <a:srgbClr val="7030A0"/>
                </a:solidFill>
              </a:rPr>
              <a:t>树高千丈，叶落归根</a:t>
            </a:r>
            <a:r>
              <a:rPr sz="2800" b="1" dirty="0">
                <a:solidFill>
                  <a:srgbClr val="7030A0"/>
                </a:solidFill>
              </a:rPr>
              <a:t>    </a:t>
            </a:r>
          </a:p>
          <a:p>
            <a:r>
              <a:rPr sz="2800" b="1" dirty="0">
                <a:solidFill>
                  <a:srgbClr val="7030A0"/>
                </a:solidFill>
              </a:rPr>
              <a:t>        E. </a:t>
            </a:r>
            <a:r>
              <a:rPr sz="2800" b="1" dirty="0" err="1">
                <a:solidFill>
                  <a:srgbClr val="7030A0"/>
                </a:solidFill>
              </a:rPr>
              <a:t>兴趣诚可贵，亲情价更高</a:t>
            </a:r>
            <a:endParaRPr sz="2800" b="1" dirty="0">
              <a:solidFill>
                <a:srgbClr val="7030A0"/>
              </a:solidFill>
            </a:endParaRPr>
          </a:p>
        </p:txBody>
      </p:sp>
      <p:sp>
        <p:nvSpPr>
          <p:cNvPr id="53252" name="矩形 378883"/>
          <p:cNvSpPr/>
          <p:nvPr/>
        </p:nvSpPr>
        <p:spPr>
          <a:xfrm>
            <a:off x="10274935" y="416242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76358" y="1582341"/>
            <a:ext cx="11963086" cy="3785652"/>
          </a:xfrm>
          <a:prstGeom prst="rect">
            <a:avLst/>
          </a:prstGeom>
        </p:spPr>
        <p:txBody>
          <a:bodyPr wrap="square">
            <a:spAutoFit/>
          </a:bodyPr>
          <a:lstStyle/>
          <a:p>
            <a:r>
              <a:rPr lang="zh-CN" altLang="en-US" sz="2400" dirty="0" smtClean="0"/>
              <a:t>材料</a:t>
            </a:r>
            <a:r>
              <a:rPr lang="zh-CN" altLang="en-US" sz="2400" dirty="0"/>
              <a:t>中</a:t>
            </a:r>
            <a:r>
              <a:rPr lang="zh-CN" altLang="en-US" sz="2400" dirty="0" smtClean="0"/>
              <a:t>围绕家族</a:t>
            </a:r>
            <a:r>
              <a:rPr lang="zh-CN" altLang="en-US" sz="2400" dirty="0"/>
              <a:t>聚会是该去还是不去</a:t>
            </a:r>
            <a:r>
              <a:rPr lang="zh-CN" altLang="en-US" sz="2400" dirty="0" smtClean="0"/>
              <a:t>展开。不</a:t>
            </a:r>
            <a:r>
              <a:rPr lang="zh-CN" altLang="en-US" sz="2400" dirty="0"/>
              <a:t>去的话，长辈不高兴，去的话，年轻人也很</a:t>
            </a:r>
            <a:r>
              <a:rPr lang="zh-CN" altLang="en-US" sz="2400" dirty="0" smtClean="0"/>
              <a:t>苦恼。本</a:t>
            </a:r>
            <a:r>
              <a:rPr lang="zh-CN" altLang="en-US" sz="2400" dirty="0"/>
              <a:t>次写作要求综合材料内容及含意</a:t>
            </a:r>
            <a:r>
              <a:rPr lang="zh-CN" altLang="en-US" sz="2400" dirty="0" smtClean="0"/>
              <a:t>作文。长辈</a:t>
            </a:r>
            <a:r>
              <a:rPr lang="zh-CN" altLang="en-US" sz="2400" dirty="0"/>
              <a:t>爱热闹，喜欢一大家子人在一起的感觉，而年轻人去应酬感觉很麻烦，还不如去做点实际的</a:t>
            </a:r>
            <a:r>
              <a:rPr lang="zh-CN" altLang="en-US" sz="2400" dirty="0" smtClean="0"/>
              <a:t>事。写作</a:t>
            </a:r>
            <a:r>
              <a:rPr lang="zh-CN" altLang="en-US" sz="2400" dirty="0"/>
              <a:t>重点放在理解家族观念和管理方式</a:t>
            </a:r>
            <a:r>
              <a:rPr lang="zh-CN" altLang="en-US" sz="2400" dirty="0" smtClean="0"/>
              <a:t>上。喜欢</a:t>
            </a:r>
            <a:r>
              <a:rPr lang="zh-CN" altLang="en-US" sz="2400" dirty="0"/>
              <a:t>或不喜欢家族聚会都</a:t>
            </a:r>
            <a:r>
              <a:rPr lang="zh-CN" altLang="en-US" sz="2400" dirty="0" smtClean="0"/>
              <a:t>行。容易</a:t>
            </a:r>
            <a:r>
              <a:rPr lang="zh-CN" altLang="en-US" sz="2400" dirty="0"/>
              <a:t>写议论文，只要观点鲜明，有理有据即</a:t>
            </a:r>
            <a:r>
              <a:rPr lang="zh-CN" altLang="en-US" sz="2400" dirty="0" smtClean="0"/>
              <a:t>可。</a:t>
            </a:r>
            <a:endParaRPr lang="zh-CN" altLang="en-US" sz="2400" dirty="0"/>
          </a:p>
          <a:p>
            <a:r>
              <a:rPr lang="zh-CN" altLang="en-US" sz="2400" dirty="0"/>
              <a:t>参考立意：</a:t>
            </a:r>
          </a:p>
          <a:p>
            <a:r>
              <a:rPr lang="en-US" altLang="zh-CN" sz="2400" dirty="0"/>
              <a:t>A</a:t>
            </a:r>
            <a:r>
              <a:rPr lang="zh-CN" altLang="en-US" sz="2400" dirty="0"/>
              <a:t>、兴趣诚可贵，亲情价更高；</a:t>
            </a:r>
          </a:p>
          <a:p>
            <a:r>
              <a:rPr lang="en-US" altLang="zh-CN" sz="2400" dirty="0"/>
              <a:t>B</a:t>
            </a:r>
            <a:r>
              <a:rPr lang="zh-CN" altLang="en-US" sz="2400" dirty="0"/>
              <a:t>、与时俱进，团聚有方；</a:t>
            </a:r>
          </a:p>
          <a:p>
            <a:r>
              <a:rPr lang="en-US" altLang="zh-CN" sz="2400" dirty="0"/>
              <a:t>C</a:t>
            </a:r>
            <a:r>
              <a:rPr lang="zh-CN" altLang="en-US" sz="2400" dirty="0"/>
              <a:t>、家族聚会呼唤年轻人的参与、家国情怀源于家族情怀</a:t>
            </a:r>
            <a:r>
              <a:rPr lang="zh-CN" altLang="en-US" sz="2400" dirty="0" smtClean="0"/>
              <a:t>．</a:t>
            </a:r>
            <a:endParaRPr lang="zh-CN" altLang="en-US" sz="2400" dirty="0"/>
          </a:p>
          <a:p>
            <a:r>
              <a:rPr lang="en-US" altLang="zh-CN" sz="2400" dirty="0" smtClean="0"/>
              <a:t>D</a:t>
            </a:r>
            <a:r>
              <a:rPr lang="zh-CN" altLang="en-US" sz="2400" dirty="0" smtClean="0"/>
              <a:t>、解答 </a:t>
            </a:r>
            <a:r>
              <a:rPr lang="zh-CN" altLang="en-US" sz="2400" dirty="0"/>
              <a:t>团聚</a:t>
            </a:r>
            <a:r>
              <a:rPr lang="en-US" altLang="zh-CN" sz="2400" dirty="0"/>
              <a:t>•</a:t>
            </a:r>
            <a:r>
              <a:rPr lang="zh-CN" altLang="en-US" sz="2400" dirty="0"/>
              <a:t>亲情</a:t>
            </a:r>
            <a:r>
              <a:rPr lang="en-US" altLang="zh-CN" sz="2400" dirty="0"/>
              <a:t>•</a:t>
            </a:r>
            <a:r>
              <a:rPr lang="zh-CN" altLang="en-US" sz="2400" dirty="0"/>
              <a:t>文化</a:t>
            </a:r>
          </a:p>
        </p:txBody>
      </p:sp>
    </p:spTree>
    <p:extLst>
      <p:ext uri="{BB962C8B-B14F-4D97-AF65-F5344CB8AC3E}">
        <p14:creationId xmlns:p14="http://schemas.microsoft.com/office/powerpoint/2010/main" val="34091343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06375" y="104140"/>
            <a:ext cx="11764645" cy="6554470"/>
          </a:xfrm>
          <a:prstGeom prst="rect">
            <a:avLst/>
          </a:prstGeom>
          <a:noFill/>
        </p:spPr>
        <p:txBody>
          <a:bodyPr wrap="square" rtlCol="0">
            <a:spAutoFit/>
          </a:bodyPr>
          <a:lstStyle/>
          <a:p>
            <a:r>
              <a:rPr lang="en-US" sz="2800" b="1" dirty="0"/>
              <a:t>11. </a:t>
            </a:r>
            <a:r>
              <a:rPr sz="2800" b="1" dirty="0"/>
              <a:t>阅读下面的材料，根据要求写一篇不少于800字的文章。（60分）</a:t>
            </a:r>
          </a:p>
          <a:p>
            <a:r>
              <a:rPr sz="2800" b="1" dirty="0"/>
              <a:t>       某企业举办创意设计大赛，大学生小云经过反复酝酿，确定了创意主题和设计方案，并邀请小宏、小腾两位同学参与相关事务。最终，小云领衔设计的参赛作品荣获了特等奖，获得3万元高额奖金。</a:t>
            </a:r>
          </a:p>
          <a:p>
            <a:r>
              <a:rPr sz="2800" b="1" dirty="0"/>
              <a:t>       某报记者就奖金分配问题采访了他们。小云认为荣誉是三人集体合作的结果，表示要一起协商，合理分配奖金；小宏已决定把自己的那部分奖金让给小腾，帮助小腾缓解家庭的经济压力；而小腾则建议大家把奖金都拿出来，设立创新驱动基金，以便鼓励更多同学参与创新活动。</a:t>
            </a:r>
          </a:p>
          <a:p>
            <a:r>
              <a:rPr sz="2800" b="1" dirty="0"/>
              <a:t>       </a:t>
            </a:r>
            <a:r>
              <a:rPr sz="2800" b="1" dirty="0" err="1"/>
              <a:t>对于三人的不同想法，如果你是老师、企业家或家长，你倾向于哪一种？请综合材料内容及含意作文，体现你的思考与选择</a:t>
            </a:r>
            <a:r>
              <a:rPr sz="2800" b="1" dirty="0"/>
              <a:t>。</a:t>
            </a:r>
          </a:p>
          <a:p>
            <a:r>
              <a:rPr sz="2800" b="1" dirty="0"/>
              <a:t>       </a:t>
            </a:r>
            <a:r>
              <a:rPr sz="2800" b="1" dirty="0" err="1"/>
              <a:t>要求选好角度，确定立意，明确文体，自拟标题；不要套作</a:t>
            </a:r>
            <a:r>
              <a:rPr lang="en-US" altLang="zh-CN" sz="2800" b="1" dirty="0"/>
              <a:t>	</a:t>
            </a:r>
            <a:r>
              <a:rPr lang="zh-CN" altLang="en-US" sz="2800" b="1" dirty="0"/>
              <a:t>、</a:t>
            </a:r>
            <a:r>
              <a:rPr sz="2800" b="1" dirty="0" err="1"/>
              <a:t>抄袭</a:t>
            </a:r>
            <a:r>
              <a:rPr sz="2800" b="1" dirty="0"/>
              <a:t>。</a:t>
            </a:r>
          </a:p>
          <a:p>
            <a:r>
              <a:rPr sz="2800" b="1" dirty="0"/>
              <a:t>       </a:t>
            </a:r>
            <a:r>
              <a:rPr sz="2800" b="1" dirty="0" err="1">
                <a:solidFill>
                  <a:srgbClr val="7030A0"/>
                </a:solidFill>
              </a:rPr>
              <a:t>下列议论文标题中，最不合适的两项是</a:t>
            </a:r>
            <a:r>
              <a:rPr sz="2800" b="1" dirty="0">
                <a:solidFill>
                  <a:srgbClr val="7030A0"/>
                </a:solidFill>
              </a:rPr>
              <a:t>（    ）</a:t>
            </a:r>
          </a:p>
          <a:p>
            <a:r>
              <a:rPr sz="2800" b="1" dirty="0">
                <a:solidFill>
                  <a:srgbClr val="7030A0"/>
                </a:solidFill>
              </a:rPr>
              <a:t>        A. </a:t>
            </a:r>
            <a:r>
              <a:rPr lang="zh-CN" sz="2800" b="1" dirty="0">
                <a:solidFill>
                  <a:srgbClr val="7030A0"/>
                </a:solidFill>
              </a:rPr>
              <a:t>心底无私</a:t>
            </a:r>
            <a:r>
              <a:rPr sz="2800" b="1" dirty="0">
                <a:solidFill>
                  <a:srgbClr val="7030A0"/>
                </a:solidFill>
              </a:rPr>
              <a:t>，</a:t>
            </a:r>
            <a:r>
              <a:rPr lang="zh-CN" sz="2800" b="1" dirty="0">
                <a:solidFill>
                  <a:srgbClr val="7030A0"/>
                </a:solidFill>
              </a:rPr>
              <a:t>不慕虚名</a:t>
            </a:r>
            <a:r>
              <a:rPr sz="2800" b="1" dirty="0">
                <a:solidFill>
                  <a:srgbClr val="7030A0"/>
                </a:solidFill>
              </a:rPr>
              <a:t>                         B. </a:t>
            </a:r>
            <a:r>
              <a:rPr lang="zh-CN" sz="2800" b="1" dirty="0">
                <a:solidFill>
                  <a:srgbClr val="7030A0"/>
                </a:solidFill>
              </a:rPr>
              <a:t>心有善念</a:t>
            </a:r>
            <a:r>
              <a:rPr sz="2800" b="1" dirty="0">
                <a:solidFill>
                  <a:srgbClr val="7030A0"/>
                </a:solidFill>
              </a:rPr>
              <a:t>，</a:t>
            </a:r>
            <a:r>
              <a:rPr sz="2800" b="1" dirty="0" err="1">
                <a:solidFill>
                  <a:srgbClr val="7030A0"/>
                </a:solidFill>
              </a:rPr>
              <a:t>彰显</a:t>
            </a:r>
            <a:r>
              <a:rPr lang="zh-CN" sz="2800" b="1" dirty="0">
                <a:solidFill>
                  <a:srgbClr val="7030A0"/>
                </a:solidFill>
              </a:rPr>
              <a:t>友</a:t>
            </a:r>
            <a:r>
              <a:rPr sz="2800" b="1" dirty="0">
                <a:solidFill>
                  <a:srgbClr val="7030A0"/>
                </a:solidFill>
              </a:rPr>
              <a:t>爱    </a:t>
            </a:r>
          </a:p>
          <a:p>
            <a:r>
              <a:rPr sz="2800" b="1" dirty="0">
                <a:solidFill>
                  <a:srgbClr val="7030A0"/>
                </a:solidFill>
              </a:rPr>
              <a:t>        C. </a:t>
            </a:r>
            <a:r>
              <a:rPr sz="2800" b="1" dirty="0" err="1">
                <a:solidFill>
                  <a:srgbClr val="7030A0"/>
                </a:solidFill>
              </a:rPr>
              <a:t>合理分配，让创新走得更远</a:t>
            </a:r>
            <a:r>
              <a:rPr sz="2800" b="1" dirty="0">
                <a:solidFill>
                  <a:srgbClr val="7030A0"/>
                </a:solidFill>
              </a:rPr>
              <a:t>              D. </a:t>
            </a:r>
            <a:r>
              <a:rPr lang="zh-CN" sz="2800" b="1" dirty="0">
                <a:solidFill>
                  <a:srgbClr val="7030A0"/>
                </a:solidFill>
              </a:rPr>
              <a:t>比奖金更重要的</a:t>
            </a:r>
            <a:r>
              <a:rPr lang="en-US" altLang="zh-CN" sz="2800" b="1" dirty="0">
                <a:solidFill>
                  <a:srgbClr val="7030A0"/>
                </a:solidFill>
              </a:rPr>
              <a:t>……</a:t>
            </a:r>
            <a:r>
              <a:rPr sz="2800" b="1" dirty="0">
                <a:solidFill>
                  <a:srgbClr val="7030A0"/>
                </a:solidFill>
              </a:rPr>
              <a:t>      </a:t>
            </a:r>
          </a:p>
          <a:p>
            <a:r>
              <a:rPr sz="2800" b="1" dirty="0">
                <a:solidFill>
                  <a:srgbClr val="7030A0"/>
                </a:solidFill>
              </a:rPr>
              <a:t>        E. </a:t>
            </a:r>
            <a:r>
              <a:rPr sz="2800" b="1" dirty="0" err="1">
                <a:solidFill>
                  <a:srgbClr val="7030A0"/>
                </a:solidFill>
              </a:rPr>
              <a:t>创新引领时代</a:t>
            </a:r>
            <a:r>
              <a:rPr sz="2800" b="1" dirty="0">
                <a:solidFill>
                  <a:srgbClr val="7030A0"/>
                </a:solidFill>
              </a:rPr>
              <a:t>，</a:t>
            </a:r>
            <a:r>
              <a:rPr lang="zh-CN" sz="2800" b="1" dirty="0">
                <a:solidFill>
                  <a:srgbClr val="7030A0"/>
                </a:solidFill>
              </a:rPr>
              <a:t>奖励</a:t>
            </a:r>
            <a:r>
              <a:rPr sz="2800" b="1" dirty="0" err="1">
                <a:solidFill>
                  <a:srgbClr val="7030A0"/>
                </a:solidFill>
              </a:rPr>
              <a:t>务必公平</a:t>
            </a:r>
            <a:endParaRPr sz="2800" b="1" dirty="0">
              <a:solidFill>
                <a:srgbClr val="7030A0"/>
              </a:solidFill>
            </a:endParaRP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5940088"/>
          </a:xfrm>
          <a:prstGeom prst="rect">
            <a:avLst/>
          </a:prstGeom>
        </p:spPr>
        <p:txBody>
          <a:bodyPr wrap="square">
            <a:spAutoFit/>
          </a:bodyPr>
          <a:lstStyle/>
          <a:p>
            <a:r>
              <a:rPr lang="en-US" altLang="zh-CN" sz="2000" dirty="0">
                <a:solidFill>
                  <a:srgbClr val="111111"/>
                </a:solidFill>
                <a:latin typeface="simsun" panose="02010600030101010101" pitchFamily="2" charset="-122"/>
                <a:ea typeface="simsun" panose="02010600030101010101" pitchFamily="2" charset="-122"/>
              </a:rPr>
              <a:t>1</a:t>
            </a:r>
            <a:r>
              <a:rPr lang="zh-CN" altLang="en-US" sz="2000" dirty="0">
                <a:solidFill>
                  <a:srgbClr val="111111"/>
                </a:solidFill>
                <a:latin typeface="simsun" panose="02010600030101010101" pitchFamily="2" charset="-122"/>
                <a:ea typeface="simsun" panose="02010600030101010101" pitchFamily="2" charset="-122"/>
              </a:rPr>
              <a:t>．小云的想法：小云认为荣誉是三人集体合作的结果，表示要一起协商，合理分配奖金．考生如果认同小云的方案，即“合理分配奖金”．这句话包含以下几层意思：一是所谓的“合理分配”是在三人内部合理分配；二是“合理分配”的基础是“集体成果”；三是“合理分配”并非平均分配，而是根据贡献大小进行公平分配，这也是“公正”的内在要求．考生选择了这个点，应该在“集体协作”“团队精神”等方面进行原因分析．</a:t>
            </a:r>
            <a:r>
              <a:rPr lang="zh-CN" altLang="en-US" sz="2000" dirty="0"/>
              <a:t/>
            </a:r>
            <a:br>
              <a:rPr lang="zh-CN" altLang="en-US" sz="2000" dirty="0"/>
            </a:br>
            <a:r>
              <a:rPr lang="en-US" altLang="zh-CN" sz="2000" dirty="0">
                <a:solidFill>
                  <a:srgbClr val="111111"/>
                </a:solidFill>
                <a:latin typeface="simsun" panose="02010600030101010101" pitchFamily="2" charset="-122"/>
                <a:ea typeface="simsun" panose="02010600030101010101" pitchFamily="2" charset="-122"/>
              </a:rPr>
              <a:t>2</a:t>
            </a:r>
            <a:r>
              <a:rPr lang="zh-CN" altLang="en-US" sz="2000" dirty="0">
                <a:solidFill>
                  <a:srgbClr val="111111"/>
                </a:solidFill>
                <a:latin typeface="simsun" panose="02010600030101010101" pitchFamily="2" charset="-122"/>
                <a:ea typeface="simsun" panose="02010600030101010101" pitchFamily="2" charset="-122"/>
              </a:rPr>
              <a:t>．小宏的想法：小宏已决定把自己的那部分奖金让给小腾，帮助小腾缓解家庭的经济压力．这是一种人性温暖的折射．值得注意的是，小宏仅仅是把“自己的那部分奖金”让给小腾，从原则上讲，他并没有支配他人奖金的权利．如果考生选择了这个点，那就应该在“友善”“帮助”“爱心”这个原因上进行阐发．</a:t>
            </a:r>
            <a:r>
              <a:rPr lang="zh-CN" altLang="en-US" sz="2000" dirty="0"/>
              <a:t/>
            </a:r>
            <a:br>
              <a:rPr lang="zh-CN" altLang="en-US" sz="2000" dirty="0"/>
            </a:br>
            <a:r>
              <a:rPr lang="en-US" altLang="zh-CN" sz="2000" dirty="0">
                <a:solidFill>
                  <a:srgbClr val="111111"/>
                </a:solidFill>
                <a:latin typeface="simsun" panose="02010600030101010101" pitchFamily="2" charset="-122"/>
                <a:ea typeface="simsun" panose="02010600030101010101" pitchFamily="2" charset="-122"/>
              </a:rPr>
              <a:t>3</a:t>
            </a:r>
            <a:r>
              <a:rPr lang="zh-CN" altLang="en-US" sz="2000" dirty="0">
                <a:solidFill>
                  <a:srgbClr val="111111"/>
                </a:solidFill>
                <a:latin typeface="simsun" panose="02010600030101010101" pitchFamily="2" charset="-122"/>
                <a:ea typeface="simsun" panose="02010600030101010101" pitchFamily="2" charset="-122"/>
              </a:rPr>
              <a:t>．小腾的想法：小腾建议大家把奖金都拿出来，设立创新驱动基金，以便鼓励更多同学参与创新活动．应该说，从社会意义上讲，小腾的方案更有价值．如果考生选择了这个点，那就应该在“鼓励创新”这个原因上进行阐发．</a:t>
            </a:r>
            <a:r>
              <a:rPr lang="zh-CN" altLang="en-US" sz="2000" dirty="0"/>
              <a:t/>
            </a:r>
            <a:br>
              <a:rPr lang="zh-CN" altLang="en-US" sz="2000" dirty="0"/>
            </a:br>
            <a:r>
              <a:rPr lang="en-US" altLang="zh-CN" sz="2000" dirty="0">
                <a:solidFill>
                  <a:srgbClr val="111111"/>
                </a:solidFill>
                <a:latin typeface="simsun" panose="02010600030101010101" pitchFamily="2" charset="-122"/>
                <a:ea typeface="simsun" panose="02010600030101010101" pitchFamily="2" charset="-122"/>
              </a:rPr>
              <a:t>4</a:t>
            </a:r>
            <a:r>
              <a:rPr lang="zh-CN" altLang="en-US" sz="2000" dirty="0">
                <a:solidFill>
                  <a:srgbClr val="111111"/>
                </a:solidFill>
                <a:latin typeface="simsun" panose="02010600030101010101" pitchFamily="2" charset="-122"/>
                <a:ea typeface="simsun" panose="02010600030101010101" pitchFamily="2" charset="-122"/>
              </a:rPr>
              <a:t>．“综合材料内容及含意”：要求考生全面理解材料，把握写作核心对象．本材料的核心对象是“三人的不同想法”，</a:t>
            </a:r>
            <a:r>
              <a:rPr lang="zh-CN" altLang="en-US" sz="2000" dirty="0">
                <a:solidFill>
                  <a:srgbClr val="FF0000"/>
                </a:solidFill>
                <a:latin typeface="simsun" panose="02010600030101010101" pitchFamily="2" charset="-122"/>
                <a:ea typeface="simsun" panose="02010600030101010101" pitchFamily="2" charset="-122"/>
              </a:rPr>
              <a:t>所谓的“不同想法”，是“奖金分配问题”方面的不同想法．也就是说，核心话题是“奖金分配方案”，而集体协作、团队精神、友善、创新是“奖金分配方案”的原因层面的东西．如果考生不能就事（“分配”）来论述，只谈创新或协作，那就算是偏离题意了．</a:t>
            </a:r>
            <a:r>
              <a:rPr lang="zh-CN" altLang="en-US" sz="2000" dirty="0">
                <a:solidFill>
                  <a:srgbClr val="FF0000"/>
                </a:solidFill>
              </a:rPr>
              <a:t/>
            </a:r>
            <a:br>
              <a:rPr lang="zh-CN" altLang="en-US" sz="2000" dirty="0">
                <a:solidFill>
                  <a:srgbClr val="FF0000"/>
                </a:solidFill>
              </a:rPr>
            </a:br>
            <a:r>
              <a:rPr lang="en-US" altLang="zh-CN" sz="2000" dirty="0">
                <a:solidFill>
                  <a:srgbClr val="111111"/>
                </a:solidFill>
                <a:latin typeface="simsun" panose="02010600030101010101" pitchFamily="2" charset="-122"/>
                <a:ea typeface="simsun" panose="02010600030101010101" pitchFamily="2" charset="-122"/>
              </a:rPr>
              <a:t>5</a:t>
            </a:r>
            <a:r>
              <a:rPr lang="zh-CN" altLang="en-US" sz="2000" dirty="0">
                <a:solidFill>
                  <a:srgbClr val="111111"/>
                </a:solidFill>
                <a:latin typeface="simsun" panose="02010600030101010101" pitchFamily="2" charset="-122"/>
                <a:ea typeface="simsun" panose="02010600030101010101" pitchFamily="2" charset="-122"/>
              </a:rPr>
              <a:t>．身份驱动．不同的身份，代表着不同的视角，也代表着不同论证角度，狼卷提供了三个身份选择，就是驱动学生转换角色，懂得换一种眼光看问题，这就大大削弱了“泛泛而谈”“宿构套作”的可能性，考生必须结合具体身份来思辨和论述．如果不能确定自己的身份（老师、企业家或家长），只是泛泛而谈，也属于偏离题意．</a:t>
            </a:r>
            <a:endParaRPr lang="zh-CN" altLang="en-US" sz="2000" dirty="0"/>
          </a:p>
        </p:txBody>
      </p:sp>
    </p:spTree>
    <p:extLst>
      <p:ext uri="{BB962C8B-B14F-4D97-AF65-F5344CB8AC3E}">
        <p14:creationId xmlns:p14="http://schemas.microsoft.com/office/powerpoint/2010/main" val="16047052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06375" y="104140"/>
            <a:ext cx="11764645" cy="6554470"/>
          </a:xfrm>
          <a:prstGeom prst="rect">
            <a:avLst/>
          </a:prstGeom>
          <a:noFill/>
        </p:spPr>
        <p:txBody>
          <a:bodyPr wrap="square" rtlCol="0">
            <a:spAutoFit/>
          </a:bodyPr>
          <a:lstStyle/>
          <a:p>
            <a:r>
              <a:rPr lang="en-US" sz="2800" b="1" dirty="0"/>
              <a:t>12. 阅读下面的材料，根据要求写一篇不少于800字的文章。（60分）</a:t>
            </a:r>
          </a:p>
          <a:p>
            <a:r>
              <a:rPr lang="en-US" sz="2800" b="1" dirty="0">
                <a:solidFill>
                  <a:srgbClr val="7030A0"/>
                </a:solidFill>
              </a:rPr>
              <a:t>       </a:t>
            </a:r>
            <a:r>
              <a:rPr lang="en-US" sz="2800" b="1" dirty="0">
                <a:solidFill>
                  <a:schemeClr val="tx2"/>
                </a:solidFill>
              </a:rPr>
              <a:t>近些年的春节，全国各地一些县级城市出台了禁止春节期间燃放烟花爆竹的相关规定，违规燃放的家庭及单位要被处以罚金。此事引起社会极大反响，反对者说，不能借单个的安全与局部的卫生状况来消减中国传统文化元素，而赞成者说，</a:t>
            </a:r>
            <a:r>
              <a:rPr lang="zh-CN" altLang="en-US" sz="2800" b="1" dirty="0">
                <a:solidFill>
                  <a:schemeClr val="tx2"/>
                </a:solidFill>
              </a:rPr>
              <a:t>对</a:t>
            </a:r>
            <a:r>
              <a:rPr lang="en-US" sz="2800" b="1" dirty="0" err="1">
                <a:solidFill>
                  <a:schemeClr val="tx2"/>
                </a:solidFill>
              </a:rPr>
              <a:t>传统文化的坚守</a:t>
            </a:r>
            <a:r>
              <a:rPr lang="zh-CN" altLang="en-US" sz="2800" b="1" dirty="0">
                <a:solidFill>
                  <a:schemeClr val="tx2"/>
                </a:solidFill>
              </a:rPr>
              <a:t>，</a:t>
            </a:r>
            <a:r>
              <a:rPr lang="en-US" sz="2800" b="1" dirty="0" err="1">
                <a:solidFill>
                  <a:schemeClr val="tx2"/>
                </a:solidFill>
              </a:rPr>
              <a:t>亦应与时俱进</a:t>
            </a:r>
            <a:r>
              <a:rPr lang="zh-CN" altLang="en-US" sz="2800" b="1" dirty="0">
                <a:solidFill>
                  <a:schemeClr val="tx2"/>
                </a:solidFill>
              </a:rPr>
              <a:t>，重做考量</a:t>
            </a:r>
            <a:r>
              <a:rPr lang="en-US" sz="2800" b="1" dirty="0">
                <a:solidFill>
                  <a:schemeClr val="tx2"/>
                </a:solidFill>
              </a:rPr>
              <a:t>。</a:t>
            </a:r>
          </a:p>
          <a:p>
            <a:r>
              <a:rPr lang="en-US" sz="2800" b="1" dirty="0">
                <a:solidFill>
                  <a:schemeClr val="tx2"/>
                </a:solidFill>
              </a:rPr>
              <a:t>        对于以上事情，你怎么看？请综合材料内容及含义作文，回答你的选择并体现你的思考。要求选好角度，确定立意，明确文体，自拟标题，不要套作，不得抄袭。</a:t>
            </a:r>
          </a:p>
          <a:p>
            <a:endParaRPr lang="en-US" sz="2800" b="1" dirty="0">
              <a:solidFill>
                <a:schemeClr val="tx2"/>
              </a:solidFill>
            </a:endParaRPr>
          </a:p>
          <a:p>
            <a:r>
              <a:rPr lang="en-US" sz="2800" b="1" dirty="0">
                <a:solidFill>
                  <a:srgbClr val="7030A0"/>
                </a:solidFill>
              </a:rPr>
              <a:t>       </a:t>
            </a:r>
            <a:r>
              <a:rPr lang="en-US" sz="2800" b="1" dirty="0" err="1">
                <a:solidFill>
                  <a:srgbClr val="7030A0"/>
                </a:solidFill>
              </a:rPr>
              <a:t>下列议论文标题中，最</a:t>
            </a:r>
            <a:r>
              <a:rPr lang="zh-CN" altLang="en-US" sz="2800" b="1" dirty="0">
                <a:solidFill>
                  <a:srgbClr val="7030A0"/>
                </a:solidFill>
              </a:rPr>
              <a:t>不</a:t>
            </a:r>
            <a:r>
              <a:rPr lang="en-US" sz="2800" b="1" dirty="0" err="1">
                <a:solidFill>
                  <a:srgbClr val="7030A0"/>
                </a:solidFill>
              </a:rPr>
              <a:t>合适的两项是</a:t>
            </a:r>
            <a:r>
              <a:rPr lang="en-US" sz="2800" b="1" dirty="0">
                <a:solidFill>
                  <a:srgbClr val="7030A0"/>
                </a:solidFill>
              </a:rPr>
              <a:t>（   ）</a:t>
            </a:r>
          </a:p>
          <a:p>
            <a:r>
              <a:rPr lang="en-US" sz="2800" b="1" dirty="0">
                <a:solidFill>
                  <a:srgbClr val="7030A0"/>
                </a:solidFill>
              </a:rPr>
              <a:t>       A. </a:t>
            </a:r>
            <a:r>
              <a:rPr lang="zh-CN" altLang="en-US" sz="2800" b="1" dirty="0">
                <a:solidFill>
                  <a:srgbClr val="7030A0"/>
                </a:solidFill>
              </a:rPr>
              <a:t>春节</a:t>
            </a:r>
            <a:r>
              <a:rPr lang="en-US" altLang="zh-CN" sz="2800" b="1" dirty="0">
                <a:solidFill>
                  <a:srgbClr val="7030A0"/>
                </a:solidFill>
              </a:rPr>
              <a:t>“</a:t>
            </a:r>
            <a:r>
              <a:rPr lang="zh-CN" altLang="en-US" sz="2800" b="1" dirty="0">
                <a:solidFill>
                  <a:srgbClr val="7030A0"/>
                </a:solidFill>
              </a:rPr>
              <a:t>禁燃</a:t>
            </a:r>
            <a:r>
              <a:rPr lang="en-US" altLang="zh-CN" sz="2800" b="1" dirty="0">
                <a:solidFill>
                  <a:srgbClr val="7030A0"/>
                </a:solidFill>
              </a:rPr>
              <a:t>”</a:t>
            </a:r>
            <a:r>
              <a:rPr lang="zh-CN" altLang="en-US" sz="2800" b="1" dirty="0">
                <a:solidFill>
                  <a:srgbClr val="7030A0"/>
                </a:solidFill>
              </a:rPr>
              <a:t>，岂可一罚了之？</a:t>
            </a:r>
            <a:r>
              <a:rPr lang="en-US" sz="2800" b="1" dirty="0">
                <a:solidFill>
                  <a:srgbClr val="7030A0"/>
                </a:solidFill>
              </a:rPr>
              <a:t>           </a:t>
            </a:r>
          </a:p>
          <a:p>
            <a:r>
              <a:rPr lang="en-US" sz="2800" b="1" dirty="0">
                <a:solidFill>
                  <a:srgbClr val="7030A0"/>
                </a:solidFill>
              </a:rPr>
              <a:t>       B. </a:t>
            </a:r>
            <a:r>
              <a:rPr lang="en-US" sz="2800" b="1" dirty="0" err="1">
                <a:solidFill>
                  <a:srgbClr val="7030A0"/>
                </a:solidFill>
              </a:rPr>
              <a:t>年味，不应走远</a:t>
            </a:r>
            <a:r>
              <a:rPr lang="en-US" sz="2800" b="1" dirty="0">
                <a:solidFill>
                  <a:srgbClr val="7030A0"/>
                </a:solidFill>
              </a:rPr>
              <a:t>        </a:t>
            </a:r>
          </a:p>
          <a:p>
            <a:r>
              <a:rPr lang="en-US" sz="2800" b="1" dirty="0">
                <a:solidFill>
                  <a:srgbClr val="7030A0"/>
                </a:solidFill>
              </a:rPr>
              <a:t>       C. </a:t>
            </a:r>
            <a:r>
              <a:rPr lang="en-US" sz="2800" b="1" dirty="0" err="1">
                <a:solidFill>
                  <a:srgbClr val="7030A0"/>
                </a:solidFill>
              </a:rPr>
              <a:t>公德心</a:t>
            </a:r>
            <a:endParaRPr lang="en-US" sz="2800" b="1" dirty="0">
              <a:solidFill>
                <a:srgbClr val="7030A0"/>
              </a:solidFill>
            </a:endParaRPr>
          </a:p>
          <a:p>
            <a:r>
              <a:rPr lang="en-US" sz="2800" b="1" dirty="0">
                <a:solidFill>
                  <a:srgbClr val="7030A0"/>
                </a:solidFill>
              </a:rPr>
              <a:t>       D. </a:t>
            </a:r>
            <a:r>
              <a:rPr lang="en-US" sz="2800" b="1" dirty="0" err="1">
                <a:solidFill>
                  <a:srgbClr val="7030A0"/>
                </a:solidFill>
              </a:rPr>
              <a:t>爆竹声中一岁除，千家万户喜迎春</a:t>
            </a:r>
            <a:r>
              <a:rPr lang="en-US" sz="2800" b="1" dirty="0">
                <a:solidFill>
                  <a:srgbClr val="7030A0"/>
                </a:solidFill>
              </a:rPr>
              <a:t>           </a:t>
            </a:r>
          </a:p>
          <a:p>
            <a:r>
              <a:rPr lang="en-US" sz="2800" b="1" dirty="0">
                <a:solidFill>
                  <a:srgbClr val="7030A0"/>
                </a:solidFill>
              </a:rPr>
              <a:t>       E. </a:t>
            </a:r>
            <a:r>
              <a:rPr lang="en-US" sz="2800" b="1" dirty="0" err="1">
                <a:solidFill>
                  <a:srgbClr val="7030A0"/>
                </a:solidFill>
              </a:rPr>
              <a:t>移风易俗，势在必行</a:t>
            </a:r>
            <a:endParaRPr lang="en-US" sz="2800" b="1" dirty="0">
              <a:solidFill>
                <a:srgbClr val="7030A0"/>
              </a:solidFill>
            </a:endParaRP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CD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76038" y="914466"/>
            <a:ext cx="11963246" cy="4524315"/>
          </a:xfrm>
          <a:prstGeom prst="rect">
            <a:avLst/>
          </a:prstGeom>
        </p:spPr>
        <p:txBody>
          <a:bodyPr wrap="square">
            <a:spAutoFit/>
          </a:bodyPr>
          <a:lstStyle/>
          <a:p>
            <a:pPr fontAlgn="ctr">
              <a:spcAft>
                <a:spcPts val="0"/>
              </a:spcAft>
            </a:pPr>
            <a:r>
              <a:rPr lang="zh-CN" altLang="zh-CN" sz="2400" kern="100" dirty="0">
                <a:latin typeface="Times New Roman" panose="02020603050405020304" pitchFamily="18" charset="0"/>
                <a:cs typeface="宋体" panose="02010600030101010101" pitchFamily="2" charset="-122"/>
              </a:rPr>
              <a:t>本次作文材料写的是春节期间各地出台禁止春节期间燃放烟花爆竹的相关规定，对于这一规定，有支持者，认为应该禁燃，因为坚守传统文化也应该与时俱进。也有反对者，反对者认为，不能因安全与卫生问题而消减了中国传统文化元素</a:t>
            </a:r>
            <a:r>
              <a:rPr lang="zh-CN" altLang="zh-CN" sz="2400" kern="100" dirty="0" smtClean="0">
                <a:latin typeface="Times New Roman" panose="02020603050405020304" pitchFamily="18" charset="0"/>
                <a:cs typeface="宋体" panose="02010600030101010101" pitchFamily="2" charset="-122"/>
              </a:rPr>
              <a:t>。</a:t>
            </a:r>
            <a:endParaRPr lang="en-US" altLang="zh-CN" sz="2400" kern="100" dirty="0" smtClean="0">
              <a:latin typeface="Times New Roman" panose="02020603050405020304" pitchFamily="18" charset="0"/>
              <a:cs typeface="宋体" panose="02010600030101010101" pitchFamily="2" charset="-122"/>
            </a:endParaRPr>
          </a:p>
          <a:p>
            <a:pPr fontAlgn="ctr">
              <a:spcAft>
                <a:spcPts val="0"/>
              </a:spcAft>
            </a:pPr>
            <a:r>
              <a:rPr lang="zh-CN" altLang="zh-CN" sz="2400" kern="100" dirty="0" smtClean="0">
                <a:latin typeface="Times New Roman" panose="02020603050405020304" pitchFamily="18" charset="0"/>
                <a:cs typeface="宋体" panose="02010600030101010101" pitchFamily="2" charset="-122"/>
              </a:rPr>
              <a:t>考生</a:t>
            </a:r>
            <a:r>
              <a:rPr lang="zh-CN" altLang="zh-CN" sz="2400" kern="100" dirty="0">
                <a:latin typeface="Times New Roman" panose="02020603050405020304" pitchFamily="18" charset="0"/>
                <a:cs typeface="宋体" panose="02010600030101010101" pitchFamily="2" charset="-122"/>
              </a:rPr>
              <a:t>可任选其中一个角度来谈自己的理解和看法。假如认为应当禁燃，就从燃放烟花爆竹所带来的危害说起，有安全与卫生问题。强调禁燃的好处。虽然春节期间燃放烟花爆竹是中国的传统文化，但继承传统文化不一定非得一成不变，我们可以与时俱进，换种形式来继承。比如可以规定相对集中的地方，在野外或者相对空旷的地方集中时间段燃放，这样不容易存在安全隐患，卫生相对好处理，同时又满足了人们燃放烟花庆祝春节的心理需求。如果是反对禁燃的，就着力从中国传统文化对中国人千百年的来影响说起，强调继承传统文化的重要性。虽然燃放烟花可能会带来安全隐患，会有卫生问题，但我们不能因噎废食。生活中各种有形无形的安全隐患多了，交通的安全隐患最大，但汽车照样跑，人们照样坐车。只要考生能着力于自己的观点阐述即可。</a:t>
            </a:r>
            <a:endParaRPr lang="zh-CN" altLang="zh-CN" sz="2400" kern="100" dirty="0">
              <a:latin typeface="Times New Roman" panose="02020603050405020304" pitchFamily="18" charset="0"/>
            </a:endParaRPr>
          </a:p>
        </p:txBody>
      </p:sp>
    </p:spTree>
    <p:extLst>
      <p:ext uri="{BB962C8B-B14F-4D97-AF65-F5344CB8AC3E}">
        <p14:creationId xmlns:p14="http://schemas.microsoft.com/office/powerpoint/2010/main" val="1986595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360" y="307975"/>
            <a:ext cx="11764645" cy="6369685"/>
          </a:xfrm>
          <a:prstGeom prst="rect">
            <a:avLst/>
          </a:prstGeom>
          <a:noFill/>
        </p:spPr>
        <p:txBody>
          <a:bodyPr wrap="square" rtlCol="0">
            <a:spAutoFit/>
          </a:bodyPr>
          <a:lstStyle/>
          <a:p>
            <a:r>
              <a:rPr lang="en-US" altLang="zh-CN" sz="2400" b="1" dirty="0" smtClean="0"/>
              <a:t>13. </a:t>
            </a:r>
            <a:r>
              <a:rPr lang="zh-CN" altLang="zh-CN" sz="2400" b="1" dirty="0" smtClean="0"/>
              <a:t>阅读</a:t>
            </a:r>
            <a:r>
              <a:rPr lang="zh-CN" altLang="zh-CN" sz="2400" b="1" dirty="0"/>
              <a:t>下面的材料，根据要求写一篇不少于</a:t>
            </a:r>
            <a:r>
              <a:rPr lang="en-US" altLang="zh-CN" sz="2400" b="1" dirty="0"/>
              <a:t>800</a:t>
            </a:r>
            <a:r>
              <a:rPr lang="zh-CN" altLang="zh-CN" sz="2400" b="1" dirty="0"/>
              <a:t>字的文章。（</a:t>
            </a:r>
            <a:r>
              <a:rPr lang="en-US" altLang="zh-CN" sz="2400" b="1" dirty="0"/>
              <a:t>60</a:t>
            </a:r>
            <a:r>
              <a:rPr lang="zh-CN" altLang="zh-CN" sz="2400" b="1" dirty="0"/>
              <a:t>分）</a:t>
            </a:r>
          </a:p>
          <a:p>
            <a:r>
              <a:rPr lang="zh-CN" altLang="zh-CN" sz="2400" b="1" dirty="0"/>
              <a:t>      某校有一座建于上世纪</a:t>
            </a:r>
            <a:r>
              <a:rPr lang="en-US" altLang="zh-CN" sz="2400" b="1" dirty="0"/>
              <a:t>50</a:t>
            </a:r>
            <a:r>
              <a:rPr lang="zh-CN" altLang="zh-CN" sz="2400" b="1" dirty="0"/>
              <a:t>年代末的教学楼，从这里走出去一批批优秀人才，其中不乏知名学者、作家、主持人。如今，这座矮小、简陋、老旧的教学楼已经不能满足学校现代化发展的需要。考虑到它的特殊性，学校想保留，但有人认为学校用地有限，修缮、养护还要花钱，建议着眼发展，将其拆除。为此，学校很犹豫。不少师生和校友表示非常关注，曾在此楼就读过的某知名作家还专程赶回母校拍照留念，并积极争取留住它。</a:t>
            </a:r>
          </a:p>
          <a:p>
            <a:r>
              <a:rPr lang="en-US" altLang="zh-CN" sz="2400" b="1" dirty="0" smtClean="0"/>
              <a:t>       </a:t>
            </a:r>
            <a:r>
              <a:rPr lang="zh-CN" altLang="zh-CN" sz="2400" b="1" dirty="0" smtClean="0"/>
              <a:t>对于</a:t>
            </a:r>
            <a:r>
              <a:rPr lang="zh-CN" altLang="zh-CN" sz="2400" b="1" dirty="0"/>
              <a:t>以上事情，你怎么看？请给该校校长、该知名作家或其他相关方写一封信，表明你的态度，阐述你的看法。要求综合材料内容及含意，选好角度，确定立意，完成写作任务。明确收信人，统一以“小林”为写信人，不得泄露个人信息。</a:t>
            </a:r>
          </a:p>
          <a:p>
            <a:endParaRPr lang="zh-CN" altLang="zh-CN" sz="2400" b="1" dirty="0"/>
          </a:p>
          <a:p>
            <a:r>
              <a:rPr lang="zh-CN" altLang="zh-CN" sz="2400" b="1" dirty="0"/>
              <a:t>下列议论文标题中，最不合适的两项是（</a:t>
            </a:r>
            <a:r>
              <a:rPr lang="en-US" altLang="zh-CN" sz="2400" b="1" dirty="0"/>
              <a:t>    </a:t>
            </a:r>
            <a:r>
              <a:rPr lang="zh-CN" altLang="zh-CN" sz="2400" b="1" dirty="0"/>
              <a:t>）</a:t>
            </a:r>
          </a:p>
          <a:p>
            <a:r>
              <a:rPr lang="en-US" altLang="zh-CN" sz="2400" b="1" dirty="0" smtClean="0"/>
              <a:t>   A</a:t>
            </a:r>
            <a:r>
              <a:rPr lang="en-US" altLang="zh-CN" sz="2400" b="1" dirty="0"/>
              <a:t>. </a:t>
            </a:r>
            <a:r>
              <a:rPr lang="zh-CN" altLang="zh-CN" sz="2400" b="1" dirty="0"/>
              <a:t>风物长宜放眼量</a:t>
            </a:r>
            <a:r>
              <a:rPr lang="en-US" altLang="zh-CN" sz="2400" b="1" dirty="0"/>
              <a:t>   </a:t>
            </a:r>
            <a:endParaRPr lang="zh-CN" altLang="zh-CN" sz="2400" b="1" dirty="0"/>
          </a:p>
          <a:p>
            <a:r>
              <a:rPr lang="en-US" altLang="zh-CN" sz="2400" b="1" dirty="0" smtClean="0"/>
              <a:t>   B</a:t>
            </a:r>
            <a:r>
              <a:rPr lang="en-US" altLang="zh-CN" sz="2400" b="1" dirty="0"/>
              <a:t>. </a:t>
            </a:r>
            <a:r>
              <a:rPr lang="zh-CN" altLang="zh-CN" sz="2400" b="1" dirty="0"/>
              <a:t>发展，是最长情的告白</a:t>
            </a:r>
            <a:r>
              <a:rPr lang="en-US" altLang="zh-CN" sz="2400" b="1" dirty="0"/>
              <a:t>    </a:t>
            </a:r>
            <a:endParaRPr lang="zh-CN" altLang="zh-CN" sz="2400" b="1" dirty="0"/>
          </a:p>
          <a:p>
            <a:r>
              <a:rPr lang="en-US" altLang="zh-CN" sz="2400" b="1" dirty="0" smtClean="0"/>
              <a:t>   C</a:t>
            </a:r>
            <a:r>
              <a:rPr lang="en-US" altLang="zh-CN" sz="2400" b="1" dirty="0"/>
              <a:t>. </a:t>
            </a:r>
            <a:r>
              <a:rPr lang="zh-CN" altLang="zh-CN" sz="2400" b="1" dirty="0"/>
              <a:t>保留老楼是</a:t>
            </a:r>
            <a:r>
              <a:rPr lang="en-US" altLang="zh-CN" sz="2400" b="1" dirty="0"/>
              <a:t>“</a:t>
            </a:r>
            <a:r>
              <a:rPr lang="zh-CN" altLang="en-US" sz="2400" b="1" dirty="0"/>
              <a:t>伪情怀</a:t>
            </a:r>
            <a:r>
              <a:rPr lang="en-US" altLang="zh-CN" sz="2400" b="1" dirty="0"/>
              <a:t>”    </a:t>
            </a:r>
            <a:endParaRPr lang="zh-CN" altLang="zh-CN" sz="2400" b="1" dirty="0"/>
          </a:p>
          <a:p>
            <a:r>
              <a:rPr lang="en-US" altLang="zh-CN" sz="2400" b="1" dirty="0" smtClean="0"/>
              <a:t>   D</a:t>
            </a:r>
            <a:r>
              <a:rPr lang="en-US" altLang="zh-CN" sz="2400" b="1" dirty="0"/>
              <a:t>. </a:t>
            </a:r>
            <a:r>
              <a:rPr lang="zh-CN" altLang="en-US" sz="2400" b="1" dirty="0"/>
              <a:t>将</a:t>
            </a:r>
            <a:r>
              <a:rPr lang="zh-CN" altLang="zh-CN" sz="2400" b="1" dirty="0"/>
              <a:t>“保楼”义举进行到底</a:t>
            </a:r>
            <a:r>
              <a:rPr lang="en-US" altLang="zh-CN" sz="2400" b="1" dirty="0"/>
              <a:t>   </a:t>
            </a:r>
            <a:endParaRPr lang="zh-CN" altLang="zh-CN" sz="2400" b="1" dirty="0"/>
          </a:p>
          <a:p>
            <a:r>
              <a:rPr lang="en-US" altLang="zh-CN" sz="2400" b="1" dirty="0" smtClean="0"/>
              <a:t>   E</a:t>
            </a:r>
            <a:r>
              <a:rPr lang="en-US" altLang="zh-CN" sz="2400" b="1" dirty="0"/>
              <a:t>. </a:t>
            </a:r>
            <a:r>
              <a:rPr lang="zh-CN" altLang="zh-CN" sz="2400" b="1" dirty="0"/>
              <a:t>回忆诚可贵，发展价更高</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CD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360" y="307975"/>
            <a:ext cx="11764645" cy="6554470"/>
          </a:xfrm>
          <a:prstGeom prst="rect">
            <a:avLst/>
          </a:prstGeom>
          <a:noFill/>
        </p:spPr>
        <p:txBody>
          <a:bodyPr wrap="square" rtlCol="0">
            <a:spAutoFit/>
          </a:bodyPr>
          <a:lstStyle/>
          <a:p>
            <a:r>
              <a:rPr lang="en-US" altLang="zh-CN" sz="2800" b="1" dirty="0" smtClean="0"/>
              <a:t>14. </a:t>
            </a:r>
            <a:r>
              <a:rPr altLang="zh-CN" sz="2800" b="1" dirty="0"/>
              <a:t>阅读下面的材料，根据要求写一篇不少于800字的文章</a:t>
            </a:r>
          </a:p>
          <a:p>
            <a:r>
              <a:rPr altLang="zh-CN" sz="2800" b="1" dirty="0"/>
              <a:t>        几个同学聚在一起谈论传家宝。小张说，他家的传家宝是一个青花罐，有年头有故事。小杜说，他家的传家宝是爷爷留下的几枚勋章。小程说，她家把“忠厚传家久，读书继世长”的祖训当作传家宝。</a:t>
            </a:r>
          </a:p>
          <a:p>
            <a:r>
              <a:rPr altLang="zh-CN" sz="2800" b="1" dirty="0"/>
              <a:t>       你认为什么样的传家宝更有价值？请综合材料内容及含意作文，体现你的思考、权衡与选择。</a:t>
            </a:r>
          </a:p>
          <a:p>
            <a:r>
              <a:rPr altLang="zh-CN" sz="2800" b="1" dirty="0"/>
              <a:t>       要求选好角度，确定立意，明确文体，自拟标题；不要套作，不得抄袭。</a:t>
            </a:r>
          </a:p>
          <a:p>
            <a:endParaRPr altLang="zh-CN" sz="2800" b="1" dirty="0"/>
          </a:p>
          <a:p>
            <a:r>
              <a:rPr altLang="zh-CN" sz="2800" b="1" dirty="0">
                <a:solidFill>
                  <a:srgbClr val="7030A0"/>
                </a:solidFill>
              </a:rPr>
              <a:t>下列议论文标题中，最不合适的两项是（    ）</a:t>
            </a:r>
          </a:p>
          <a:p>
            <a:r>
              <a:rPr altLang="zh-CN" sz="2800" b="1" dirty="0">
                <a:solidFill>
                  <a:srgbClr val="7030A0"/>
                </a:solidFill>
              </a:rPr>
              <a:t>A. 岁月流金，记忆永恒        </a:t>
            </a:r>
          </a:p>
          <a:p>
            <a:r>
              <a:rPr altLang="zh-CN" sz="2800" b="1" dirty="0">
                <a:solidFill>
                  <a:srgbClr val="7030A0"/>
                </a:solidFill>
              </a:rPr>
              <a:t>B. 一句祖训，涵养家风</a:t>
            </a:r>
          </a:p>
          <a:p>
            <a:r>
              <a:rPr altLang="zh-CN" sz="2800" b="1" dirty="0">
                <a:solidFill>
                  <a:srgbClr val="7030A0"/>
                </a:solidFill>
              </a:rPr>
              <a:t>C. 砥砺修养，传家继世              </a:t>
            </a:r>
          </a:p>
          <a:p>
            <a:r>
              <a:rPr altLang="zh-CN" sz="2800" b="1" dirty="0">
                <a:solidFill>
                  <a:srgbClr val="7030A0"/>
                </a:solidFill>
              </a:rPr>
              <a:t>D. 青花罐，传家宝        </a:t>
            </a:r>
          </a:p>
          <a:p>
            <a:r>
              <a:rPr altLang="zh-CN" sz="2800" b="1" dirty="0">
                <a:solidFill>
                  <a:srgbClr val="7030A0"/>
                </a:solidFill>
              </a:rPr>
              <a:t>E. 自己辛劳，就是传家宝</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039444" cy="5632311"/>
          </a:xfrm>
          <a:prstGeom prst="rect">
            <a:avLst/>
          </a:prstGeom>
        </p:spPr>
        <p:txBody>
          <a:bodyPr wrap="square">
            <a:spAutoFit/>
          </a:bodyPr>
          <a:lstStyle/>
          <a:p>
            <a:pPr fontAlgn="ctr">
              <a:spcAft>
                <a:spcPts val="0"/>
              </a:spcAft>
            </a:pPr>
            <a:r>
              <a:rPr lang="zh-CN" altLang="zh-CN" sz="2000" kern="100" dirty="0">
                <a:latin typeface="Times New Roman" panose="02020603050405020304" pitchFamily="18" charset="0"/>
                <a:cs typeface="宋体" panose="02010600030101010101" pitchFamily="2" charset="-122"/>
              </a:rPr>
              <a:t>材料表述了三个人的三种观点：小张认为家里的青花罐是传家宝，有年头有故事；小杜认为爷爷留下的几枚勋章是传家宝，有贡献有赞扬；小程认为传递忠厚的品质、诗书礼仪的祖训是传家宝，有思想有传承。这里，青花罐意味着物质财富，勋章意味着荣誉，祖训意味着精神，由此可见，传家宝就是有深刻教育意义的珍贵物品、宝贵的品质和优良的思想作风等。</a:t>
            </a:r>
            <a:r>
              <a:rPr lang="zh-CN" altLang="zh-CN" sz="2000" kern="100" dirty="0">
                <a:solidFill>
                  <a:srgbClr val="FF0000"/>
                </a:solidFill>
                <a:latin typeface="Times New Roman" panose="02020603050405020304" pitchFamily="18" charset="0"/>
                <a:cs typeface="宋体" panose="02010600030101010101" pitchFamily="2" charset="-122"/>
              </a:rPr>
              <a:t>三种传家宝，有属于物质形态的，有关于思想精神层面的，也有兼具物质和精神双重特点的。</a:t>
            </a:r>
            <a:r>
              <a:rPr lang="zh-CN" altLang="zh-CN" sz="2000" kern="100" dirty="0">
                <a:latin typeface="Times New Roman" panose="02020603050405020304" pitchFamily="18" charset="0"/>
                <a:cs typeface="宋体" panose="02010600030101010101" pitchFamily="2" charset="-122"/>
              </a:rPr>
              <a:t>小张家的传家宝可能是一个价格不菲的文物，同时也具有超越金钱的文化、历史价值，或因承载着家族的记忆而显得弥足珍贵。小杜家的传家宝见证了爷爷的努力和奋斗，象征着祖辈们用血肉换来的荣誉，具有激励后人前行的精神力量，所以，它也是值得珍视的。小程家的传家宝是中国许多家庭都有的祖训。在我们这个注重家族观念的国度里，祖训代表了一种信仰，是一个家族重要的精神密码，是维系家族、沟通代际的纽带，属于传统文化的一部分。作文时，可以写成议论文，就一点或几点进行表述，同时还要注重把握</a:t>
            </a:r>
            <a:r>
              <a:rPr lang="en-US" altLang="zh-CN" sz="2000" kern="100" dirty="0">
                <a:latin typeface="Times New Roman" panose="02020603050405020304" pitchFamily="18" charset="0"/>
                <a:cs typeface="宋体" panose="02010600030101010101" pitchFamily="2" charset="-122"/>
              </a:rPr>
              <a:t>“</a:t>
            </a:r>
            <a:r>
              <a:rPr lang="zh-CN" altLang="zh-CN" sz="2000" kern="100" dirty="0">
                <a:latin typeface="Times New Roman" panose="02020603050405020304" pitchFamily="18" charset="0"/>
                <a:cs typeface="宋体" panose="02010600030101010101" pitchFamily="2" charset="-122"/>
              </a:rPr>
              <a:t>物质财富和精神财富</a:t>
            </a:r>
            <a:r>
              <a:rPr lang="en-US" altLang="zh-CN" sz="2000" kern="100" dirty="0">
                <a:latin typeface="Times New Roman" panose="02020603050405020304" pitchFamily="18" charset="0"/>
                <a:cs typeface="宋体" panose="02010600030101010101" pitchFamily="2" charset="-122"/>
              </a:rPr>
              <a:t>”</a:t>
            </a:r>
            <a:r>
              <a:rPr lang="zh-CN" altLang="zh-CN" sz="2000" kern="100" dirty="0">
                <a:latin typeface="Times New Roman" panose="02020603050405020304" pitchFamily="18" charset="0"/>
                <a:cs typeface="宋体" panose="02010600030101010101" pitchFamily="2" charset="-122"/>
              </a:rPr>
              <a:t>之间的关系，立意可以有：</a:t>
            </a:r>
            <a:r>
              <a:rPr lang="en-US" altLang="zh-CN" sz="2000" kern="100" dirty="0">
                <a:latin typeface="Times New Roman" panose="02020603050405020304" pitchFamily="18" charset="0"/>
                <a:cs typeface="宋体" panose="02010600030101010101" pitchFamily="2" charset="-122"/>
              </a:rPr>
              <a:t>①</a:t>
            </a:r>
            <a:r>
              <a:rPr lang="zh-CN" altLang="zh-CN" sz="2000" kern="100" dirty="0">
                <a:latin typeface="Times New Roman" panose="02020603050405020304" pitchFamily="18" charset="0"/>
                <a:cs typeface="宋体" panose="02010600030101010101" pitchFamily="2" charset="-122"/>
              </a:rPr>
              <a:t>珍惜传家宝；</a:t>
            </a:r>
            <a:r>
              <a:rPr lang="en-US" altLang="zh-CN" sz="2000" kern="100" dirty="0">
                <a:latin typeface="Times New Roman" panose="02020603050405020304" pitchFamily="18" charset="0"/>
                <a:cs typeface="宋体" panose="02010600030101010101" pitchFamily="2" charset="-122"/>
              </a:rPr>
              <a:t>②</a:t>
            </a:r>
            <a:r>
              <a:rPr lang="zh-CN" altLang="zh-CN" sz="2000" kern="100" dirty="0">
                <a:latin typeface="Times New Roman" panose="02020603050405020304" pitchFamily="18" charset="0"/>
                <a:cs typeface="宋体" panose="02010600030101010101" pitchFamily="2" charset="-122"/>
              </a:rPr>
              <a:t>留给子孙的是物质财富还是精神财富；</a:t>
            </a:r>
            <a:r>
              <a:rPr lang="en-US" altLang="zh-CN" sz="2000" kern="100" dirty="0">
                <a:latin typeface="Times New Roman" panose="02020603050405020304" pitchFamily="18" charset="0"/>
                <a:cs typeface="宋体" panose="02010600030101010101" pitchFamily="2" charset="-122"/>
              </a:rPr>
              <a:t>③</a:t>
            </a:r>
            <a:r>
              <a:rPr lang="zh-CN" altLang="zh-CN" sz="2000" kern="100" dirty="0">
                <a:latin typeface="Times New Roman" panose="02020603050405020304" pitchFamily="18" charset="0"/>
                <a:cs typeface="宋体" panose="02010600030101010101" pitchFamily="2" charset="-122"/>
              </a:rPr>
              <a:t>正确面对祖辈的荣誉。也可以写成记叙文，围绕</a:t>
            </a:r>
            <a:r>
              <a:rPr lang="en-US" altLang="zh-CN" sz="2000" kern="100" dirty="0">
                <a:latin typeface="Times New Roman" panose="02020603050405020304" pitchFamily="18" charset="0"/>
                <a:cs typeface="宋体" panose="02010600030101010101" pitchFamily="2" charset="-122"/>
              </a:rPr>
              <a:t>“</a:t>
            </a:r>
            <a:r>
              <a:rPr lang="zh-CN" altLang="zh-CN" sz="2000" kern="100" dirty="0">
                <a:latin typeface="Times New Roman" panose="02020603050405020304" pitchFamily="18" charset="0"/>
                <a:cs typeface="宋体" panose="02010600030101010101" pitchFamily="2" charset="-122"/>
              </a:rPr>
              <a:t>传家宝</a:t>
            </a:r>
            <a:r>
              <a:rPr lang="en-US" altLang="zh-CN" sz="2000" kern="100" dirty="0">
                <a:latin typeface="Times New Roman" panose="02020603050405020304" pitchFamily="18" charset="0"/>
                <a:cs typeface="宋体" panose="02010600030101010101" pitchFamily="2" charset="-122"/>
              </a:rPr>
              <a:t>”</a:t>
            </a:r>
            <a:r>
              <a:rPr lang="zh-CN" altLang="zh-CN" sz="2000" kern="100" dirty="0">
                <a:latin typeface="Times New Roman" panose="02020603050405020304" pitchFamily="18" charset="0"/>
                <a:cs typeface="宋体" panose="02010600030101010101" pitchFamily="2" charset="-122"/>
              </a:rPr>
              <a:t>进行写作，思想积极，内容健康即可。</a:t>
            </a:r>
            <a:endParaRPr lang="zh-CN" altLang="zh-CN" sz="2000" kern="100" dirty="0">
              <a:latin typeface="Times New Roman" panose="02020603050405020304" pitchFamily="18" charset="0"/>
            </a:endParaRPr>
          </a:p>
          <a:p>
            <a:pPr fontAlgn="ctr">
              <a:spcAft>
                <a:spcPts val="0"/>
              </a:spcAft>
            </a:pPr>
            <a:r>
              <a:rPr lang="zh-CN" altLang="zh-CN" sz="2000" kern="100" dirty="0">
                <a:latin typeface="Times New Roman" panose="02020603050405020304" pitchFamily="18" charset="0"/>
                <a:cs typeface="宋体" panose="02010600030101010101" pitchFamily="2" charset="-122"/>
              </a:rPr>
              <a:t>参考拟题：</a:t>
            </a:r>
            <a:endParaRPr lang="zh-CN" altLang="zh-CN" sz="2000" kern="100" dirty="0">
              <a:latin typeface="Times New Roman" panose="02020603050405020304" pitchFamily="18" charset="0"/>
            </a:endParaRPr>
          </a:p>
          <a:p>
            <a:pPr fontAlgn="ctr">
              <a:spcAft>
                <a:spcPts val="0"/>
              </a:spcAft>
            </a:pPr>
            <a:r>
              <a:rPr lang="zh-CN" altLang="zh-CN" sz="2000" kern="100" dirty="0">
                <a:latin typeface="Times New Roman" panose="02020603050405020304" pitchFamily="18" charset="0"/>
                <a:cs typeface="宋体" panose="02010600030101010101" pitchFamily="2" charset="-122"/>
              </a:rPr>
              <a:t>让祖训运行于心灵轨道</a:t>
            </a:r>
            <a:endParaRPr lang="zh-CN" altLang="zh-CN" sz="2000" kern="100" dirty="0">
              <a:latin typeface="Times New Roman" panose="02020603050405020304" pitchFamily="18" charset="0"/>
            </a:endParaRPr>
          </a:p>
          <a:p>
            <a:pPr fontAlgn="ctr">
              <a:spcAft>
                <a:spcPts val="0"/>
              </a:spcAft>
            </a:pPr>
            <a:r>
              <a:rPr lang="zh-CN" altLang="zh-CN" sz="2000" kern="100" dirty="0">
                <a:latin typeface="Times New Roman" panose="02020603050405020304" pitchFamily="18" charset="0"/>
                <a:cs typeface="宋体" panose="02010600030101010101" pitchFamily="2" charset="-122"/>
              </a:rPr>
              <a:t>跨越时间的方向标</a:t>
            </a:r>
            <a:endParaRPr lang="zh-CN" altLang="zh-CN" sz="2000" kern="100" dirty="0">
              <a:latin typeface="Times New Roman" panose="02020603050405020304" pitchFamily="18" charset="0"/>
            </a:endParaRPr>
          </a:p>
          <a:p>
            <a:pPr fontAlgn="ctr">
              <a:spcAft>
                <a:spcPts val="0"/>
              </a:spcAft>
            </a:pPr>
            <a:r>
              <a:rPr lang="zh-CN" altLang="zh-CN" sz="2000" kern="100" dirty="0">
                <a:latin typeface="Times New Roman" panose="02020603050405020304" pitchFamily="18" charset="0"/>
                <a:cs typeface="宋体" panose="02010600030101010101" pitchFamily="2" charset="-122"/>
              </a:rPr>
              <a:t>诗书继世，感诸书香</a:t>
            </a:r>
            <a:endParaRPr lang="zh-CN" altLang="zh-CN" sz="2000" kern="100" dirty="0">
              <a:latin typeface="Times New Roman" panose="02020603050405020304" pitchFamily="18" charset="0"/>
            </a:endParaRPr>
          </a:p>
          <a:p>
            <a:pPr fontAlgn="ctr">
              <a:spcAft>
                <a:spcPts val="0"/>
              </a:spcAft>
            </a:pPr>
            <a:r>
              <a:rPr lang="zh-CN" altLang="zh-CN" sz="2000" kern="100" dirty="0">
                <a:latin typeface="Times New Roman" panose="02020603050405020304" pitchFamily="18" charset="0"/>
                <a:cs typeface="宋体" panose="02010600030101010101" pitchFamily="2" charset="-122"/>
              </a:rPr>
              <a:t>青花罐</a:t>
            </a:r>
            <a:r>
              <a:rPr lang="en-US" altLang="zh-CN" sz="2000" kern="100" dirty="0">
                <a:latin typeface="Times New Roman" panose="02020603050405020304" pitchFamily="18" charset="0"/>
                <a:cs typeface="宋体" panose="02010600030101010101" pitchFamily="2" charset="-122"/>
              </a:rPr>
              <a:t>——</a:t>
            </a:r>
            <a:r>
              <a:rPr lang="zh-CN" altLang="zh-CN" sz="2000" kern="100" dirty="0">
                <a:latin typeface="Times New Roman" panose="02020603050405020304" pitchFamily="18" charset="0"/>
                <a:cs typeface="宋体" panose="02010600030101010101" pitchFamily="2" charset="-122"/>
              </a:rPr>
              <a:t>历史与情感的容器</a:t>
            </a:r>
            <a:endParaRPr lang="zh-CN" altLang="zh-CN" sz="2000" kern="100" dirty="0">
              <a:latin typeface="Times New Roman" panose="02020603050405020304" pitchFamily="18" charset="0"/>
            </a:endParaRPr>
          </a:p>
          <a:p>
            <a:pPr fontAlgn="ctr">
              <a:spcAft>
                <a:spcPts val="0"/>
              </a:spcAft>
            </a:pPr>
            <a:r>
              <a:rPr lang="zh-CN" altLang="zh-CN" sz="2000" kern="100" dirty="0">
                <a:latin typeface="Times New Roman" panose="02020603050405020304" pitchFamily="18" charset="0"/>
                <a:cs typeface="宋体" panose="02010600030101010101" pitchFamily="2" charset="-122"/>
              </a:rPr>
              <a:t>勋章无言，无价之宝</a:t>
            </a:r>
            <a:endParaRPr lang="zh-CN" altLang="zh-CN" sz="2000" kern="100" dirty="0">
              <a:latin typeface="Times New Roman" panose="02020603050405020304" pitchFamily="18" charset="0"/>
            </a:endParaRPr>
          </a:p>
        </p:txBody>
      </p:sp>
    </p:spTree>
    <p:extLst>
      <p:ext uri="{BB962C8B-B14F-4D97-AF65-F5344CB8AC3E}">
        <p14:creationId xmlns:p14="http://schemas.microsoft.com/office/powerpoint/2010/main" val="1616427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360" y="307975"/>
            <a:ext cx="11764645" cy="6369685"/>
          </a:xfrm>
          <a:prstGeom prst="rect">
            <a:avLst/>
          </a:prstGeom>
          <a:noFill/>
        </p:spPr>
        <p:txBody>
          <a:bodyPr wrap="square" rtlCol="0">
            <a:spAutoFit/>
          </a:bodyPr>
          <a:lstStyle/>
          <a:p>
            <a:r>
              <a:rPr lang="en-US" sz="2400" b="1" dirty="0" smtClean="0">
                <a:solidFill>
                  <a:schemeClr val="tx1"/>
                </a:solidFill>
              </a:rPr>
              <a:t>15.</a:t>
            </a:r>
            <a:r>
              <a:rPr lang="en-US" sz="2400" b="1" dirty="0">
                <a:solidFill>
                  <a:schemeClr val="tx1"/>
                </a:solidFill>
              </a:rPr>
              <a:t>阅读下面材料，根据要求写一篇不少于800字的文章。（60 分）</a:t>
            </a:r>
          </a:p>
          <a:p>
            <a:r>
              <a:rPr lang="en-US" sz="2400" b="1" dirty="0">
                <a:solidFill>
                  <a:schemeClr val="tx1"/>
                </a:solidFill>
              </a:rPr>
              <a:t>       球星大黎以队长身份带领球队为北兴俱乐部赢得赛季冠军，他与俱乐部的合同已到期，竞争对手南旺俱乐部以更高的待遇力邀他加盟。北兴俱乐部以对他多年的培养为由希望他留下继续效力，球迷因对他感情深厚也苦苦挽留。大黎为了实现自己更高的人生价值，最终还是转会到南旺俱乐部。为此，大黎受到北兴俱乐部球迷的责骂，北兴俱乐部也未按惯例邀请他参加盛大的冠军庆祝仪式，但私下仍然把象征冠军荣誉的戒指给了他。此事引发了人们的热议，北兴俱乐部、南旺俱乐部、北兴俱乐部的球迷和大黎均遭到了非议。</a:t>
            </a:r>
          </a:p>
          <a:p>
            <a:r>
              <a:rPr lang="en-US" sz="2400" b="1" dirty="0">
                <a:solidFill>
                  <a:schemeClr val="tx1"/>
                </a:solidFill>
              </a:rPr>
              <a:t>       请你从北兴俱乐部、南旺俱乐部、北兴俱乐部球迷和大黎中选择一方，写一篇文章回应人们的非议，表明你的态度，阐述你的看法。</a:t>
            </a:r>
          </a:p>
          <a:p>
            <a:r>
              <a:rPr lang="en-US" sz="2400" b="1" dirty="0">
                <a:solidFill>
                  <a:schemeClr val="tx1"/>
                </a:solidFill>
              </a:rPr>
              <a:t>       要求选好角度，确定立意，明确文体，自拟标题；不要套作，不得抄袭。</a:t>
            </a:r>
            <a:endParaRPr lang="en-US" sz="2400" b="1" dirty="0">
              <a:solidFill>
                <a:srgbClr val="7030A0"/>
              </a:solidFill>
            </a:endParaRPr>
          </a:p>
          <a:p>
            <a:r>
              <a:rPr lang="en-US" sz="2400" b="1" dirty="0">
                <a:sym typeface="+mn-ea"/>
              </a:rPr>
              <a:t>       </a:t>
            </a:r>
            <a:r>
              <a:rPr lang="en-US" sz="2400" b="1" dirty="0">
                <a:solidFill>
                  <a:srgbClr val="7030A0"/>
                </a:solidFill>
              </a:rPr>
              <a:t>下列议论文标题中，最不合适的两项是（   ）</a:t>
            </a:r>
          </a:p>
          <a:p>
            <a:r>
              <a:rPr lang="en-US" sz="2400" b="1" dirty="0">
                <a:sym typeface="+mn-ea"/>
              </a:rPr>
              <a:t>       </a:t>
            </a:r>
            <a:r>
              <a:rPr lang="en-US" sz="2400" b="1" dirty="0">
                <a:solidFill>
                  <a:srgbClr val="7030A0"/>
                </a:solidFill>
              </a:rPr>
              <a:t>A. 自私是前进的阻碍    </a:t>
            </a:r>
          </a:p>
          <a:p>
            <a:r>
              <a:rPr lang="en-US" sz="2400" b="1" dirty="0">
                <a:sym typeface="+mn-ea"/>
              </a:rPr>
              <a:t>       </a:t>
            </a:r>
            <a:r>
              <a:rPr lang="en-US" sz="2400" b="1" dirty="0">
                <a:solidFill>
                  <a:srgbClr val="7030A0"/>
                </a:solidFill>
              </a:rPr>
              <a:t>B. 大黎高飞，无可厚非    </a:t>
            </a:r>
          </a:p>
          <a:p>
            <a:r>
              <a:rPr lang="en-US" sz="2400" b="1" dirty="0">
                <a:sym typeface="+mn-ea"/>
              </a:rPr>
              <a:t>       </a:t>
            </a:r>
            <a:r>
              <a:rPr lang="en-US" sz="2400" b="1" dirty="0">
                <a:solidFill>
                  <a:srgbClr val="7030A0"/>
                </a:solidFill>
              </a:rPr>
              <a:t>C. 谈规则</a:t>
            </a:r>
          </a:p>
          <a:p>
            <a:r>
              <a:rPr lang="en-US" sz="2400" b="1" dirty="0">
                <a:sym typeface="+mn-ea"/>
              </a:rPr>
              <a:t>       </a:t>
            </a:r>
            <a:r>
              <a:rPr lang="en-US" sz="2400" b="1" dirty="0">
                <a:solidFill>
                  <a:srgbClr val="7030A0"/>
                </a:solidFill>
              </a:rPr>
              <a:t>D. 彼此包容，海阔天空     </a:t>
            </a:r>
          </a:p>
          <a:p>
            <a:r>
              <a:rPr lang="en-US" sz="2400" b="1" dirty="0">
                <a:sym typeface="+mn-ea"/>
              </a:rPr>
              <a:t>       </a:t>
            </a:r>
            <a:r>
              <a:rPr lang="en-US" sz="2400" b="1" dirty="0">
                <a:solidFill>
                  <a:srgbClr val="7030A0"/>
                </a:solidFill>
              </a:rPr>
              <a:t>E. 理智对待转会，放手亦是美好</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4061" y="533476"/>
            <a:ext cx="12115642" cy="5940088"/>
          </a:xfrm>
          <a:prstGeom prst="rect">
            <a:avLst/>
          </a:prstGeom>
        </p:spPr>
        <p:txBody>
          <a:bodyPr wrap="square">
            <a:spAutoFit/>
          </a:bodyPr>
          <a:lstStyle/>
          <a:p>
            <a:pPr fontAlgn="ctr">
              <a:spcAft>
                <a:spcPts val="0"/>
              </a:spcAft>
            </a:pPr>
            <a:r>
              <a:rPr lang="zh-CN" altLang="zh-CN" sz="2000" kern="100" dirty="0">
                <a:latin typeface="Times New Roman" panose="02020603050405020304" pitchFamily="18" charset="0"/>
              </a:rPr>
              <a:t>对</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非议</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的解读是审题的关键。这道作文题的写作任务，是从四个身份中选择一个作为写作人得身份，发出对自己（或部门、群体）非议的回应。</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非议</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在材料中没有直接表述，但是从整个事情的来龙去脉中还是可以读出来的。对北兴俱乐部的非议：为什么不能给出比南旺俱乐部更好的待遇留着大黎？在感情留人和待遇留人之间为什么不能满足大黎的要求？处理事情不够大度，不够大气，在大黎转会已经既成事实的情况下，为什么不能大度一点，也邀请大黎参加冠军庆祝仪式，体面地给大黎颁奖？</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对南旺俱乐部的非议：自己不培养球星，靠提高待遇挖人，挖走别的俱乐部的冠军队主要成员，是否合适？</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对北兴俱乐部球迷的非议：自己的偶像成为敌手的明星，难以接受，是可以理解的。但是商业球赛，讲求的是商业规则，球员不一定从一而终为某个俱乐部服务。当大黎没做出决定的时候，球迷苦苦挽留，体现了球迷对俱乐部球队的热爱。但是当大黎已经决定转会了，成为事实了，为什么我们不能祝福大黎，感谢他为球队做出的贡献，祝福他在新的球队中获得更大的发展？</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对大黎的非议：为更好的待遇不顾感情，毅然抛弃带来冠军的球队，给球队带来损失。在商业最大利益追求与感情之间应该如何平衡更好？他该不该得到北兴俱乐部和球迷的尊重，还他一个体面的冠军庆祝仪式和戒指颁授仪式？</a:t>
            </a:r>
            <a:r>
              <a:rPr lang="en-US" altLang="zh-CN" sz="2000" kern="100" dirty="0">
                <a:latin typeface="Times New Roman" panose="02020603050405020304" pitchFamily="18" charset="0"/>
              </a:rPr>
              <a:t>……</a:t>
            </a:r>
            <a:r>
              <a:rPr lang="zh-CN" altLang="zh-CN" sz="2000" kern="100" dirty="0">
                <a:latin typeface="Times New Roman" panose="02020603050405020304" pitchFamily="18" charset="0"/>
              </a:rPr>
              <a:t>要强调从材料文字阅读中读出相关信息，要有依据</a:t>
            </a:r>
            <a:r>
              <a:rPr lang="zh-CN" altLang="zh-CN" sz="2000" kern="100" dirty="0" smtClean="0">
                <a:latin typeface="Times New Roman" panose="02020603050405020304" pitchFamily="18" charset="0"/>
              </a:rPr>
              <a:t>。</a:t>
            </a:r>
            <a:endParaRPr lang="en-US" altLang="zh-CN" sz="2000" kern="100" dirty="0" smtClean="0">
              <a:latin typeface="Times New Roman" panose="02020603050405020304" pitchFamily="18" charset="0"/>
            </a:endParaRPr>
          </a:p>
          <a:p>
            <a:pPr fontAlgn="ctr">
              <a:spcAft>
                <a:spcPts val="0"/>
              </a:spcAft>
            </a:pPr>
            <a:r>
              <a:rPr lang="zh-CN" altLang="zh-CN" sz="2000" dirty="0"/>
              <a:t>（</a:t>
            </a:r>
            <a:r>
              <a:rPr lang="en-US" altLang="zh-CN" sz="2000" dirty="0"/>
              <a:t>1</a:t>
            </a:r>
            <a:r>
              <a:rPr lang="zh-CN" altLang="zh-CN" sz="2000" dirty="0"/>
              <a:t>）写作人的身份是确定，就是体现了</a:t>
            </a:r>
            <a:r>
              <a:rPr lang="en-US" altLang="zh-CN" sz="2000" dirty="0"/>
              <a:t>“</a:t>
            </a:r>
            <a:r>
              <a:rPr lang="zh-CN" altLang="zh-CN" sz="2000" dirty="0"/>
              <a:t>选择</a:t>
            </a:r>
            <a:r>
              <a:rPr lang="en-US" altLang="zh-CN" sz="2000" dirty="0"/>
              <a:t>”</a:t>
            </a:r>
            <a:r>
              <a:rPr lang="zh-CN" altLang="zh-CN" sz="2000" dirty="0"/>
              <a:t>。（</a:t>
            </a:r>
            <a:r>
              <a:rPr lang="en-US" altLang="zh-CN" sz="2000" dirty="0"/>
              <a:t>2</a:t>
            </a:r>
            <a:r>
              <a:rPr lang="zh-CN" altLang="zh-CN" sz="2000" dirty="0"/>
              <a:t>）有回应对自己（或团队，或群体）</a:t>
            </a:r>
            <a:r>
              <a:rPr lang="en-US" altLang="zh-CN" sz="2000" dirty="0"/>
              <a:t>“</a:t>
            </a:r>
            <a:r>
              <a:rPr lang="zh-CN" altLang="zh-CN" sz="2000" dirty="0"/>
              <a:t>非议</a:t>
            </a:r>
            <a:r>
              <a:rPr lang="en-US" altLang="zh-CN" sz="2000" dirty="0"/>
              <a:t>”</a:t>
            </a:r>
            <a:r>
              <a:rPr lang="zh-CN" altLang="zh-CN" sz="2000" dirty="0"/>
              <a:t>。满足这两个要求就可以判定为</a:t>
            </a:r>
            <a:r>
              <a:rPr lang="en-US" altLang="zh-CN" sz="2000" dirty="0"/>
              <a:t>“</a:t>
            </a:r>
            <a:r>
              <a:rPr lang="zh-CN" altLang="zh-CN" sz="2000" dirty="0"/>
              <a:t>符合题意</a:t>
            </a:r>
            <a:r>
              <a:rPr lang="en-US" altLang="zh-CN" sz="2000" dirty="0"/>
              <a:t>”</a:t>
            </a:r>
            <a:r>
              <a:rPr lang="zh-CN" altLang="zh-CN" sz="2000" dirty="0"/>
              <a:t>。可以如何立意呢？下面的可供参考：（</a:t>
            </a:r>
            <a:r>
              <a:rPr lang="en-US" altLang="zh-CN" sz="2000" dirty="0"/>
              <a:t>1</a:t>
            </a:r>
            <a:r>
              <a:rPr lang="zh-CN" altLang="zh-CN" sz="2000" dirty="0"/>
              <a:t>）商业规则下待遇留人要比感情留人更有效；尊重曾经为团队作出过贡献的每个人；（</a:t>
            </a:r>
            <a:r>
              <a:rPr lang="en-US" altLang="zh-CN" sz="2000" dirty="0"/>
              <a:t>2</a:t>
            </a:r>
            <a:r>
              <a:rPr lang="zh-CN" altLang="zh-CN" sz="2000" dirty="0"/>
              <a:t>）买人与培养人哪个更有效率（</a:t>
            </a:r>
            <a:r>
              <a:rPr lang="en-US" altLang="zh-CN" sz="2000" dirty="0"/>
              <a:t>3</a:t>
            </a:r>
            <a:r>
              <a:rPr lang="zh-CN" altLang="zh-CN" sz="2000" dirty="0"/>
              <a:t>）尊重商业规则；放开心结，欣赏球技；祝福曾经自己热捧球队的球星。（</a:t>
            </a:r>
            <a:r>
              <a:rPr lang="en-US" altLang="zh-CN" sz="2000" dirty="0"/>
              <a:t>4</a:t>
            </a:r>
            <a:r>
              <a:rPr lang="zh-CN" altLang="zh-CN" sz="2000" dirty="0"/>
              <a:t>）如何平衡利益与感情的关系；如何处理事情能够为各方所乐意接受。</a:t>
            </a:r>
          </a:p>
          <a:p>
            <a:pPr fontAlgn="ctr">
              <a:spcAft>
                <a:spcPts val="0"/>
              </a:spcAft>
            </a:pPr>
            <a:endParaRPr lang="zh-CN" altLang="zh-CN" sz="2000" kern="100" dirty="0">
              <a:latin typeface="Times New Roman" panose="02020603050405020304" pitchFamily="18" charset="0"/>
            </a:endParaRPr>
          </a:p>
        </p:txBody>
      </p:sp>
    </p:spTree>
    <p:extLst>
      <p:ext uri="{BB962C8B-B14F-4D97-AF65-F5344CB8AC3E}">
        <p14:creationId xmlns:p14="http://schemas.microsoft.com/office/powerpoint/2010/main" val="10961758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360" y="307975"/>
            <a:ext cx="11764645" cy="6369685"/>
          </a:xfrm>
          <a:prstGeom prst="rect">
            <a:avLst/>
          </a:prstGeom>
          <a:noFill/>
        </p:spPr>
        <p:txBody>
          <a:bodyPr wrap="square" rtlCol="0">
            <a:spAutoFit/>
          </a:bodyPr>
          <a:lstStyle/>
          <a:p>
            <a:r>
              <a:rPr lang="en-US" sz="2400" b="1" dirty="0">
                <a:solidFill>
                  <a:schemeClr val="tx1"/>
                </a:solidFill>
              </a:rPr>
              <a:t>16.阅读下面的材料，根据要求写一篇不少于800字的文章。</a:t>
            </a:r>
          </a:p>
          <a:p>
            <a:r>
              <a:rPr lang="en-US" sz="2400" b="1" dirty="0">
                <a:solidFill>
                  <a:schemeClr val="tx1"/>
                </a:solidFill>
              </a:rPr>
              <a:t>       大学生小闫发现自家大门外有个鸟窝，和朋友架了个梯子将鸟窝里的12只鸟掏了出来，养了一段时间后把鸟的照片发到网上，没想到有人愿意出价买鸟，两人因此获利1200多元，后来他们又掏了4只。原来，他们掏的这种鸟叫燕隼，是国家二级保护动物。结果，小闫和他的朋友以非法猎捕珍贵濒危野生动物罪，分别被判刑10年半和10年，并处罚款。此事引发不小的争议。</a:t>
            </a:r>
          </a:p>
          <a:p>
            <a:r>
              <a:rPr lang="en-US" sz="2400" b="1" dirty="0">
                <a:solidFill>
                  <a:schemeClr val="tx1"/>
                </a:solidFill>
              </a:rPr>
              <a:t>       小闫父亲：儿子对小动物特别喜欢，在我们心里，农村孩子逮鸟抓鱼不用管，没想到会被判得这么重。</a:t>
            </a:r>
          </a:p>
          <a:p>
            <a:r>
              <a:rPr lang="en-US" sz="2400" b="1" dirty="0">
                <a:solidFill>
                  <a:schemeClr val="tx1"/>
                </a:solidFill>
              </a:rPr>
              <a:t>       热心网友：量刑太重，10年牢狱生活足以毁了人的一生。</a:t>
            </a:r>
          </a:p>
          <a:p>
            <a:r>
              <a:rPr lang="en-US" sz="2400" b="1" dirty="0">
                <a:solidFill>
                  <a:schemeClr val="tx1"/>
                </a:solidFill>
              </a:rPr>
              <a:t>       法律专家：知不知道燕隼是二级保护动物，以及知不知道因此受到严惩，这叫法律认识，法律认识错误是不免责的，理由就是公民应当知法守法。</a:t>
            </a:r>
          </a:p>
          <a:p>
            <a:r>
              <a:rPr lang="en-US" sz="2400" b="1" dirty="0">
                <a:solidFill>
                  <a:schemeClr val="tx1"/>
                </a:solidFill>
              </a:rPr>
              <a:t>       </a:t>
            </a:r>
            <a:r>
              <a:rPr lang="en-US" sz="2400" b="1" dirty="0">
                <a:solidFill>
                  <a:srgbClr val="7030A0"/>
                </a:solidFill>
              </a:rPr>
              <a:t>下列议论文标题中，最合适的两项是（   ）</a:t>
            </a:r>
          </a:p>
          <a:p>
            <a:r>
              <a:rPr lang="en-US" sz="2400" b="1" dirty="0">
                <a:solidFill>
                  <a:srgbClr val="7030A0"/>
                </a:solidFill>
              </a:rPr>
              <a:t>       A. 保护动物，人人有责     </a:t>
            </a:r>
          </a:p>
          <a:p>
            <a:r>
              <a:rPr lang="en-US" sz="2400" b="1" dirty="0">
                <a:solidFill>
                  <a:srgbClr val="7030A0"/>
                </a:solidFill>
              </a:rPr>
              <a:t>       B. 法无情，却有理     </a:t>
            </a:r>
          </a:p>
          <a:p>
            <a:r>
              <a:rPr lang="en-US" sz="2400" b="1" dirty="0">
                <a:solidFill>
                  <a:srgbClr val="7030A0"/>
                </a:solidFill>
              </a:rPr>
              <a:t>       C. 法律也要有温度    </a:t>
            </a:r>
          </a:p>
          <a:p>
            <a:r>
              <a:rPr lang="en-US" sz="2400" b="1" dirty="0">
                <a:solidFill>
                  <a:srgbClr val="7030A0"/>
                </a:solidFill>
              </a:rPr>
              <a:t>       D. 溺爱是毒药      </a:t>
            </a:r>
          </a:p>
          <a:p>
            <a:r>
              <a:rPr lang="en-US" sz="2400" b="1" dirty="0">
                <a:solidFill>
                  <a:srgbClr val="7030A0"/>
                </a:solidFill>
              </a:rPr>
              <a:t>       E. 知识改变命运</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3287" y="0"/>
            <a:ext cx="12115642" cy="4801314"/>
          </a:xfrm>
          <a:prstGeom prst="rect">
            <a:avLst/>
          </a:prstGeom>
        </p:spPr>
        <p:txBody>
          <a:bodyPr wrap="square">
            <a:spAutoFit/>
          </a:bodyPr>
          <a:lstStyle/>
          <a:p>
            <a:pPr fontAlgn="ctr">
              <a:spcAft>
                <a:spcPts val="0"/>
              </a:spcAft>
            </a:pPr>
            <a:r>
              <a:rPr lang="zh-CN" altLang="zh-CN" kern="100" dirty="0">
                <a:latin typeface="Times New Roman" panose="02020603050405020304" pitchFamily="18" charset="0"/>
                <a:cs typeface="宋体" panose="02010600030101010101" pitchFamily="2" charset="-122"/>
              </a:rPr>
              <a:t>材料叙述分为两个部分：第一部分是事件陈述，即大学生小李卖鸟而被判刑</a:t>
            </a:r>
            <a:r>
              <a:rPr lang="zh-CN" altLang="zh-CN" kern="100" dirty="0">
                <a:latin typeface="Times New Roman" panose="02020603050405020304" pitchFamily="18" charset="0"/>
                <a:ea typeface="Times New Romance"/>
                <a:cs typeface="Times New Romance"/>
              </a:rPr>
              <a:t>；</a:t>
            </a:r>
            <a:r>
              <a:rPr lang="zh-CN" altLang="zh-CN" kern="100" dirty="0">
                <a:latin typeface="Times New Roman" panose="02020603050405020304" pitchFamily="18" charset="0"/>
                <a:cs typeface="宋体" panose="02010600030101010101" pitchFamily="2" charset="-122"/>
              </a:rPr>
              <a:t>第二部分是不同看法</a:t>
            </a:r>
            <a:r>
              <a:rPr lang="zh-CN" altLang="zh-CN" kern="100" dirty="0">
                <a:latin typeface="Times New Roman" panose="02020603050405020304" pitchFamily="18" charset="0"/>
                <a:ea typeface="Times New Romance"/>
                <a:cs typeface="Times New Romance"/>
              </a:rPr>
              <a:t>，</a:t>
            </a:r>
            <a:r>
              <a:rPr lang="zh-CN" altLang="zh-CN" kern="100" dirty="0">
                <a:latin typeface="Times New Roman" panose="02020603050405020304" pitchFamily="18" charset="0"/>
                <a:cs typeface="宋体" panose="02010600030101010101" pitchFamily="2" charset="-122"/>
              </a:rPr>
              <a:t>小李父亲的看法和热心网友的看法有一致的地方</a:t>
            </a:r>
            <a:r>
              <a:rPr lang="en-US" altLang="zh-CN" kern="100" dirty="0">
                <a:latin typeface="Times New Roman" panose="02020603050405020304" pitchFamily="18" charset="0"/>
                <a:cs typeface="宋体" panose="02010600030101010101" pitchFamily="2" charset="-122"/>
              </a:rPr>
              <a:t>——</a:t>
            </a:r>
            <a:r>
              <a:rPr lang="zh-CN" altLang="zh-CN" kern="100" dirty="0">
                <a:latin typeface="Times New Roman" panose="02020603050405020304" pitchFamily="18" charset="0"/>
                <a:cs typeface="宋体" panose="02010600030101010101" pitchFamily="2" charset="-122"/>
              </a:rPr>
              <a:t>量刑太重；不同的地方是小李父亲认为逮鸟抓鱼是正常现象。立意时，考生可从父亲、小李、网友、专家等角度立意。如</a:t>
            </a:r>
            <a:r>
              <a:rPr lang="en-US" altLang="zh-CN" kern="100" dirty="0">
                <a:latin typeface="Times New Roman" panose="02020603050405020304" pitchFamily="18" charset="0"/>
                <a:cs typeface="宋体" panose="02010600030101010101" pitchFamily="2" charset="-122"/>
              </a:rPr>
              <a:t>①</a:t>
            </a:r>
            <a:r>
              <a:rPr lang="zh-CN" altLang="zh-CN" kern="100" dirty="0">
                <a:latin typeface="Times New Roman" panose="02020603050405020304" pitchFamily="18" charset="0"/>
                <a:cs typeface="宋体" panose="02010600030101010101" pitchFamily="2" charset="-122"/>
              </a:rPr>
              <a:t>喜欢动物很正常，掏鸟售卖不可谅；</a:t>
            </a:r>
            <a:r>
              <a:rPr lang="en-US" altLang="zh-CN" kern="100" dirty="0">
                <a:latin typeface="Times New Roman" panose="02020603050405020304" pitchFamily="18" charset="0"/>
                <a:cs typeface="宋体" panose="02010600030101010101" pitchFamily="2" charset="-122"/>
              </a:rPr>
              <a:t>②</a:t>
            </a:r>
            <a:r>
              <a:rPr lang="zh-CN" altLang="zh-CN" kern="100" dirty="0">
                <a:latin typeface="Times New Roman" panose="02020603050405020304" pitchFamily="18" charset="0"/>
                <a:cs typeface="宋体" panose="02010600030101010101" pitchFamily="2" charset="-122"/>
              </a:rPr>
              <a:t>法律的意义在于警醒，不在于重刑惩罚；</a:t>
            </a:r>
            <a:r>
              <a:rPr lang="en-US" altLang="zh-CN" kern="100" dirty="0">
                <a:latin typeface="Times New Roman" panose="02020603050405020304" pitchFamily="18" charset="0"/>
                <a:cs typeface="宋体" panose="02010600030101010101" pitchFamily="2" charset="-122"/>
              </a:rPr>
              <a:t>③“</a:t>
            </a:r>
            <a:r>
              <a:rPr lang="zh-CN" altLang="zh-CN" kern="100" dirty="0">
                <a:latin typeface="Times New Roman" panose="02020603050405020304" pitchFamily="18" charset="0"/>
                <a:cs typeface="宋体" panose="02010600030101010101" pitchFamily="2" charset="-122"/>
              </a:rPr>
              <a:t>法盲</a:t>
            </a:r>
            <a:r>
              <a:rPr lang="en-US" altLang="zh-CN" kern="100" dirty="0">
                <a:latin typeface="Times New Roman" panose="02020603050405020304" pitchFamily="18" charset="0"/>
                <a:cs typeface="宋体" panose="02010600030101010101" pitchFamily="2" charset="-122"/>
              </a:rPr>
              <a:t>”</a:t>
            </a:r>
            <a:r>
              <a:rPr lang="zh-CN" altLang="zh-CN" kern="100" dirty="0">
                <a:latin typeface="Times New Roman" panose="02020603050405020304" pitchFamily="18" charset="0"/>
                <a:cs typeface="宋体" panose="02010600030101010101" pitchFamily="2" charset="-122"/>
              </a:rPr>
              <a:t>不是借口，不可免责或者不知情不能成为犯罪理由</a:t>
            </a:r>
            <a:r>
              <a:rPr lang="zh-CN" altLang="zh-CN" kern="100" dirty="0">
                <a:latin typeface="Times New Roman" panose="02020603050405020304" pitchFamily="18" charset="0"/>
                <a:ea typeface="Times New Romance"/>
                <a:cs typeface="Times New Romance"/>
              </a:rPr>
              <a:t>；</a:t>
            </a:r>
            <a:r>
              <a:rPr lang="en-US" altLang="zh-CN" kern="100" dirty="0">
                <a:latin typeface="Times New Roman" panose="02020603050405020304" pitchFamily="18" charset="0"/>
                <a:ea typeface="Times New Romance"/>
                <a:cs typeface="Times New Romance"/>
              </a:rPr>
              <a:t>④10</a:t>
            </a:r>
            <a:r>
              <a:rPr lang="zh-CN" altLang="zh-CN" kern="100" dirty="0">
                <a:latin typeface="Times New Roman" panose="02020603050405020304" pitchFamily="18" charset="0"/>
                <a:cs typeface="宋体" panose="02010600030101010101" pitchFamily="2" charset="-122"/>
              </a:rPr>
              <a:t>年牢狱，对大众的教育意义大于对一个人过错的惩罚</a:t>
            </a:r>
            <a:r>
              <a:rPr lang="zh-CN" altLang="zh-CN" kern="100" dirty="0">
                <a:latin typeface="Times New Roman" panose="02020603050405020304" pitchFamily="18" charset="0"/>
                <a:ea typeface="Times New Romance"/>
                <a:cs typeface="Times New Romance"/>
              </a:rPr>
              <a:t>；</a:t>
            </a:r>
            <a:r>
              <a:rPr lang="en-US" altLang="zh-CN" kern="100" dirty="0">
                <a:latin typeface="宋体" panose="02010600030101010101" pitchFamily="2" charset="-122"/>
                <a:cs typeface="宋体" panose="02010600030101010101" pitchFamily="2" charset="-122"/>
              </a:rPr>
              <a:t>⑤</a:t>
            </a:r>
            <a:r>
              <a:rPr lang="zh-CN" altLang="zh-CN" kern="100" dirty="0">
                <a:latin typeface="Times New Roman" panose="02020603050405020304" pitchFamily="18" charset="0"/>
                <a:cs typeface="宋体" panose="02010600030101010101" pitchFamily="2" charset="-122"/>
              </a:rPr>
              <a:t>从掏鸟到售卖，就是明知故犯</a:t>
            </a:r>
            <a:r>
              <a:rPr lang="zh-CN" altLang="zh-CN" kern="100" dirty="0">
                <a:latin typeface="Times New Roman" panose="02020603050405020304" pitchFamily="18" charset="0"/>
                <a:ea typeface="Times New Romance"/>
                <a:cs typeface="Times New Romance"/>
              </a:rPr>
              <a:t>；</a:t>
            </a:r>
            <a:r>
              <a:rPr lang="en-US" altLang="zh-CN" kern="100" dirty="0">
                <a:latin typeface="宋体" panose="02010600030101010101" pitchFamily="2" charset="-122"/>
                <a:cs typeface="宋体" panose="02010600030101010101" pitchFamily="2" charset="-122"/>
              </a:rPr>
              <a:t>⑥</a:t>
            </a:r>
            <a:r>
              <a:rPr lang="zh-CN" altLang="zh-CN" kern="100" dirty="0">
                <a:latin typeface="Times New Roman" panose="02020603050405020304" pitchFamily="18" charset="0"/>
                <a:cs typeface="宋体" panose="02010600030101010101" pitchFamily="2" charset="-122"/>
              </a:rPr>
              <a:t>对于一个年轻人来说</a:t>
            </a:r>
            <a:r>
              <a:rPr lang="en-US" altLang="zh-CN" kern="100" dirty="0">
                <a:latin typeface="Times New Romance"/>
                <a:ea typeface="Times New Romance"/>
                <a:cs typeface="Times New Romance"/>
              </a:rPr>
              <a:t>10</a:t>
            </a:r>
            <a:r>
              <a:rPr lang="zh-CN" altLang="zh-CN" kern="100" dirty="0">
                <a:latin typeface="Times New Roman" panose="02020603050405020304" pitchFamily="18" charset="0"/>
                <a:cs typeface="宋体" panose="02010600030101010101" pitchFamily="2" charset="-122"/>
              </a:rPr>
              <a:t>年半够重，从鸟的角度去想，这次判决可能是一个重要的命运转变。题干在作文的体裁上没有限制，故考生可以写议论文，先列出现象，然后引出自己的观点，接着分析成因及利弊。分析的时候，要观点明确，论据充足，且论证思路清晰。如写作记叙文，落脚点一定要小，且要注意所叙之事必须真实感人，把握好感情基调，主题要积极向上，注意在行文中将一些真实细腻的情感生动细腻地描写出来；要叙议结合，在叙事中恰当地穿插抒情议论，深化主题。</a:t>
            </a:r>
            <a:endParaRPr lang="zh-CN" altLang="zh-CN" kern="100" dirty="0">
              <a:latin typeface="Times New Roman" panose="02020603050405020304" pitchFamily="18" charset="0"/>
            </a:endParaRPr>
          </a:p>
          <a:p>
            <a:pPr fontAlgn="ctr">
              <a:spcAft>
                <a:spcPts val="0"/>
              </a:spcAft>
            </a:pPr>
            <a:r>
              <a:rPr lang="zh-CN" altLang="zh-CN" kern="100" dirty="0">
                <a:latin typeface="Times New Roman" panose="02020603050405020304" pitchFamily="18" charset="0"/>
                <a:cs typeface="宋体" panose="02010600030101010101" pitchFamily="2" charset="-122"/>
              </a:rPr>
              <a:t>参考如下：</a:t>
            </a:r>
            <a:endParaRPr lang="zh-CN" altLang="zh-CN" kern="100" dirty="0">
              <a:latin typeface="Times New Roman" panose="02020603050405020304" pitchFamily="18" charset="0"/>
            </a:endParaRPr>
          </a:p>
          <a:p>
            <a:pPr fontAlgn="ctr">
              <a:spcAft>
                <a:spcPts val="0"/>
              </a:spcAft>
            </a:pPr>
            <a:r>
              <a:rPr lang="zh-CN" altLang="zh-CN" kern="100" dirty="0">
                <a:latin typeface="Times New Roman" panose="02020603050405020304" pitchFamily="18" charset="0"/>
                <a:cs typeface="宋体" panose="02010600030101010101" pitchFamily="2" charset="-122"/>
              </a:rPr>
              <a:t>无知不可凌驾于法</a:t>
            </a:r>
            <a:endParaRPr lang="zh-CN" altLang="zh-CN" kern="100" dirty="0">
              <a:latin typeface="Times New Roman" panose="02020603050405020304" pitchFamily="18" charset="0"/>
            </a:endParaRPr>
          </a:p>
          <a:p>
            <a:pPr fontAlgn="ctr">
              <a:spcAft>
                <a:spcPts val="0"/>
              </a:spcAft>
            </a:pPr>
            <a:r>
              <a:rPr lang="zh-CN" altLang="zh-CN" kern="100" dirty="0">
                <a:latin typeface="Times New Roman" panose="02020603050405020304" pitchFamily="18" charset="0"/>
                <a:cs typeface="宋体" panose="02010600030101010101" pitchFamily="2" charset="-122"/>
              </a:rPr>
              <a:t>法律至上</a:t>
            </a:r>
            <a:endParaRPr lang="zh-CN" altLang="zh-CN" kern="100" dirty="0">
              <a:latin typeface="Times New Roman" panose="02020603050405020304" pitchFamily="18" charset="0"/>
            </a:endParaRPr>
          </a:p>
          <a:p>
            <a:pPr fontAlgn="ctr">
              <a:spcAft>
                <a:spcPts val="0"/>
              </a:spcAft>
            </a:pPr>
            <a:r>
              <a:rPr lang="zh-CN" altLang="zh-CN" kern="100" dirty="0" smtClean="0">
                <a:latin typeface="Times New Roman" panose="02020603050405020304" pitchFamily="18" charset="0"/>
                <a:cs typeface="宋体" panose="02010600030101010101" pitchFamily="2" charset="-122"/>
              </a:rPr>
              <a:t>法律</a:t>
            </a:r>
            <a:r>
              <a:rPr lang="zh-CN" altLang="zh-CN" kern="100" dirty="0">
                <a:latin typeface="Times New Roman" panose="02020603050405020304" pitchFamily="18" charset="0"/>
                <a:cs typeface="宋体" panose="02010600030101010101" pitchFamily="2" charset="-122"/>
              </a:rPr>
              <a:t>也要有温度</a:t>
            </a:r>
            <a:endParaRPr lang="zh-CN" altLang="zh-CN" kern="100" dirty="0">
              <a:latin typeface="Times New Roman" panose="02020603050405020304" pitchFamily="18" charset="0"/>
            </a:endParaRPr>
          </a:p>
          <a:p>
            <a:pPr fontAlgn="ctr">
              <a:spcAft>
                <a:spcPts val="0"/>
              </a:spcAft>
            </a:pPr>
            <a:r>
              <a:rPr lang="zh-CN" altLang="zh-CN" kern="100" dirty="0">
                <a:latin typeface="Times New Roman" panose="02020603050405020304" pitchFamily="18" charset="0"/>
                <a:cs typeface="宋体" panose="02010600030101010101" pitchFamily="2" charset="-122"/>
              </a:rPr>
              <a:t>法无情，却有理</a:t>
            </a:r>
            <a:endParaRPr lang="zh-CN" altLang="zh-CN" kern="100" dirty="0">
              <a:latin typeface="Times New Roman" panose="02020603050405020304" pitchFamily="18" charset="0"/>
            </a:endParaRPr>
          </a:p>
          <a:p>
            <a:pPr fontAlgn="ctr">
              <a:spcAft>
                <a:spcPts val="0"/>
              </a:spcAft>
            </a:pPr>
            <a:r>
              <a:rPr lang="zh-CN" altLang="zh-CN" kern="100" dirty="0">
                <a:latin typeface="Times New Roman" panose="02020603050405020304" pitchFamily="18" charset="0"/>
                <a:cs typeface="宋体" panose="02010600030101010101" pitchFamily="2" charset="-122"/>
              </a:rPr>
              <a:t>道之以法，齐之以刑</a:t>
            </a:r>
            <a:endParaRPr lang="zh-CN" altLang="zh-CN" kern="100" dirty="0">
              <a:latin typeface="Times New Roman" panose="02020603050405020304" pitchFamily="18" charset="0"/>
            </a:endParaRPr>
          </a:p>
          <a:p>
            <a:pPr fontAlgn="ctr">
              <a:spcAft>
                <a:spcPts val="0"/>
              </a:spcAft>
            </a:pPr>
            <a:r>
              <a:rPr lang="zh-CN" altLang="zh-CN" kern="100" dirty="0">
                <a:latin typeface="Times New Roman" panose="02020603050405020304" pitchFamily="18" charset="0"/>
                <a:cs typeface="宋体" panose="02010600030101010101" pitchFamily="2" charset="-122"/>
              </a:rPr>
              <a:t>法律人情，谁主沉浮</a:t>
            </a:r>
            <a:endParaRPr lang="zh-CN" altLang="zh-CN" kern="100" dirty="0">
              <a:latin typeface="Times New Roman" panose="02020603050405020304" pitchFamily="18" charset="0"/>
            </a:endParaRPr>
          </a:p>
          <a:p>
            <a:pPr fontAlgn="ctr">
              <a:spcAft>
                <a:spcPts val="0"/>
              </a:spcAft>
            </a:pPr>
            <a:r>
              <a:rPr lang="zh-CN" altLang="zh-CN" kern="100" dirty="0">
                <a:latin typeface="Times New Roman" panose="02020603050405020304" pitchFamily="18" charset="0"/>
                <a:cs typeface="宋体" panose="02010600030101010101" pitchFamily="2" charset="-122"/>
              </a:rPr>
              <a:t>明亮的世界应情法交融</a:t>
            </a:r>
            <a:endParaRPr lang="zh-CN" altLang="zh-CN" kern="100" dirty="0">
              <a:latin typeface="Times New Roman" panose="02020603050405020304" pitchFamily="18" charset="0"/>
            </a:endParaRPr>
          </a:p>
        </p:txBody>
      </p:sp>
    </p:spTree>
    <p:extLst>
      <p:ext uri="{BB962C8B-B14F-4D97-AF65-F5344CB8AC3E}">
        <p14:creationId xmlns:p14="http://schemas.microsoft.com/office/powerpoint/2010/main" val="39840501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360" y="307975"/>
            <a:ext cx="11764645" cy="5631180"/>
          </a:xfrm>
          <a:prstGeom prst="rect">
            <a:avLst/>
          </a:prstGeom>
          <a:noFill/>
        </p:spPr>
        <p:txBody>
          <a:bodyPr wrap="square" rtlCol="0">
            <a:spAutoFit/>
          </a:bodyPr>
          <a:lstStyle/>
          <a:p>
            <a:r>
              <a:rPr lang="en-US" sz="2400" b="1" dirty="0">
                <a:solidFill>
                  <a:schemeClr val="tx1"/>
                </a:solidFill>
              </a:rPr>
              <a:t>17. 阅读下面的材料，根据要求写一篇不少于800字的文章。（60分）</a:t>
            </a:r>
          </a:p>
          <a:p>
            <a:r>
              <a:rPr lang="en-US" sz="2400" b="1" dirty="0">
                <a:solidFill>
                  <a:schemeClr val="tx1"/>
                </a:solidFill>
              </a:rPr>
              <a:t>        在广佛中学，有一所自助式图书馆。这里无门、无管理员，借书、还书、借多久、什么时候还，都是靠师生自律。年终盘点，原来十万册图书变成了十万六千多册，当然，虽然增加了六千多册，但原有图书仍有丢失的。</a:t>
            </a:r>
          </a:p>
          <a:p>
            <a:r>
              <a:rPr lang="en-US" sz="2400" b="1" dirty="0">
                <a:solidFill>
                  <a:schemeClr val="tx1"/>
                </a:solidFill>
              </a:rPr>
              <a:t>        此事由微博传出后，“广佛文明网”记者进行了实地采访，以“‘无门图书馆’的诚信之门”为题进行了报道，一时间引发热议。</a:t>
            </a:r>
          </a:p>
          <a:p>
            <a:r>
              <a:rPr lang="en-US" sz="2400" b="1" dirty="0">
                <a:solidFill>
                  <a:schemeClr val="tx1"/>
                </a:solidFill>
              </a:rPr>
              <a:t>       对于以上事件，你怎么看？请写一篇文章，表明你的态度，阐述你的看法。</a:t>
            </a:r>
          </a:p>
          <a:p>
            <a:r>
              <a:rPr lang="en-US" sz="2400" b="1" dirty="0">
                <a:solidFill>
                  <a:schemeClr val="tx1"/>
                </a:solidFill>
              </a:rPr>
              <a:t>要求综合材料内容及含意，选好角度，确定立意，完成写作任务。</a:t>
            </a:r>
          </a:p>
          <a:p>
            <a:endParaRPr lang="en-US" sz="2400" b="1" dirty="0">
              <a:solidFill>
                <a:schemeClr val="tx1"/>
              </a:solidFill>
            </a:endParaRPr>
          </a:p>
          <a:p>
            <a:r>
              <a:rPr lang="en-US" sz="2400" b="1" dirty="0">
                <a:solidFill>
                  <a:schemeClr val="tx1"/>
                </a:solidFill>
              </a:rPr>
              <a:t>      </a:t>
            </a:r>
            <a:r>
              <a:rPr lang="en-US" sz="2400" b="1" dirty="0">
                <a:solidFill>
                  <a:srgbClr val="7030A0"/>
                </a:solidFill>
              </a:rPr>
              <a:t>下列议论文标题中，最不合适的两项是（   ）</a:t>
            </a:r>
          </a:p>
          <a:p>
            <a:r>
              <a:rPr lang="en-US" sz="2400" b="1" dirty="0">
                <a:solidFill>
                  <a:srgbClr val="7030A0"/>
                </a:solidFill>
                <a:sym typeface="+mn-ea"/>
              </a:rPr>
              <a:t>      </a:t>
            </a:r>
            <a:r>
              <a:rPr lang="en-US" sz="2400" b="1" dirty="0">
                <a:solidFill>
                  <a:srgbClr val="7030A0"/>
                </a:solidFill>
              </a:rPr>
              <a:t>A. 开诚信之门，造社会新风     </a:t>
            </a:r>
          </a:p>
          <a:p>
            <a:r>
              <a:rPr lang="en-US" sz="2400" b="1" dirty="0">
                <a:solidFill>
                  <a:srgbClr val="7030A0"/>
                </a:solidFill>
                <a:sym typeface="+mn-ea"/>
              </a:rPr>
              <a:t>      </a:t>
            </a:r>
            <a:r>
              <a:rPr lang="en-US" sz="2400" b="1" dirty="0">
                <a:solidFill>
                  <a:srgbClr val="7030A0"/>
                </a:solidFill>
              </a:rPr>
              <a:t>B. 用制度之门维护图书馆      </a:t>
            </a:r>
          </a:p>
          <a:p>
            <a:r>
              <a:rPr lang="en-US" sz="2400" b="1" dirty="0">
                <a:solidFill>
                  <a:srgbClr val="7030A0"/>
                </a:solidFill>
                <a:sym typeface="+mn-ea"/>
              </a:rPr>
              <a:t>      </a:t>
            </a:r>
            <a:r>
              <a:rPr lang="en-US" sz="2400" b="1" dirty="0">
                <a:solidFill>
                  <a:srgbClr val="7030A0"/>
                </a:solidFill>
              </a:rPr>
              <a:t>C. 自律与幸福       </a:t>
            </a:r>
          </a:p>
          <a:p>
            <a:r>
              <a:rPr lang="en-US" sz="2400" b="1" dirty="0">
                <a:solidFill>
                  <a:srgbClr val="7030A0"/>
                </a:solidFill>
                <a:sym typeface="+mn-ea"/>
              </a:rPr>
              <a:t>      </a:t>
            </a:r>
            <a:r>
              <a:rPr lang="en-US" sz="2400" b="1" dirty="0">
                <a:solidFill>
                  <a:srgbClr val="7030A0"/>
                </a:solidFill>
              </a:rPr>
              <a:t>D. 提升文明需自律       </a:t>
            </a:r>
          </a:p>
          <a:p>
            <a:r>
              <a:rPr lang="en-US" sz="2400" b="1" dirty="0">
                <a:solidFill>
                  <a:srgbClr val="7030A0"/>
                </a:solidFill>
                <a:sym typeface="+mn-ea"/>
              </a:rPr>
              <a:t>      </a:t>
            </a:r>
            <a:r>
              <a:rPr lang="en-US" sz="2400" b="1" dirty="0">
                <a:solidFill>
                  <a:srgbClr val="7030A0"/>
                </a:solidFill>
              </a:rPr>
              <a:t>E. 爱护书籍，从我做起</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156845"/>
            <a:ext cx="11764645" cy="6369685"/>
          </a:xfrm>
          <a:prstGeom prst="rect">
            <a:avLst/>
          </a:prstGeom>
          <a:noFill/>
        </p:spPr>
        <p:txBody>
          <a:bodyPr wrap="square" rtlCol="0">
            <a:spAutoFit/>
          </a:bodyPr>
          <a:lstStyle/>
          <a:p>
            <a:r>
              <a:rPr lang="en-US" sz="2400" b="1" dirty="0">
                <a:solidFill>
                  <a:schemeClr val="tx1"/>
                </a:solidFill>
              </a:rPr>
              <a:t>18. 某报为了发掘有温度和人情味的新闻，引导读者以温暖的视角看待社会，开设了《暖闻》专栏。编辑部收到三则新闻：</a:t>
            </a:r>
          </a:p>
          <a:p>
            <a:r>
              <a:rPr lang="en-US" sz="2400" b="1" dirty="0">
                <a:solidFill>
                  <a:schemeClr val="tx1"/>
                </a:solidFill>
              </a:rPr>
              <a:t>        一位卖油条的青年多年坚持不用有害的“复炸油”炸油条，给顾客提供新鲜健康的油条，被网友称赞为最帅的良心“油条哥”。</a:t>
            </a:r>
          </a:p>
          <a:p>
            <a:r>
              <a:rPr lang="en-US" sz="2400" b="1" dirty="0">
                <a:solidFill>
                  <a:schemeClr val="tx1"/>
                </a:solidFill>
              </a:rPr>
              <a:t>        一位老父亲从外地来医院看望儿子，看到儿子正在坐诊，忙得抬不起头，根本说不上话。老人家</a:t>
            </a:r>
            <a:r>
              <a:rPr lang="zh-CN" altLang="en-US" sz="2400" b="1" dirty="0">
                <a:solidFill>
                  <a:schemeClr val="tx1"/>
                </a:solidFill>
              </a:rPr>
              <a:t>不忍打扰，</a:t>
            </a:r>
            <a:r>
              <a:rPr lang="en-US" sz="2400" b="1" dirty="0">
                <a:solidFill>
                  <a:schemeClr val="tx1"/>
                </a:solidFill>
              </a:rPr>
              <a:t>等了两个多小时后，只好挂了个号，和儿子见了一面。</a:t>
            </a:r>
          </a:p>
          <a:p>
            <a:r>
              <a:rPr lang="en-US" sz="2400" b="1" dirty="0">
                <a:solidFill>
                  <a:schemeClr val="tx1"/>
                </a:solidFill>
              </a:rPr>
              <a:t>        某地举办珍品画展，一位男孩在探身观赏时不慎跌倒，损害一副珍贵名画，主办方认为男孩只有12岁，又不是故意的，因此仅备案而未报案，希望男孩的心理不要受到影响。</a:t>
            </a:r>
          </a:p>
          <a:p>
            <a:r>
              <a:rPr lang="en-US" sz="2400" b="1" dirty="0">
                <a:solidFill>
                  <a:schemeClr val="tx1"/>
                </a:solidFill>
              </a:rPr>
              <a:t>       从以上新闻中选择一则刊登在《暖闻》专栏中，你认为哪一则更合适？请综合材料内容及含意作文，体现你的思考、权衡与选择。</a:t>
            </a:r>
          </a:p>
          <a:p>
            <a:r>
              <a:rPr lang="en-US" sz="2400" b="1" dirty="0">
                <a:solidFill>
                  <a:schemeClr val="tx1"/>
                </a:solidFill>
              </a:rPr>
              <a:t>       下列议论文标题中，最合适的两项是（    ）</a:t>
            </a:r>
          </a:p>
          <a:p>
            <a:pPr algn="l">
              <a:buClrTx/>
              <a:buSzTx/>
              <a:buFontTx/>
            </a:pPr>
            <a:r>
              <a:rPr lang="en-US" sz="2400" b="1" dirty="0">
                <a:sym typeface="+mn-ea"/>
              </a:rPr>
              <a:t>       </a:t>
            </a:r>
            <a:r>
              <a:rPr lang="en-US" sz="2400" b="1" dirty="0">
                <a:solidFill>
                  <a:srgbClr val="7030A0"/>
                </a:solidFill>
              </a:rPr>
              <a:t>A. “油条哥”义举暖人间      </a:t>
            </a:r>
          </a:p>
          <a:p>
            <a:pPr algn="l">
              <a:buClrTx/>
              <a:buSzTx/>
              <a:buFontTx/>
            </a:pPr>
            <a:r>
              <a:rPr lang="en-US" sz="2400" b="1" dirty="0">
                <a:solidFill>
                  <a:srgbClr val="7030A0"/>
                </a:solidFill>
                <a:sym typeface="+mn-ea"/>
              </a:rPr>
              <a:t>       </a:t>
            </a:r>
            <a:r>
              <a:rPr lang="en-US" sz="2400" b="1" dirty="0">
                <a:solidFill>
                  <a:srgbClr val="7030A0"/>
                </a:solidFill>
              </a:rPr>
              <a:t>B. 父子情深，多份理解更暖心         </a:t>
            </a:r>
          </a:p>
          <a:p>
            <a:pPr algn="l">
              <a:buClrTx/>
              <a:buSzTx/>
              <a:buFontTx/>
            </a:pPr>
            <a:r>
              <a:rPr lang="en-US" sz="2400" b="1" dirty="0">
                <a:solidFill>
                  <a:srgbClr val="7030A0"/>
                </a:solidFill>
                <a:sym typeface="+mn-ea"/>
              </a:rPr>
              <a:t>       </a:t>
            </a:r>
            <a:r>
              <a:rPr lang="en-US" sz="2400" b="1" dirty="0">
                <a:solidFill>
                  <a:srgbClr val="7030A0"/>
                </a:solidFill>
              </a:rPr>
              <a:t>C. 暖闻暖心，温暖社会         </a:t>
            </a:r>
          </a:p>
          <a:p>
            <a:pPr algn="l">
              <a:buClrTx/>
              <a:buSzTx/>
              <a:buFontTx/>
            </a:pPr>
            <a:r>
              <a:rPr lang="en-US" sz="2400" b="1" dirty="0">
                <a:solidFill>
                  <a:srgbClr val="7030A0"/>
                </a:solidFill>
                <a:sym typeface="+mn-ea"/>
              </a:rPr>
              <a:t>       </a:t>
            </a:r>
            <a:r>
              <a:rPr lang="en-US" sz="2400" b="1" dirty="0">
                <a:solidFill>
                  <a:srgbClr val="7030A0"/>
                </a:solidFill>
              </a:rPr>
              <a:t>D. 愿阳光温暖你的眼睛          </a:t>
            </a:r>
          </a:p>
          <a:p>
            <a:pPr algn="l">
              <a:buClrTx/>
              <a:buSzTx/>
              <a:buFontTx/>
            </a:pPr>
            <a:r>
              <a:rPr lang="en-US" sz="2400" b="1" dirty="0">
                <a:solidFill>
                  <a:srgbClr val="7030A0"/>
                </a:solidFill>
                <a:sym typeface="+mn-ea"/>
              </a:rPr>
              <a:t>       </a:t>
            </a:r>
            <a:r>
              <a:rPr lang="en-US" sz="2400" b="1" dirty="0">
                <a:solidFill>
                  <a:srgbClr val="7030A0"/>
                </a:solidFill>
              </a:rPr>
              <a:t>E. 呵护心理健康，人人有责</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156845"/>
            <a:ext cx="11764645" cy="6369685"/>
          </a:xfrm>
          <a:prstGeom prst="rect">
            <a:avLst/>
          </a:prstGeom>
          <a:noFill/>
        </p:spPr>
        <p:txBody>
          <a:bodyPr wrap="square" rtlCol="0">
            <a:spAutoFit/>
          </a:bodyPr>
          <a:lstStyle/>
          <a:p>
            <a:r>
              <a:rPr lang="en-US" sz="2400" b="1" dirty="0">
                <a:solidFill>
                  <a:schemeClr val="tx1"/>
                </a:solidFill>
              </a:rPr>
              <a:t>19. 阅读下面的材料，根据要求写一篇不少于800字的文章。  （60分）</a:t>
            </a:r>
          </a:p>
          <a:p>
            <a:r>
              <a:rPr lang="en-US" sz="2400" b="1" dirty="0">
                <a:solidFill>
                  <a:schemeClr val="tx1"/>
                </a:solidFill>
              </a:rPr>
              <a:t>       杭州图书馆允许拾荒者、无业游民入馆，让他们在设有空调的书馆内免费阅读、看影视、上网、听音乐。图书馆对他们的唯一要求，就是把手洗干净再阅读。这个做法已经坚持了十余年。因此，杭州图书馆被称赞为“史上最温暖的图书馆”。</a:t>
            </a:r>
          </a:p>
          <a:p>
            <a:r>
              <a:rPr lang="en-US" sz="2400" b="1" dirty="0">
                <a:solidFill>
                  <a:schemeClr val="tx1"/>
                </a:solidFill>
              </a:rPr>
              <a:t>      曾有读者对身边的流浪读者散发异味而感到不满，无法接受，说允许他们进图书馆是对其他人的不尊重。对此，馆长回答，我无权拒绝他们入内读书，您如觉不便可更换座位，或者选择离开。</a:t>
            </a:r>
          </a:p>
          <a:p>
            <a:r>
              <a:rPr lang="en-US" sz="2400" b="1" dirty="0">
                <a:solidFill>
                  <a:schemeClr val="tx1"/>
                </a:solidFill>
              </a:rPr>
              <a:t>      对于以上</a:t>
            </a:r>
            <a:r>
              <a:rPr lang="zh-CN" altLang="en-US" sz="2400" b="1" dirty="0">
                <a:solidFill>
                  <a:schemeClr val="tx1"/>
                </a:solidFill>
              </a:rPr>
              <a:t>事件</a:t>
            </a:r>
            <a:r>
              <a:rPr lang="en-US" sz="2400" b="1" dirty="0">
                <a:solidFill>
                  <a:schemeClr val="tx1"/>
                </a:solidFill>
              </a:rPr>
              <a:t>，你怎么看？请将你的看法写一篇评论。要求综合材料内容及含义，体现你的思考。选好角度，确定立意，明确文体，自拟标题；不要套作，不得抄袭。</a:t>
            </a:r>
          </a:p>
          <a:p>
            <a:r>
              <a:rPr lang="en-US" sz="2400" b="1" dirty="0">
                <a:sym typeface="+mn-ea"/>
              </a:rPr>
              <a:t>      </a:t>
            </a:r>
          </a:p>
          <a:p>
            <a:r>
              <a:rPr lang="en-US" sz="2400" b="1" dirty="0">
                <a:sym typeface="+mn-ea"/>
              </a:rPr>
              <a:t>     </a:t>
            </a:r>
            <a:r>
              <a:rPr lang="en-US" sz="2400" b="1" dirty="0">
                <a:solidFill>
                  <a:schemeClr val="tx1"/>
                </a:solidFill>
              </a:rPr>
              <a:t>下列议论文标题中，最</a:t>
            </a:r>
            <a:r>
              <a:rPr lang="zh-CN" altLang="en-US" sz="2400" b="1" dirty="0">
                <a:solidFill>
                  <a:schemeClr val="tx1"/>
                </a:solidFill>
              </a:rPr>
              <a:t>不</a:t>
            </a:r>
            <a:r>
              <a:rPr lang="en-US" sz="2400" b="1" dirty="0">
                <a:solidFill>
                  <a:schemeClr val="tx1"/>
                </a:solidFill>
              </a:rPr>
              <a:t>合适的两项是（     ）</a:t>
            </a:r>
          </a:p>
          <a:p>
            <a:r>
              <a:rPr lang="en-US" sz="2400" b="1" dirty="0">
                <a:sym typeface="+mn-ea"/>
              </a:rPr>
              <a:t>      </a:t>
            </a:r>
            <a:r>
              <a:rPr lang="en-US" sz="2400" b="1" dirty="0">
                <a:solidFill>
                  <a:srgbClr val="7030A0"/>
                </a:solidFill>
              </a:rPr>
              <a:t>A. 尊重每一份灵魂        </a:t>
            </a:r>
          </a:p>
          <a:p>
            <a:r>
              <a:rPr lang="en-US" sz="2400" b="1" dirty="0">
                <a:sym typeface="+mn-ea"/>
              </a:rPr>
              <a:t>      </a:t>
            </a:r>
            <a:r>
              <a:rPr lang="en-US" sz="2400" b="1" dirty="0">
                <a:solidFill>
                  <a:srgbClr val="7030A0"/>
                </a:solidFill>
              </a:rPr>
              <a:t>B. 坚持就是胜利      </a:t>
            </a:r>
          </a:p>
          <a:p>
            <a:r>
              <a:rPr lang="en-US" sz="2400" b="1" dirty="0">
                <a:sym typeface="+mn-ea"/>
              </a:rPr>
              <a:t>      </a:t>
            </a:r>
            <a:r>
              <a:rPr lang="en-US" sz="2400" b="1" dirty="0">
                <a:solidFill>
                  <a:srgbClr val="7030A0"/>
                </a:solidFill>
              </a:rPr>
              <a:t>C. 温暖，无处不在</a:t>
            </a:r>
          </a:p>
          <a:p>
            <a:r>
              <a:rPr lang="en-US" sz="2400" b="1" dirty="0">
                <a:sym typeface="+mn-ea"/>
              </a:rPr>
              <a:t>      </a:t>
            </a:r>
            <a:r>
              <a:rPr lang="en-US" sz="2400" b="1" dirty="0">
                <a:solidFill>
                  <a:srgbClr val="7030A0"/>
                </a:solidFill>
              </a:rPr>
              <a:t>D. 悦纳别人，就是悦纳自己        </a:t>
            </a:r>
          </a:p>
          <a:p>
            <a:r>
              <a:rPr lang="en-US" sz="2400" b="1" dirty="0">
                <a:sym typeface="+mn-ea"/>
              </a:rPr>
              <a:t>      </a:t>
            </a:r>
            <a:r>
              <a:rPr lang="en-US" sz="2400" b="1" dirty="0">
                <a:solidFill>
                  <a:srgbClr val="7030A0"/>
                </a:solidFill>
              </a:rPr>
              <a:t>E. 用尊重，给文明以存在的价值</a:t>
            </a:r>
          </a:p>
          <a:p>
            <a:endParaRPr lang="en-US" sz="2400" b="1" dirty="0">
              <a:solidFill>
                <a:srgbClr val="7030A0"/>
              </a:solidFill>
            </a:endParaRP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156845"/>
            <a:ext cx="11764645" cy="7108825"/>
          </a:xfrm>
          <a:prstGeom prst="rect">
            <a:avLst/>
          </a:prstGeom>
          <a:noFill/>
        </p:spPr>
        <p:txBody>
          <a:bodyPr wrap="square" rtlCol="0">
            <a:spAutoFit/>
          </a:bodyPr>
          <a:lstStyle/>
          <a:p>
            <a:r>
              <a:rPr lang="en-US" sz="2400" b="1" dirty="0">
                <a:sym typeface="+mn-ea"/>
              </a:rPr>
              <a:t>20.阅读下面的材料，根据要求写一篇不少于800字的文章。</a:t>
            </a:r>
            <a:endParaRPr lang="en-US" sz="2400" b="1" dirty="0">
              <a:solidFill>
                <a:schemeClr val="tx1"/>
              </a:solidFill>
            </a:endParaRPr>
          </a:p>
          <a:p>
            <a:r>
              <a:rPr lang="en-US" sz="2400" b="1" dirty="0">
                <a:sym typeface="+mn-ea"/>
              </a:rPr>
              <a:t>        一部署名为罗伯特•加尔布雷特的侦探小说《杜鹃鸟的呼唤》面世后颇受好评。出版商表示，侦查员出身的作者退伍后从事安保行业，本书是其处女作。不过作者的新手身份因写法娴熟而被质疑。后经媒体多方调查证实，罗伯特•加尔布雷特是大名鼎鼎的《哈利•波特》作者Ｊ•Ｋ•罗琳的新笔名。被“揭穿”身份后，罗琳说希望这个秘密保持得更久一点，因为她隐瞒身份后看到关于小说的真实评论时，感受到的欢乐更加纯粹。</a:t>
            </a:r>
            <a:endParaRPr lang="en-US" sz="2400" b="1" dirty="0">
              <a:solidFill>
                <a:schemeClr val="tx1"/>
              </a:solidFill>
            </a:endParaRPr>
          </a:p>
          <a:p>
            <a:r>
              <a:rPr lang="en-US" sz="2400" b="1" dirty="0">
                <a:sym typeface="+mn-ea"/>
              </a:rPr>
              <a:t>      对于以上事情，你怎么看？请给罗琳、出版商或其他相关方写一封信，表明你的态度，阐述你的看法。</a:t>
            </a:r>
            <a:endParaRPr lang="en-US" sz="2400" b="1" dirty="0">
              <a:solidFill>
                <a:schemeClr val="tx1"/>
              </a:solidFill>
            </a:endParaRPr>
          </a:p>
          <a:p>
            <a:r>
              <a:rPr lang="en-US" sz="2400" b="1" dirty="0">
                <a:sym typeface="+mn-ea"/>
              </a:rPr>
              <a:t>      要求综合材料内容及含义，选好角度，确定立意，完成写作任务。明确收信人，统一以“</a:t>
            </a:r>
            <a:r>
              <a:rPr lang="zh-CN" altLang="en-US" sz="2400" b="1" dirty="0">
                <a:sym typeface="+mn-ea"/>
              </a:rPr>
              <a:t>张明</a:t>
            </a:r>
            <a:r>
              <a:rPr lang="en-US" sz="2400" b="1" dirty="0">
                <a:sym typeface="+mn-ea"/>
              </a:rPr>
              <a:t>”为写信人，不得泄露个人信息。</a:t>
            </a:r>
          </a:p>
          <a:p>
            <a:endParaRPr lang="en-US" sz="2400" b="1" dirty="0">
              <a:solidFill>
                <a:schemeClr val="tx1"/>
              </a:solidFill>
            </a:endParaRPr>
          </a:p>
          <a:p>
            <a:r>
              <a:rPr lang="en-US" sz="2400" b="1" dirty="0">
                <a:sym typeface="+mn-ea"/>
              </a:rPr>
              <a:t>      下列议论文标题中，最合适的两项是（   ）</a:t>
            </a:r>
            <a:endParaRPr lang="en-US" sz="2400" b="1" dirty="0">
              <a:solidFill>
                <a:schemeClr val="tx1"/>
              </a:solidFill>
            </a:endParaRPr>
          </a:p>
          <a:p>
            <a:r>
              <a:rPr lang="en-US" sz="2400" b="1" dirty="0">
                <a:sym typeface="+mn-ea"/>
              </a:rPr>
              <a:t>      </a:t>
            </a:r>
            <a:r>
              <a:rPr lang="en-US" sz="2400" b="1" dirty="0">
                <a:solidFill>
                  <a:srgbClr val="7030A0"/>
                </a:solidFill>
                <a:sym typeface="+mn-ea"/>
              </a:rPr>
              <a:t>A. 做真实的自己     </a:t>
            </a:r>
            <a:endParaRPr lang="en-US" sz="2400" b="1" dirty="0">
              <a:solidFill>
                <a:srgbClr val="7030A0"/>
              </a:solidFill>
            </a:endParaRPr>
          </a:p>
          <a:p>
            <a:r>
              <a:rPr lang="en-US" sz="2400" b="1" dirty="0">
                <a:solidFill>
                  <a:srgbClr val="7030A0"/>
                </a:solidFill>
                <a:sym typeface="+mn-ea"/>
              </a:rPr>
              <a:t>      B. 放下盛名，重新出发     </a:t>
            </a:r>
            <a:endParaRPr lang="en-US" sz="2400" b="1" dirty="0">
              <a:solidFill>
                <a:srgbClr val="7030A0"/>
              </a:solidFill>
            </a:endParaRPr>
          </a:p>
          <a:p>
            <a:r>
              <a:rPr lang="en-US" sz="2400" b="1" dirty="0">
                <a:solidFill>
                  <a:srgbClr val="7030A0"/>
                </a:solidFill>
                <a:sym typeface="+mn-ea"/>
              </a:rPr>
              <a:t>      C. 更爱你只愿享受纯粹快乐的态度       </a:t>
            </a:r>
            <a:endParaRPr lang="en-US" sz="2400" b="1" dirty="0">
              <a:solidFill>
                <a:srgbClr val="7030A0"/>
              </a:solidFill>
            </a:endParaRPr>
          </a:p>
          <a:p>
            <a:r>
              <a:rPr lang="en-US" sz="2400" b="1" dirty="0">
                <a:solidFill>
                  <a:srgbClr val="7030A0"/>
                </a:solidFill>
                <a:sym typeface="+mn-ea"/>
              </a:rPr>
              <a:t>      D. 盛名之下         </a:t>
            </a:r>
            <a:endParaRPr lang="en-US" sz="2400" b="1" dirty="0">
              <a:solidFill>
                <a:srgbClr val="7030A0"/>
              </a:solidFill>
            </a:endParaRPr>
          </a:p>
          <a:p>
            <a:r>
              <a:rPr lang="en-US" sz="2400" b="1" dirty="0">
                <a:solidFill>
                  <a:srgbClr val="7030A0"/>
                </a:solidFill>
                <a:sym typeface="+mn-ea"/>
              </a:rPr>
              <a:t>      E. 沉默是金</a:t>
            </a:r>
            <a:endParaRPr lang="en-US" sz="2400" b="1" dirty="0">
              <a:solidFill>
                <a:srgbClr val="7030A0"/>
              </a:solidFill>
            </a:endParaRPr>
          </a:p>
          <a:p>
            <a:endParaRPr lang="en-US" sz="2400" b="1" dirty="0">
              <a:solidFill>
                <a:srgbClr val="7030A0"/>
              </a:solidFill>
            </a:endParaRP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BC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243840"/>
            <a:ext cx="11764645" cy="6739255"/>
          </a:xfrm>
          <a:prstGeom prst="rect">
            <a:avLst/>
          </a:prstGeom>
          <a:noFill/>
        </p:spPr>
        <p:txBody>
          <a:bodyPr wrap="square" rtlCol="0">
            <a:spAutoFit/>
          </a:bodyPr>
          <a:lstStyle/>
          <a:p>
            <a:r>
              <a:rPr lang="en-US" sz="2400" b="1" dirty="0">
                <a:sym typeface="+mn-ea"/>
              </a:rPr>
              <a:t>21. 阅读下面的材料，根据要求写一篇不少于800字的文章。</a:t>
            </a:r>
            <a:endParaRPr lang="en-US" sz="2400" b="1" dirty="0">
              <a:solidFill>
                <a:schemeClr val="tx1"/>
              </a:solidFill>
            </a:endParaRPr>
          </a:p>
          <a:p>
            <a:r>
              <a:rPr lang="en-US" sz="2400" b="1" dirty="0">
                <a:sym typeface="+mn-ea"/>
              </a:rPr>
              <a:t>       春节期间，有一组调侃春运艰辛的照片在网上流传。照片中，很多头绵羊和旅客挤在火车车厢里，场景甚是混乱、滑稽，引来网友的一片指责与嘲笑。后来照片拍摄者在微博上澄清，这组图片摄于四川大凉山深处。过年了，乡亲们须把绵羊赶到县城去卖个好价钱，但当地道路崎岖，交通非常不便，这趟列车是当地百姓出行唯一的一趟慢车。虽然按规定列车上不准携带活的动物，但列车员心疼山里百姓也就默许了，因为百姓家里孩子上学和必要的生活物品全指望它换钱呢。真相披露后，引发更大范围的讨论。</a:t>
            </a:r>
            <a:endParaRPr lang="en-US" sz="2400" b="1" dirty="0">
              <a:solidFill>
                <a:schemeClr val="tx1"/>
              </a:solidFill>
            </a:endParaRPr>
          </a:p>
          <a:p>
            <a:r>
              <a:rPr lang="en-US" sz="2400" b="1" dirty="0">
                <a:sym typeface="+mn-ea"/>
              </a:rPr>
              <a:t>       对于以上事情，你怎么看？请综合材料内容及含意作文，要求选好角度，确定立意，明确文体，自拟标题；不要套作，不得抄袭。</a:t>
            </a:r>
            <a:endParaRPr lang="en-US" sz="2400" b="1" dirty="0">
              <a:solidFill>
                <a:schemeClr val="tx1"/>
              </a:solidFill>
            </a:endParaRPr>
          </a:p>
          <a:p>
            <a:r>
              <a:rPr lang="en-US" sz="2400" b="1" dirty="0">
                <a:sym typeface="+mn-ea"/>
              </a:rPr>
              <a:t>       </a:t>
            </a:r>
          </a:p>
          <a:p>
            <a:r>
              <a:rPr lang="en-US" sz="2400" b="1" dirty="0">
                <a:sym typeface="+mn-ea"/>
              </a:rPr>
              <a:t>      下列议论文标题中，最合适的两项是（      ）</a:t>
            </a:r>
            <a:endParaRPr lang="en-US" sz="2400" b="1" dirty="0">
              <a:solidFill>
                <a:schemeClr val="tx1"/>
              </a:solidFill>
            </a:endParaRPr>
          </a:p>
          <a:p>
            <a:r>
              <a:rPr lang="en-US" sz="2400" b="1" dirty="0">
                <a:sym typeface="+mn-ea"/>
              </a:rPr>
              <a:t>       </a:t>
            </a:r>
            <a:r>
              <a:rPr lang="en-US" sz="2400" b="1" dirty="0">
                <a:solidFill>
                  <a:srgbClr val="7030A0"/>
                </a:solidFill>
                <a:sym typeface="+mn-ea"/>
              </a:rPr>
              <a:t>A. 寻求真相，发现美好       </a:t>
            </a:r>
            <a:endParaRPr lang="en-US" sz="2400" b="1" dirty="0">
              <a:solidFill>
                <a:srgbClr val="7030A0"/>
              </a:solidFill>
            </a:endParaRPr>
          </a:p>
          <a:p>
            <a:r>
              <a:rPr lang="en-US" sz="2400" b="1" dirty="0">
                <a:solidFill>
                  <a:srgbClr val="7030A0"/>
                </a:solidFill>
                <a:sym typeface="+mn-ea"/>
              </a:rPr>
              <a:t>       B. 规则需要弹性，弹性</a:t>
            </a:r>
            <a:r>
              <a:rPr lang="zh-CN" altLang="en-US" sz="2400" b="1" dirty="0">
                <a:solidFill>
                  <a:srgbClr val="7030A0"/>
                </a:solidFill>
                <a:sym typeface="+mn-ea"/>
              </a:rPr>
              <a:t>亦须</a:t>
            </a:r>
            <a:r>
              <a:rPr lang="en-US" sz="2400" b="1" dirty="0">
                <a:solidFill>
                  <a:srgbClr val="7030A0"/>
                </a:solidFill>
                <a:sym typeface="+mn-ea"/>
              </a:rPr>
              <a:t>有度</a:t>
            </a:r>
            <a:endParaRPr lang="en-US" sz="2400" b="1" dirty="0">
              <a:solidFill>
                <a:srgbClr val="7030A0"/>
              </a:solidFill>
            </a:endParaRPr>
          </a:p>
          <a:p>
            <a:r>
              <a:rPr lang="en-US" sz="2400" b="1" dirty="0">
                <a:solidFill>
                  <a:srgbClr val="7030A0"/>
                </a:solidFill>
                <a:sym typeface="+mn-ea"/>
              </a:rPr>
              <a:t>       C. 移风易俗，势在必行      </a:t>
            </a:r>
            <a:endParaRPr lang="en-US" sz="2400" b="1" dirty="0">
              <a:solidFill>
                <a:srgbClr val="7030A0"/>
              </a:solidFill>
            </a:endParaRPr>
          </a:p>
          <a:p>
            <a:r>
              <a:rPr lang="en-US" sz="2400" b="1" dirty="0">
                <a:solidFill>
                  <a:srgbClr val="7030A0"/>
                </a:solidFill>
                <a:sym typeface="+mn-ea"/>
              </a:rPr>
              <a:t>       D. 规则              </a:t>
            </a:r>
            <a:endParaRPr lang="en-US" sz="2400" b="1" dirty="0">
              <a:solidFill>
                <a:srgbClr val="7030A0"/>
              </a:solidFill>
            </a:endParaRPr>
          </a:p>
          <a:p>
            <a:r>
              <a:rPr lang="en-US" sz="2400" b="1" dirty="0">
                <a:solidFill>
                  <a:srgbClr val="7030A0"/>
                </a:solidFill>
                <a:sym typeface="+mn-ea"/>
              </a:rPr>
              <a:t>       E. 真相并不遥远</a:t>
            </a:r>
            <a:endParaRPr lang="en-US" sz="2400" b="1" dirty="0">
              <a:solidFill>
                <a:srgbClr val="7030A0"/>
              </a:solidFill>
            </a:endParaRPr>
          </a:p>
          <a:p>
            <a:endParaRPr lang="en-US" sz="2400" b="1" dirty="0">
              <a:solidFill>
                <a:srgbClr val="7030A0"/>
              </a:solidFill>
            </a:endParaRP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156845"/>
            <a:ext cx="11764645" cy="6554470"/>
          </a:xfrm>
          <a:prstGeom prst="rect">
            <a:avLst/>
          </a:prstGeom>
          <a:noFill/>
        </p:spPr>
        <p:txBody>
          <a:bodyPr wrap="square" rtlCol="0">
            <a:spAutoFit/>
          </a:bodyPr>
          <a:lstStyle/>
          <a:p>
            <a:r>
              <a:rPr lang="en-US" sz="2800" b="1" dirty="0">
                <a:sym typeface="+mn-ea"/>
              </a:rPr>
              <a:t>22. 阅读下面材料，根据要求写一篇不少于800字的文章：</a:t>
            </a:r>
            <a:endParaRPr lang="en-US" sz="2800" b="1" dirty="0">
              <a:solidFill>
                <a:schemeClr val="tx1"/>
              </a:solidFill>
            </a:endParaRPr>
          </a:p>
          <a:p>
            <a:r>
              <a:rPr lang="en-US" sz="2800" b="1" dirty="0">
                <a:sym typeface="+mn-ea"/>
              </a:rPr>
              <a:t>       高考成绩下来后，小章同学的成绩刚够本省二本段，小章犹豫不决：上二本，就得到偏远</a:t>
            </a:r>
            <a:r>
              <a:rPr lang="zh-CN" altLang="en-US" sz="2800" b="1" dirty="0">
                <a:sym typeface="+mn-ea"/>
              </a:rPr>
              <a:t>城市</a:t>
            </a:r>
            <a:r>
              <a:rPr lang="en-US" sz="2800" b="1" dirty="0">
                <a:sym typeface="+mn-ea"/>
              </a:rPr>
              <a:t>，将来就业就可能留在那里；要上高职专科，一辈子可能就是蓝领，难以出人头地：如果复读，又担心明年上不了一本，又耽误一年。</a:t>
            </a:r>
            <a:endParaRPr lang="en-US" sz="2800" b="1" dirty="0">
              <a:solidFill>
                <a:schemeClr val="tx1"/>
              </a:solidFill>
            </a:endParaRPr>
          </a:p>
          <a:p>
            <a:r>
              <a:rPr lang="en-US" sz="2800" b="1" dirty="0">
                <a:sym typeface="+mn-ea"/>
              </a:rPr>
              <a:t>       假如你是小章的同学，根据小章的情况，给小章同学写一封信。综合材料内容及含义，入情入理</a:t>
            </a:r>
            <a:r>
              <a:rPr lang="zh-CN" altLang="en-US" sz="2800" b="1" dirty="0">
                <a:sym typeface="+mn-ea"/>
              </a:rPr>
              <a:t>地</a:t>
            </a:r>
            <a:r>
              <a:rPr lang="en-US" sz="2800" b="1" dirty="0">
                <a:sym typeface="+mn-ea"/>
              </a:rPr>
              <a:t>阐明道理，明确你的建议，请你帮小章做出选择。明确文体。</a:t>
            </a:r>
            <a:endParaRPr lang="en-US" sz="2800" b="1" dirty="0">
              <a:solidFill>
                <a:schemeClr val="tx1"/>
              </a:solidFill>
              <a:sym typeface="+mn-ea"/>
            </a:endParaRPr>
          </a:p>
          <a:p>
            <a:endParaRPr lang="en-US" sz="2800" b="1" dirty="0">
              <a:solidFill>
                <a:schemeClr val="tx1"/>
              </a:solidFill>
              <a:sym typeface="+mn-ea"/>
            </a:endParaRPr>
          </a:p>
          <a:p>
            <a:r>
              <a:rPr lang="en-US" sz="2800" b="1" dirty="0">
                <a:sym typeface="+mn-ea"/>
              </a:rPr>
              <a:t>       下列议论文标题中，最不合适的两项是（      ）</a:t>
            </a:r>
            <a:endParaRPr lang="en-US" sz="2800" b="1" dirty="0">
              <a:solidFill>
                <a:schemeClr val="tx1"/>
              </a:solidFill>
            </a:endParaRPr>
          </a:p>
          <a:p>
            <a:r>
              <a:rPr lang="en-US" sz="2800" b="1" dirty="0">
                <a:sym typeface="+mn-ea"/>
              </a:rPr>
              <a:t>       </a:t>
            </a:r>
            <a:r>
              <a:rPr lang="en-US" sz="2800" b="1" dirty="0">
                <a:solidFill>
                  <a:srgbClr val="7030A0"/>
                </a:solidFill>
                <a:sym typeface="+mn-ea"/>
              </a:rPr>
              <a:t>A.是金子到哪里都会发光       </a:t>
            </a:r>
            <a:endParaRPr lang="en-US" sz="2800" b="1" dirty="0">
              <a:solidFill>
                <a:srgbClr val="7030A0"/>
              </a:solidFill>
            </a:endParaRPr>
          </a:p>
          <a:p>
            <a:r>
              <a:rPr lang="en-US" sz="2800" b="1" dirty="0">
                <a:solidFill>
                  <a:srgbClr val="7030A0"/>
                </a:solidFill>
                <a:sym typeface="+mn-ea"/>
              </a:rPr>
              <a:t>       B. 抛弃偏见，学艺报国       </a:t>
            </a:r>
            <a:endParaRPr lang="en-US" sz="2800" b="1" dirty="0">
              <a:solidFill>
                <a:srgbClr val="7030A0"/>
              </a:solidFill>
            </a:endParaRPr>
          </a:p>
          <a:p>
            <a:r>
              <a:rPr lang="en-US" sz="2800" b="1" dirty="0">
                <a:solidFill>
                  <a:srgbClr val="7030A0"/>
                </a:solidFill>
                <a:sym typeface="+mn-ea"/>
              </a:rPr>
              <a:t>       C. 重视高考，重视人生         </a:t>
            </a:r>
            <a:endParaRPr lang="en-US" sz="2800" b="1" dirty="0">
              <a:solidFill>
                <a:srgbClr val="7030A0"/>
              </a:solidFill>
            </a:endParaRPr>
          </a:p>
          <a:p>
            <a:r>
              <a:rPr lang="en-US" sz="2800" b="1" dirty="0">
                <a:solidFill>
                  <a:srgbClr val="7030A0"/>
                </a:solidFill>
                <a:sym typeface="+mn-ea"/>
              </a:rPr>
              <a:t>       D. 只不过是重头再来          </a:t>
            </a:r>
            <a:endParaRPr lang="en-US" sz="2800" b="1" dirty="0">
              <a:solidFill>
                <a:srgbClr val="7030A0"/>
              </a:solidFill>
            </a:endParaRPr>
          </a:p>
          <a:p>
            <a:r>
              <a:rPr lang="en-US" sz="2800" b="1" dirty="0">
                <a:solidFill>
                  <a:srgbClr val="7030A0"/>
                </a:solidFill>
                <a:sym typeface="+mn-ea"/>
              </a:rPr>
              <a:t>       E. 犹豫不决难成大事</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156845"/>
            <a:ext cx="11764645" cy="6369685"/>
          </a:xfrm>
          <a:prstGeom prst="rect">
            <a:avLst/>
          </a:prstGeom>
          <a:noFill/>
        </p:spPr>
        <p:txBody>
          <a:bodyPr wrap="square" rtlCol="0">
            <a:spAutoFit/>
          </a:bodyPr>
          <a:lstStyle/>
          <a:p>
            <a:r>
              <a:rPr lang="en-US" sz="2400" b="1" dirty="0">
                <a:sym typeface="+mn-ea"/>
              </a:rPr>
              <a:t>23. 阅读下面的材料，根据要求写一篇不少于800字的文章。</a:t>
            </a:r>
            <a:r>
              <a:rPr lang="zh-CN" sz="2400" b="1" dirty="0">
                <a:sym typeface="+mn-ea"/>
              </a:rPr>
              <a:t>（</a:t>
            </a:r>
            <a:r>
              <a:rPr lang="en-US" sz="2400" b="1" dirty="0">
                <a:sym typeface="+mn-ea"/>
              </a:rPr>
              <a:t>60分</a:t>
            </a:r>
            <a:r>
              <a:rPr lang="zh-CN" altLang="en-US" sz="2400" b="1" dirty="0">
                <a:sym typeface="+mn-ea"/>
              </a:rPr>
              <a:t>）</a:t>
            </a:r>
            <a:endParaRPr lang="en-US" sz="2400" b="1" dirty="0">
              <a:solidFill>
                <a:schemeClr val="tx1"/>
              </a:solidFill>
            </a:endParaRPr>
          </a:p>
          <a:p>
            <a:r>
              <a:rPr lang="en-US" sz="2400" b="1" dirty="0">
                <a:sym typeface="+mn-ea"/>
              </a:rPr>
              <a:t>       在某高中学校校园的“交通安全宣传教育”橱窗中，宣传文字内容配有一张惨烈的车祸现场图片。小王同学就此上书校长，认为学校里的安全教育宣传“给图给真相”用意虽好，但视觉冲击力太强，不太适宜，建议另换其他图片，如漫画等。校长回复说，漫画太“温馨”，不能给人多少触动；人的生命只有一次，安全教育宣传，只有 “触目”才能“惊心”。当然，也欢迎大家提出更加完善的建议。</a:t>
            </a:r>
            <a:endParaRPr lang="en-US" sz="2400" b="1" dirty="0">
              <a:solidFill>
                <a:schemeClr val="tx1"/>
              </a:solidFill>
            </a:endParaRPr>
          </a:p>
          <a:p>
            <a:r>
              <a:rPr lang="en-US" sz="2400" b="1" dirty="0">
                <a:sym typeface="+mn-ea"/>
              </a:rPr>
              <a:t>        校园安全宣传是“温馨提示”好，还是“触目惊心”好？同学们展开了热烈地讨论并提出了各自的看法或建议。</a:t>
            </a:r>
            <a:endParaRPr lang="en-US" sz="2400" b="1" dirty="0">
              <a:solidFill>
                <a:schemeClr val="tx1"/>
              </a:solidFill>
            </a:endParaRPr>
          </a:p>
          <a:p>
            <a:r>
              <a:rPr lang="en-US" sz="2400" b="1" dirty="0">
                <a:sym typeface="+mn-ea"/>
              </a:rPr>
              <a:t>        如果你是该校学生，也参与这场讨论，那么，你的立场是什么？或者对此有什么具体建议？请综合材料内容及含意作文，体现你的思考、看法或建议。</a:t>
            </a:r>
            <a:endParaRPr lang="en-US" sz="2400" b="1" dirty="0">
              <a:solidFill>
                <a:schemeClr val="tx1"/>
              </a:solidFill>
            </a:endParaRPr>
          </a:p>
          <a:p>
            <a:r>
              <a:rPr lang="en-US" sz="2400" b="1" dirty="0">
                <a:sym typeface="+mn-ea"/>
              </a:rPr>
              <a:t>       要求选好角度，确定立意，明确文体，自拟标题，完成写作任务</a:t>
            </a:r>
            <a:r>
              <a:rPr lang="zh-CN" altLang="en-US" sz="2400" b="1" dirty="0">
                <a:sym typeface="+mn-ea"/>
              </a:rPr>
              <a:t>。</a:t>
            </a:r>
            <a:endParaRPr lang="en-US" sz="2400" b="1" dirty="0">
              <a:solidFill>
                <a:schemeClr val="tx1"/>
              </a:solidFill>
            </a:endParaRPr>
          </a:p>
          <a:p>
            <a:r>
              <a:rPr lang="en-US" sz="2400" b="1" dirty="0">
                <a:sym typeface="+mn-ea"/>
              </a:rPr>
              <a:t>        下列议论文标题中，最不合适的两项是（    ）</a:t>
            </a:r>
            <a:endParaRPr lang="en-US" sz="2400" b="1" dirty="0">
              <a:solidFill>
                <a:schemeClr val="tx1"/>
              </a:solidFill>
            </a:endParaRPr>
          </a:p>
          <a:p>
            <a:r>
              <a:rPr lang="en-US" sz="2400" b="1" dirty="0">
                <a:sym typeface="+mn-ea"/>
              </a:rPr>
              <a:t>        </a:t>
            </a:r>
            <a:r>
              <a:rPr lang="en-US" sz="2400" b="1" dirty="0">
                <a:solidFill>
                  <a:srgbClr val="7030A0"/>
                </a:solidFill>
                <a:sym typeface="+mn-ea"/>
              </a:rPr>
              <a:t>A. 给图给真相       </a:t>
            </a:r>
            <a:endParaRPr lang="en-US" sz="2400" b="1" dirty="0">
              <a:solidFill>
                <a:srgbClr val="7030A0"/>
              </a:solidFill>
            </a:endParaRPr>
          </a:p>
          <a:p>
            <a:r>
              <a:rPr lang="en-US" sz="2400" b="1" dirty="0">
                <a:solidFill>
                  <a:srgbClr val="7030A0"/>
                </a:solidFill>
                <a:sym typeface="+mn-ea"/>
              </a:rPr>
              <a:t>        B. 温馨的假象不如残酷的事实        </a:t>
            </a:r>
            <a:endParaRPr lang="en-US" sz="2400" b="1" dirty="0">
              <a:solidFill>
                <a:srgbClr val="7030A0"/>
              </a:solidFill>
            </a:endParaRPr>
          </a:p>
          <a:p>
            <a:r>
              <a:rPr lang="en-US" sz="2400" b="1" dirty="0">
                <a:solidFill>
                  <a:srgbClr val="7030A0"/>
                </a:solidFill>
                <a:sym typeface="+mn-ea"/>
              </a:rPr>
              <a:t>        C. </a:t>
            </a:r>
            <a:r>
              <a:rPr lang="zh-CN" altLang="en-US" sz="2400" b="1" dirty="0">
                <a:solidFill>
                  <a:srgbClr val="7030A0"/>
                </a:solidFill>
                <a:sym typeface="+mn-ea"/>
              </a:rPr>
              <a:t>校园安全宣传，可以更温和一点</a:t>
            </a:r>
            <a:endParaRPr lang="en-US" sz="2400" b="1" dirty="0">
              <a:solidFill>
                <a:srgbClr val="7030A0"/>
              </a:solidFill>
            </a:endParaRPr>
          </a:p>
          <a:p>
            <a:r>
              <a:rPr lang="en-US" sz="2400" b="1" dirty="0">
                <a:solidFill>
                  <a:srgbClr val="7030A0"/>
                </a:solidFill>
                <a:sym typeface="+mn-ea"/>
              </a:rPr>
              <a:t>        D. 生命只有一次， “触目”才能“惊心”    </a:t>
            </a:r>
            <a:endParaRPr lang="en-US" sz="2400" b="1" dirty="0">
              <a:solidFill>
                <a:srgbClr val="7030A0"/>
              </a:solidFill>
            </a:endParaRPr>
          </a:p>
          <a:p>
            <a:r>
              <a:rPr lang="en-US" sz="2400" b="1" dirty="0">
                <a:solidFill>
                  <a:srgbClr val="7030A0"/>
                </a:solidFill>
                <a:sym typeface="+mn-ea"/>
              </a:rPr>
              <a:t>        E. </a:t>
            </a:r>
            <a:r>
              <a:rPr lang="zh-CN" altLang="en-US" sz="2400" b="1" dirty="0">
                <a:solidFill>
                  <a:srgbClr val="7030A0"/>
                </a:solidFill>
                <a:sym typeface="+mn-ea"/>
              </a:rPr>
              <a:t>做人应谦虚，不可一意孤行</a:t>
            </a:r>
            <a:endParaRPr lang="en-US" sz="2400" b="1" dirty="0">
              <a:solidFill>
                <a:srgbClr val="7030A0"/>
              </a:solidFill>
              <a:sym typeface="+mn-ea"/>
            </a:endParaRP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156845"/>
            <a:ext cx="11764645" cy="6369685"/>
          </a:xfrm>
          <a:prstGeom prst="rect">
            <a:avLst/>
          </a:prstGeom>
          <a:noFill/>
        </p:spPr>
        <p:txBody>
          <a:bodyPr wrap="square" rtlCol="0">
            <a:spAutoFit/>
          </a:bodyPr>
          <a:lstStyle/>
          <a:p>
            <a:endParaRPr lang="en-US" sz="2400" b="1" dirty="0">
              <a:solidFill>
                <a:schemeClr val="tx1"/>
              </a:solidFill>
            </a:endParaRPr>
          </a:p>
          <a:p>
            <a:r>
              <a:rPr lang="en-US" sz="2400" b="1" dirty="0">
                <a:sym typeface="+mn-ea"/>
              </a:rPr>
              <a:t>24. 阅读下面的材料，根据要求写一篇不少于800字的文章。（60分）</a:t>
            </a:r>
            <a:endParaRPr lang="en-US" sz="2400" b="1" dirty="0">
              <a:solidFill>
                <a:schemeClr val="tx1"/>
              </a:solidFill>
            </a:endParaRPr>
          </a:p>
          <a:p>
            <a:r>
              <a:rPr lang="en-US" sz="2400" b="1" dirty="0">
                <a:sym typeface="+mn-ea"/>
              </a:rPr>
              <a:t>        二十出头的瑶族姑娘小卜，是瑶寨走出的第一个大学生。临近毕业时，小卜犯难了：家里的父老乡亲希望她能回去做教师，传播知识，为改变家乡的贫穷状况尽一份力；对小卜有录用意向的一家著名外企，则鼓励小卜加盟公司，发挥专业特长，创造优质生活；而小卜自己认为当前创业环境好，很想创办一家民族服装设计公司，实现自己的创业梦。</a:t>
            </a:r>
            <a:endParaRPr lang="en-US" sz="2400" b="1" dirty="0">
              <a:solidFill>
                <a:schemeClr val="tx1"/>
              </a:solidFill>
            </a:endParaRPr>
          </a:p>
          <a:p>
            <a:r>
              <a:rPr lang="en-US" sz="2400" b="1" dirty="0">
                <a:sym typeface="+mn-ea"/>
              </a:rPr>
              <a:t>       面对小卜的就业选择，你会给出什么建议？请结合材料内容及含意作文，表明你的态度，阐述你的看法。</a:t>
            </a:r>
            <a:endParaRPr lang="en-US" sz="2400" b="1" dirty="0">
              <a:solidFill>
                <a:schemeClr val="tx1"/>
              </a:solidFill>
            </a:endParaRPr>
          </a:p>
          <a:p>
            <a:r>
              <a:rPr lang="en-US" sz="2400" b="1" dirty="0">
                <a:sym typeface="+mn-ea"/>
              </a:rPr>
              <a:t>       要求选好角度，明确文体，自拟标题；不要套作，不得抄袭。</a:t>
            </a:r>
          </a:p>
          <a:p>
            <a:endParaRPr lang="en-US" sz="2400" b="1" dirty="0">
              <a:solidFill>
                <a:schemeClr val="tx1"/>
              </a:solidFill>
            </a:endParaRPr>
          </a:p>
          <a:p>
            <a:r>
              <a:rPr lang="en-US" sz="2400" b="1" dirty="0">
                <a:sym typeface="+mn-ea"/>
              </a:rPr>
              <a:t>       下列议论文标题中，最合适的两项是（       ）</a:t>
            </a:r>
            <a:endParaRPr lang="en-US" sz="2400" b="1" dirty="0">
              <a:solidFill>
                <a:schemeClr val="tx1"/>
              </a:solidFill>
            </a:endParaRPr>
          </a:p>
          <a:p>
            <a:r>
              <a:rPr lang="en-US" sz="2400" b="1" dirty="0">
                <a:sym typeface="+mn-ea"/>
              </a:rPr>
              <a:t>       </a:t>
            </a:r>
            <a:r>
              <a:rPr lang="en-US" sz="2400" b="1" dirty="0">
                <a:solidFill>
                  <a:srgbClr val="7030A0"/>
                </a:solidFill>
                <a:sym typeface="+mn-ea"/>
              </a:rPr>
              <a:t>A. 回乡传播知识</a:t>
            </a:r>
            <a:r>
              <a:rPr lang="zh-CN" sz="2400" b="1" dirty="0">
                <a:solidFill>
                  <a:srgbClr val="7030A0"/>
                </a:solidFill>
                <a:sym typeface="+mn-ea"/>
              </a:rPr>
              <a:t>，最是初心</a:t>
            </a:r>
            <a:r>
              <a:rPr lang="en-US" sz="2400" b="1" dirty="0">
                <a:solidFill>
                  <a:srgbClr val="7030A0"/>
                </a:solidFill>
                <a:sym typeface="+mn-ea"/>
              </a:rPr>
              <a:t>动人    </a:t>
            </a:r>
            <a:endParaRPr lang="en-US" sz="2400" b="1" dirty="0">
              <a:solidFill>
                <a:srgbClr val="7030A0"/>
              </a:solidFill>
            </a:endParaRPr>
          </a:p>
          <a:p>
            <a:r>
              <a:rPr lang="en-US" sz="2400" b="1" dirty="0">
                <a:solidFill>
                  <a:srgbClr val="7030A0"/>
                </a:solidFill>
                <a:sym typeface="+mn-ea"/>
              </a:rPr>
              <a:t>       B. “创”出新未来     </a:t>
            </a:r>
            <a:endParaRPr lang="en-US" sz="2400" b="1" dirty="0">
              <a:solidFill>
                <a:srgbClr val="7030A0"/>
              </a:solidFill>
            </a:endParaRPr>
          </a:p>
          <a:p>
            <a:r>
              <a:rPr lang="en-US" sz="2400" b="1" dirty="0">
                <a:solidFill>
                  <a:srgbClr val="7030A0"/>
                </a:solidFill>
                <a:sym typeface="+mn-ea"/>
              </a:rPr>
              <a:t>       C. 谈选择      </a:t>
            </a:r>
            <a:endParaRPr lang="en-US" sz="2400" b="1" dirty="0">
              <a:solidFill>
                <a:srgbClr val="7030A0"/>
              </a:solidFill>
            </a:endParaRPr>
          </a:p>
          <a:p>
            <a:r>
              <a:rPr lang="en-US" sz="2400" b="1" dirty="0">
                <a:solidFill>
                  <a:srgbClr val="7030A0"/>
                </a:solidFill>
                <a:sym typeface="+mn-ea"/>
              </a:rPr>
              <a:t>       D. 就业？择业？      </a:t>
            </a:r>
            <a:endParaRPr lang="en-US" sz="2400" b="1" dirty="0">
              <a:solidFill>
                <a:srgbClr val="7030A0"/>
              </a:solidFill>
            </a:endParaRPr>
          </a:p>
          <a:p>
            <a:r>
              <a:rPr lang="en-US" sz="2400" b="1" dirty="0">
                <a:solidFill>
                  <a:srgbClr val="7030A0"/>
                </a:solidFill>
                <a:sym typeface="+mn-ea"/>
              </a:rPr>
              <a:t>       E. </a:t>
            </a:r>
            <a:r>
              <a:rPr lang="zh-CN" altLang="en-US" sz="2400" b="1" dirty="0">
                <a:solidFill>
                  <a:srgbClr val="7030A0"/>
                </a:solidFill>
                <a:sym typeface="+mn-ea"/>
              </a:rPr>
              <a:t>优质生活，人人向往</a:t>
            </a:r>
          </a:p>
        </p:txBody>
      </p:sp>
      <p:sp>
        <p:nvSpPr>
          <p:cNvPr id="53252" name="矩形 378883"/>
          <p:cNvSpPr/>
          <p:nvPr/>
        </p:nvSpPr>
        <p:spPr>
          <a:xfrm>
            <a:off x="11086465" y="5833745"/>
            <a:ext cx="807720" cy="474980"/>
          </a:xfrm>
          <a:prstGeom prst="rect">
            <a:avLst/>
          </a:prstGeom>
        </p:spPr>
        <p:txBody>
          <a:bodyPr wrap="none" fromWordArt="1">
            <a:prstTxWarp prst="textPlain">
              <a:avLst>
                <a:gd name="adj" fmla="val 50000"/>
              </a:avLst>
            </a:prstTxWarp>
            <a:normAutofit fontScale="97500" lnSpcReduction="10000"/>
          </a:bodyPr>
          <a:lstStyle/>
          <a:p>
            <a:pPr algn="ctr" fontAlgn="base"/>
            <a:r>
              <a:rPr 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cs typeface="+mn-cs"/>
              </a:rPr>
              <a:t>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3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2"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1" name="图片 1"/>
          <p:cNvPicPr>
            <a:picLocks noChangeAspect="1"/>
          </p:cNvPicPr>
          <p:nvPr/>
        </p:nvPicPr>
        <p:blipFill>
          <a:blip r:embed="rId3"/>
          <a:stretch>
            <a:fillRect/>
          </a:stretch>
        </p:blipFill>
        <p:spPr>
          <a:xfrm>
            <a:off x="22225" y="-2540"/>
            <a:ext cx="12148185" cy="6863080"/>
          </a:xfrm>
          <a:prstGeom prst="rect">
            <a:avLst/>
          </a:prstGeom>
          <a:noFill/>
          <a:ln w="9525">
            <a:noFill/>
          </a:ln>
        </p:spPr>
      </p:pic>
      <p:sp>
        <p:nvSpPr>
          <p:cNvPr id="10242" name="矩形 398341"/>
          <p:cNvSpPr>
            <a:spLocks noTextEdit="1"/>
          </p:cNvSpPr>
          <p:nvPr/>
        </p:nvSpPr>
        <p:spPr>
          <a:xfrm>
            <a:off x="3379788" y="2776538"/>
            <a:ext cx="5127625" cy="1117600"/>
          </a:xfrm>
          <a:prstGeom prst="rect">
            <a:avLst/>
          </a:prstGeom>
        </p:spPr>
        <p:txBody>
          <a:bodyPr wrap="none" fromWordArt="1">
            <a:prstTxWarp prst="textPlain">
              <a:avLst>
                <a:gd name="adj" fmla="val 50000"/>
              </a:avLst>
            </a:prstTxWarp>
            <a:normAutofit/>
          </a:bodyPr>
          <a:lstStyle/>
          <a:p>
            <a:pPr algn="ctr"/>
            <a:r>
              <a:rPr lang="zh-CN" altLang="en-US" sz="2700" b="1">
                <a:ln w="9525" cap="flat" cmpd="sng">
                  <a:solidFill>
                    <a:schemeClr val="bg1"/>
                  </a:solidFill>
                  <a:prstDash val="solid"/>
                  <a:round/>
                  <a:headEnd type="none" w="med" len="med"/>
                  <a:tailEnd type="none" w="med" len="med"/>
                </a:ln>
                <a:solidFill>
                  <a:srgbClr val="72BFC5"/>
                </a:solidFill>
                <a:effectLst>
                  <a:outerShdw dist="45791" dir="2021404" algn="ctr" rotWithShape="0">
                    <a:srgbClr val="B2B2B2">
                      <a:alpha val="79999"/>
                    </a:srgbClr>
                  </a:outerShdw>
                </a:effectLst>
                <a:latin typeface="黑体" panose="02010609060101010101" pitchFamily="49" charset="-122"/>
                <a:ea typeface="黑体" panose="02010609060101010101" pitchFamily="49" charset="-122"/>
              </a:rPr>
              <a:t>答案详解</a:t>
            </a:r>
          </a:p>
        </p:txBody>
      </p:sp>
      <p:sp>
        <p:nvSpPr>
          <p:cNvPr id="53252" name="矩形 378883"/>
          <p:cNvSpPr/>
          <p:nvPr/>
        </p:nvSpPr>
        <p:spPr>
          <a:xfrm>
            <a:off x="500380" y="573405"/>
            <a:ext cx="6072505" cy="355600"/>
          </a:xfrm>
          <a:prstGeom prst="rect">
            <a:avLst/>
          </a:prstGeom>
        </p:spPr>
        <p:txBody>
          <a:bodyPr wrap="none" fromWordArt="1">
            <a:prstTxWarp prst="textPlain">
              <a:avLst>
                <a:gd name="adj" fmla="val 50000"/>
              </a:avLst>
            </a:prstTxWarp>
            <a:normAutofit fontScale="75000" lnSpcReduction="20000"/>
          </a:bodyPr>
          <a:lstStyle/>
          <a:p>
            <a:pPr algn="ctr" fontAlgn="base"/>
            <a:r>
              <a:rPr lang="en-US" altLang="zh-CN"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rPr>
              <a:t>2020</a:t>
            </a:r>
            <a:r>
              <a:rPr lang="zh-CN" altLang="en-US" sz="2700" strike="noStrike" noProof="1">
                <a:ln w="19050" cap="flat" cmpd="sng">
                  <a:solidFill>
                    <a:srgbClr val="00FF00"/>
                  </a:solidFill>
                  <a:prstDash val="solid"/>
                  <a:round/>
                  <a:headEnd type="none" w="med" len="med"/>
                  <a:tailEnd type="none" w="med" len="med"/>
                </a:ln>
                <a:solidFill>
                  <a:srgbClr val="00FFFF"/>
                </a:solidFill>
                <a:effectLst>
                  <a:outerShdw dist="35921" dir="2699999" algn="ctr" rotWithShape="0">
                    <a:srgbClr val="990000"/>
                  </a:outerShdw>
                </a:effectLst>
                <a:latin typeface="黑体" panose="02010609060101010101" pitchFamily="49" charset="-122"/>
                <a:ea typeface="黑体" panose="02010609060101010101" pitchFamily="49" charset="-122"/>
              </a:rPr>
              <a:t>高考任务驱动型时评作文审题训练</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938530"/>
            <a:ext cx="11764645" cy="5692775"/>
          </a:xfrm>
          <a:prstGeom prst="rect">
            <a:avLst/>
          </a:prstGeom>
          <a:noFill/>
        </p:spPr>
        <p:txBody>
          <a:bodyPr wrap="square" rtlCol="0">
            <a:spAutoFit/>
          </a:bodyPr>
          <a:lstStyle/>
          <a:p>
            <a:r>
              <a:rPr lang="zh-CN" altLang="en-US" sz="2800" b="1">
                <a:sym typeface="+mn-ea"/>
              </a:rPr>
              <a:t>1</a:t>
            </a:r>
            <a:r>
              <a:rPr lang="en-US" altLang="zh-CN" sz="2800" b="1">
                <a:sym typeface="+mn-ea"/>
              </a:rPr>
              <a:t>.AC/BDE</a:t>
            </a:r>
            <a:r>
              <a:rPr lang="zh-CN" altLang="en-US" sz="2800" b="1">
                <a:sym typeface="+mn-ea"/>
              </a:rPr>
              <a:t>都切合材料内容，从理性、善意对待武汉人的角度出发，且表达新颖到位，均为人民日报等主流媒体时评题目， A项显得宽泛，泛化为</a:t>
            </a:r>
            <a:r>
              <a:rPr lang="en-US" altLang="zh-CN" sz="2800" b="1">
                <a:sym typeface="+mn-ea"/>
              </a:rPr>
              <a:t>“</a:t>
            </a:r>
            <a:r>
              <a:rPr lang="zh-CN" altLang="en-US" sz="2800" b="1">
                <a:sym typeface="+mn-ea"/>
              </a:rPr>
              <a:t>责任</a:t>
            </a:r>
            <a:r>
              <a:rPr lang="en-US" altLang="zh-CN" sz="2800" b="1">
                <a:sym typeface="+mn-ea"/>
              </a:rPr>
              <a:t>”</a:t>
            </a:r>
            <a:r>
              <a:rPr lang="zh-CN" altLang="en-US" sz="2800" b="1">
                <a:sym typeface="+mn-ea"/>
              </a:rPr>
              <a:t>，没有把握材料核心，C项</a:t>
            </a:r>
            <a:r>
              <a:rPr lang="en-US" altLang="zh-CN" sz="2800" b="1">
                <a:sym typeface="+mn-ea"/>
              </a:rPr>
              <a:t>“</a:t>
            </a:r>
            <a:r>
              <a:rPr lang="zh-CN" altLang="en-US" sz="2800" b="1">
                <a:sym typeface="+mn-ea"/>
              </a:rPr>
              <a:t>窝里斗</a:t>
            </a:r>
            <a:r>
              <a:rPr lang="en-US" altLang="zh-CN" sz="2800" b="1">
                <a:sym typeface="+mn-ea"/>
              </a:rPr>
              <a:t>”</a:t>
            </a:r>
            <a:r>
              <a:rPr lang="zh-CN" altLang="en-US" sz="2800" b="1">
                <a:sym typeface="+mn-ea"/>
              </a:rPr>
              <a:t>忽略了特殊的抗疫背景和具体的对象（武汉人），容易泛泛而谈。</a:t>
            </a:r>
            <a:endParaRPr lang="zh-CN" altLang="en-US" sz="2800" b="1"/>
          </a:p>
          <a:p>
            <a:r>
              <a:rPr lang="en-US" altLang="zh-CN" sz="2800" b="1">
                <a:sym typeface="+mn-ea"/>
              </a:rPr>
              <a:t>2.BE/B</a:t>
            </a:r>
            <a:r>
              <a:rPr lang="zh-CN" altLang="en-US" sz="2800" b="1">
                <a:sym typeface="+mn-ea"/>
              </a:rPr>
              <a:t>项</a:t>
            </a:r>
            <a:r>
              <a:rPr lang="en-US" altLang="zh-CN" sz="2800" b="1">
                <a:sym typeface="+mn-ea"/>
              </a:rPr>
              <a:t>“</a:t>
            </a:r>
            <a:r>
              <a:rPr lang="zh-CN" altLang="en-US" sz="2800" b="1">
                <a:sym typeface="+mn-ea"/>
              </a:rPr>
              <a:t>抵抗疫情</a:t>
            </a:r>
            <a:r>
              <a:rPr lang="en-US" altLang="zh-CN" sz="2800" b="1">
                <a:sym typeface="+mn-ea"/>
              </a:rPr>
              <a:t>”</a:t>
            </a:r>
            <a:r>
              <a:rPr lang="zh-CN" altLang="en-US" sz="2800" b="1">
                <a:sym typeface="+mn-ea"/>
              </a:rPr>
              <a:t>很泛，没有把握材料中对待</a:t>
            </a:r>
            <a:r>
              <a:rPr lang="en-US" altLang="zh-CN" sz="2800" b="1">
                <a:sym typeface="+mn-ea"/>
              </a:rPr>
              <a:t>“</a:t>
            </a:r>
            <a:r>
              <a:rPr lang="zh-CN" altLang="en-US" sz="2800" b="1">
                <a:sym typeface="+mn-ea"/>
              </a:rPr>
              <a:t>谣言</a:t>
            </a:r>
            <a:r>
              <a:rPr lang="en-US" altLang="zh-CN" sz="2800" b="1">
                <a:sym typeface="+mn-ea"/>
              </a:rPr>
              <a:t>”</a:t>
            </a:r>
            <a:r>
              <a:rPr lang="zh-CN" altLang="en-US" sz="2800" b="1">
                <a:sym typeface="+mn-ea"/>
              </a:rPr>
              <a:t>的特定话题，</a:t>
            </a:r>
            <a:r>
              <a:rPr lang="en-US" altLang="zh-CN" sz="2800" b="1">
                <a:sym typeface="+mn-ea"/>
              </a:rPr>
              <a:t>E</a:t>
            </a:r>
            <a:r>
              <a:rPr lang="zh-CN" altLang="en-US" sz="2800" b="1">
                <a:sym typeface="+mn-ea"/>
              </a:rPr>
              <a:t>项转换为谈</a:t>
            </a:r>
            <a:r>
              <a:rPr lang="en-US" altLang="zh-CN" sz="2800" b="1">
                <a:sym typeface="+mn-ea"/>
              </a:rPr>
              <a:t>“</a:t>
            </a:r>
            <a:r>
              <a:rPr lang="zh-CN" altLang="en-US" sz="2800" b="1">
                <a:sym typeface="+mn-ea"/>
              </a:rPr>
              <a:t>老人素质</a:t>
            </a:r>
            <a:r>
              <a:rPr lang="en-US" altLang="zh-CN" sz="2800" b="1">
                <a:sym typeface="+mn-ea"/>
              </a:rPr>
              <a:t>”</a:t>
            </a:r>
            <a:r>
              <a:rPr lang="zh-CN" altLang="en-US" sz="2800" b="1">
                <a:sym typeface="+mn-ea"/>
              </a:rPr>
              <a:t>，属断章取义（如改为</a:t>
            </a:r>
            <a:r>
              <a:rPr lang="en-US" altLang="zh-CN" sz="2800" b="1">
                <a:sym typeface="+mn-ea"/>
              </a:rPr>
              <a:t>“</a:t>
            </a:r>
            <a:r>
              <a:rPr lang="zh-CN" altLang="en-US" sz="2800" b="1">
                <a:sym typeface="+mn-ea"/>
              </a:rPr>
              <a:t>防治谣言，多关注老人群体</a:t>
            </a:r>
            <a:r>
              <a:rPr lang="en-US" altLang="zh-CN" sz="2800" b="1">
                <a:sym typeface="+mn-ea"/>
              </a:rPr>
              <a:t>”</a:t>
            </a:r>
            <a:r>
              <a:rPr lang="zh-CN" altLang="en-US" sz="2800" b="1">
                <a:sym typeface="+mn-ea"/>
              </a:rPr>
              <a:t>则不错）。</a:t>
            </a:r>
            <a:r>
              <a:rPr lang="en-US" sz="2800" b="1">
                <a:sym typeface="+mn-ea"/>
              </a:rPr>
              <a:t>A</a:t>
            </a:r>
            <a:r>
              <a:rPr lang="zh-CN" altLang="en-US" sz="2800" b="1">
                <a:sym typeface="+mn-ea"/>
              </a:rPr>
              <a:t>项从</a:t>
            </a:r>
            <a:r>
              <a:rPr lang="en-US" altLang="zh-CN" sz="2800" b="1">
                <a:sym typeface="+mn-ea"/>
              </a:rPr>
              <a:t>“</a:t>
            </a:r>
            <a:r>
              <a:rPr lang="zh-CN" altLang="en-US" sz="2800" b="1">
                <a:sym typeface="+mn-ea"/>
              </a:rPr>
              <a:t>贵州敏敏</a:t>
            </a:r>
            <a:r>
              <a:rPr lang="en-US" altLang="zh-CN" sz="2800" b="1">
                <a:sym typeface="+mn-ea"/>
              </a:rPr>
              <a:t>”</a:t>
            </a:r>
            <a:r>
              <a:rPr lang="zh-CN" altLang="en-US" sz="2800" b="1">
                <a:sym typeface="+mn-ea"/>
              </a:rPr>
              <a:t>的角度出发，观点鲜明，</a:t>
            </a:r>
            <a:r>
              <a:rPr lang="en-US" altLang="zh-CN" sz="2800" b="1">
                <a:sym typeface="+mn-ea"/>
              </a:rPr>
              <a:t>C</a:t>
            </a:r>
            <a:r>
              <a:rPr lang="zh-CN" altLang="en-US" sz="2800" b="1">
                <a:sym typeface="+mn-ea"/>
              </a:rPr>
              <a:t>项从</a:t>
            </a:r>
            <a:r>
              <a:rPr lang="en-US" altLang="zh-CN" sz="2800" b="1">
                <a:sym typeface="+mn-ea"/>
              </a:rPr>
              <a:t>“</a:t>
            </a:r>
            <a:r>
              <a:rPr lang="zh-CN" altLang="en-US" sz="2800" b="1">
                <a:sym typeface="+mn-ea"/>
              </a:rPr>
              <a:t>重庆明亮</a:t>
            </a:r>
            <a:r>
              <a:rPr lang="en-US" altLang="zh-CN" sz="2800" b="1">
                <a:sym typeface="+mn-ea"/>
              </a:rPr>
              <a:t>”</a:t>
            </a:r>
            <a:r>
              <a:rPr lang="zh-CN" altLang="en-US" sz="2800" b="1">
                <a:sym typeface="+mn-ea"/>
              </a:rPr>
              <a:t>的角度出发，符合材料内容，</a:t>
            </a:r>
            <a:r>
              <a:rPr lang="en-US" altLang="zh-CN" sz="2800" b="1">
                <a:sym typeface="+mn-ea"/>
              </a:rPr>
              <a:t>D</a:t>
            </a:r>
            <a:r>
              <a:rPr lang="zh-CN" altLang="en-US" sz="2800" b="1">
                <a:sym typeface="+mn-ea"/>
              </a:rPr>
              <a:t>项综合</a:t>
            </a:r>
            <a:r>
              <a:rPr lang="en-US" altLang="zh-CN" sz="2800" b="1">
                <a:sym typeface="+mn-ea"/>
              </a:rPr>
              <a:t>“</a:t>
            </a:r>
            <a:r>
              <a:rPr lang="zh-CN" altLang="en-US" sz="2800" b="1">
                <a:sym typeface="+mn-ea"/>
              </a:rPr>
              <a:t>河北锋哥</a:t>
            </a:r>
            <a:r>
              <a:rPr lang="en-US" altLang="zh-CN" sz="2800" b="1">
                <a:sym typeface="+mn-ea"/>
              </a:rPr>
              <a:t>”“</a:t>
            </a:r>
            <a:r>
              <a:rPr lang="zh-CN" altLang="en-US" sz="2800" b="1">
                <a:sym typeface="+mn-ea"/>
              </a:rPr>
              <a:t>河南丽姐</a:t>
            </a:r>
            <a:r>
              <a:rPr lang="en-US" altLang="zh-CN" sz="2800" b="1">
                <a:sym typeface="+mn-ea"/>
              </a:rPr>
              <a:t>”“</a:t>
            </a:r>
            <a:r>
              <a:rPr lang="zh-CN" altLang="en-US" sz="2800" b="1">
                <a:sym typeface="+mn-ea"/>
              </a:rPr>
              <a:t>湖北小强</a:t>
            </a:r>
            <a:r>
              <a:rPr lang="en-US" altLang="zh-CN" sz="2800" b="1">
                <a:sym typeface="+mn-ea"/>
              </a:rPr>
              <a:t>”</a:t>
            </a:r>
            <a:r>
              <a:rPr lang="zh-CN" altLang="en-US" sz="2800" b="1">
                <a:sym typeface="+mn-ea"/>
              </a:rPr>
              <a:t>等角度，表达新颖，合情合理。</a:t>
            </a:r>
            <a:endParaRPr lang="zh-CN" altLang="en-US" sz="2800" b="1"/>
          </a:p>
          <a:p>
            <a:r>
              <a:rPr lang="en-US" sz="2800" b="1" dirty="0">
                <a:solidFill>
                  <a:schemeClr val="tx1"/>
                </a:solidFill>
              </a:rPr>
              <a:t>3.BE</a:t>
            </a:r>
            <a:r>
              <a:rPr lang="en-US" sz="2800" b="1" dirty="0">
                <a:sym typeface="+mn-ea"/>
              </a:rPr>
              <a:t> /</a:t>
            </a:r>
            <a:r>
              <a:rPr lang="en-US" sz="2800" b="1" dirty="0">
                <a:solidFill>
                  <a:schemeClr val="tx1"/>
                </a:solidFill>
              </a:rPr>
              <a:t>A项显得宽泛，也缺乏论点</a:t>
            </a:r>
            <a:r>
              <a:rPr lang="zh-CN" altLang="en-US" sz="2800" b="1" dirty="0">
                <a:solidFill>
                  <a:schemeClr val="tx1"/>
                </a:solidFill>
              </a:rPr>
              <a:t>，</a:t>
            </a:r>
            <a:r>
              <a:rPr lang="en-US" sz="2800" b="1" dirty="0">
                <a:solidFill>
                  <a:schemeClr val="tx1"/>
                </a:solidFill>
              </a:rPr>
              <a:t> C项从交警的角度出发，没有从小陈老陈的角度出发好。D项“大义灭亲”不符合原材料意思，言过其实。</a:t>
            </a:r>
          </a:p>
          <a:p>
            <a:r>
              <a:rPr lang="en-US" sz="2800" b="1" dirty="0">
                <a:solidFill>
                  <a:schemeClr val="tx1"/>
                </a:solidFill>
              </a:rPr>
              <a:t>4.BD</a:t>
            </a:r>
            <a:r>
              <a:rPr lang="en-US" sz="2800" b="1" dirty="0">
                <a:sym typeface="+mn-ea"/>
              </a:rPr>
              <a:t> /</a:t>
            </a:r>
            <a:r>
              <a:rPr lang="en-US" sz="2800" b="1" dirty="0">
                <a:solidFill>
                  <a:schemeClr val="tx1"/>
                </a:solidFill>
              </a:rPr>
              <a:t>B项没有倾向性，你认为谁最有风采，这个问题的答案不明显， D没有包含风采关键词，ACE很明显对应着大李、老王、小刘。</a:t>
            </a: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613410"/>
            <a:ext cx="11764645" cy="5631180"/>
          </a:xfrm>
          <a:prstGeom prst="rect">
            <a:avLst/>
          </a:prstGeom>
          <a:noFill/>
        </p:spPr>
        <p:txBody>
          <a:bodyPr wrap="square" rtlCol="0">
            <a:spAutoFit/>
          </a:bodyPr>
          <a:lstStyle/>
          <a:p>
            <a:endParaRPr lang="en-US" sz="2400" b="1" dirty="0">
              <a:solidFill>
                <a:schemeClr val="tx1"/>
              </a:solidFill>
            </a:endParaRPr>
          </a:p>
          <a:p>
            <a:r>
              <a:rPr lang="en-US" sz="2400" b="1" dirty="0">
                <a:sym typeface="+mn-ea"/>
              </a:rPr>
              <a:t>5.AD /A项偏离题意，时事件的对立多方都是过错的时候才用得上这个标题，这里不是简简单单的谦让就能解决问题   D项没有揭示材料的核心，“不计名利”的说法也欠妥。BCE中包含了</a:t>
            </a:r>
            <a:r>
              <a:rPr lang="en-US" altLang="zh-CN" sz="2400" b="1" dirty="0">
                <a:sym typeface="+mn-ea"/>
              </a:rPr>
              <a:t>“</a:t>
            </a:r>
            <a:r>
              <a:rPr lang="en-US" sz="2400" b="1" dirty="0">
                <a:sym typeface="+mn-ea"/>
              </a:rPr>
              <a:t>改名”这个关键词。</a:t>
            </a:r>
            <a:endParaRPr lang="en-US" sz="2400" b="1" dirty="0">
              <a:solidFill>
                <a:schemeClr val="tx1"/>
              </a:solidFill>
            </a:endParaRPr>
          </a:p>
          <a:p>
            <a:r>
              <a:rPr lang="en-US" sz="2400" b="1" dirty="0">
                <a:sym typeface="+mn-ea"/>
              </a:rPr>
              <a:t>6、BC  A项只是说读书，没有涉及经典   D项标题不太适合考场议论文，且入口太大； E项偷换概念，把经典变成了文学，不够准确，BC项包含了经典这个关键词，并且从不同角度提出了观点。</a:t>
            </a:r>
            <a:endParaRPr lang="en-US" sz="2400" b="1" dirty="0">
              <a:solidFill>
                <a:schemeClr val="tx1"/>
              </a:solidFill>
            </a:endParaRPr>
          </a:p>
          <a:p>
            <a:r>
              <a:rPr lang="en-US" sz="2400" b="1" dirty="0">
                <a:sym typeface="+mn-ea"/>
              </a:rPr>
              <a:t>7、AD /A项提到孩子父母这些词，这不是材料的核心词  D项显得宽泛，也缺乏论点，过于简短的标题都是不适宜的</a:t>
            </a:r>
            <a:endParaRPr lang="en-US" sz="2400" b="1" dirty="0">
              <a:solidFill>
                <a:schemeClr val="tx1"/>
              </a:solidFill>
            </a:endParaRPr>
          </a:p>
          <a:p>
            <a:r>
              <a:rPr lang="en-US" sz="2400" b="1" dirty="0">
                <a:sym typeface="+mn-ea"/>
              </a:rPr>
              <a:t>8、CE / A项从工作人员出发，准确，B项也是  C项宽泛，大而无当  D项从观众入手，准确，E项中“尊重”准确，但仅仅针对音乐，显得论题狭窄，也和原材料的表述有出入。</a:t>
            </a:r>
            <a:endParaRPr lang="en-US" sz="2400" b="1" dirty="0">
              <a:solidFill>
                <a:schemeClr val="tx1"/>
              </a:solidFill>
            </a:endParaRPr>
          </a:p>
          <a:p>
            <a:r>
              <a:rPr lang="en-US" sz="2400" b="1" dirty="0">
                <a:sym typeface="+mn-ea"/>
              </a:rPr>
              <a:t>9、BD /这个作文题中，采访对象是钢琴大师，其评价是相对公允与客观的，不宜做过多反驳。B项反面立意，不太吻合命题初衷。D项，也言过其实，辩论用力过猛。</a:t>
            </a:r>
            <a:endParaRPr lang="en-US" sz="2400" b="1" dirty="0">
              <a:solidFill>
                <a:schemeClr val="tx1"/>
              </a:solidFill>
            </a:endParaRPr>
          </a:p>
          <a:p>
            <a:r>
              <a:rPr lang="en-US" sz="2400" b="1" dirty="0">
                <a:sym typeface="+mn-ea"/>
              </a:rPr>
              <a:t>10、AD /A错误地理解了材料的核心，以“孝”为由，表述也不够准确；D语意过重，言过其实。BCE针对现象，有所呼吁，提出建言。</a:t>
            </a:r>
            <a:endParaRPr lang="en-US" sz="2400" b="1" dirty="0">
              <a:solidFill>
                <a:schemeClr val="tx1"/>
              </a:solidFill>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613410"/>
            <a:ext cx="11764645" cy="5631180"/>
          </a:xfrm>
          <a:prstGeom prst="rect">
            <a:avLst/>
          </a:prstGeom>
          <a:noFill/>
        </p:spPr>
        <p:txBody>
          <a:bodyPr wrap="square" rtlCol="0">
            <a:spAutoFit/>
          </a:bodyPr>
          <a:lstStyle/>
          <a:p>
            <a:r>
              <a:rPr lang="en-US" sz="2400" b="1" dirty="0">
                <a:sym typeface="+mn-ea"/>
              </a:rPr>
              <a:t>11、AE /A项针对小云，“无私”是对的，但是“不慕虚名”的说法欠准确；,  E项中前半句脱离了材料的核心，后半句也无倾向性。B项针对小宏，凸显“善念”；C项针对小腾，符合材料中“鼓励创新活动”的含义。  D项虽未提出观点，但能适用于三个人的想法。</a:t>
            </a:r>
            <a:endParaRPr lang="en-US" sz="2400" b="1" dirty="0">
              <a:solidFill>
                <a:schemeClr val="tx1"/>
              </a:solidFill>
            </a:endParaRPr>
          </a:p>
          <a:p>
            <a:r>
              <a:rPr lang="en-US" sz="2400" b="1" dirty="0">
                <a:sym typeface="+mn-ea"/>
              </a:rPr>
              <a:t>12. CD /A项质疑有关部门的做法，提出不能以“罚”代禁，言之有理。 B项从燃放烟花的合理性切入，凸显“年味”的重要，正确。C项显得宽泛，也缺乏论点（过于简短的标题不太适宜）；D项是描述过年现象，没能表明对事件的立场。E符合材料中“赞成者”的观点，“势在必行”语气较重，但作为个人观点，且也符合材料中“赞成者”。</a:t>
            </a:r>
            <a:endParaRPr lang="en-US" sz="2400" b="1" dirty="0">
              <a:solidFill>
                <a:schemeClr val="tx1"/>
              </a:solidFill>
            </a:endParaRPr>
          </a:p>
          <a:p>
            <a:r>
              <a:rPr lang="en-US" sz="2400" b="1" dirty="0">
                <a:sym typeface="+mn-ea"/>
              </a:rPr>
              <a:t>13、CD /A项引用毛泽东诗句，意思是说“对一切风光景物要放开眼界去衡量”，为“拆楼”者做辩护，正确。  B项很文艺，且有“发展”二字，贴切。C项的批判语气偏重，缺乏理性，不妥；D项中，“义举”“进行到底”用语有些生硬，不够理性婉转。</a:t>
            </a:r>
            <a:endParaRPr lang="en-US" sz="2400" b="1" dirty="0">
              <a:solidFill>
                <a:schemeClr val="tx1"/>
              </a:solidFill>
            </a:endParaRPr>
          </a:p>
          <a:p>
            <a:r>
              <a:rPr lang="en-US" sz="2400" b="1" dirty="0">
                <a:sym typeface="+mn-ea"/>
              </a:rPr>
              <a:t>14、DE /ABC三项都是写的祖训，而且观点明确，富有文采； D项没有写出青花瓷的内涵实质，偏于单薄。 E项没有完成作文指令，“辛劳”和材料有些远。</a:t>
            </a:r>
            <a:endParaRPr lang="en-US" sz="2400" b="1" dirty="0">
              <a:solidFill>
                <a:schemeClr val="tx1"/>
              </a:solidFill>
            </a:endParaRPr>
          </a:p>
          <a:p>
            <a:r>
              <a:rPr lang="en-US" sz="2400" b="1" dirty="0">
                <a:sym typeface="+mn-ea"/>
              </a:rPr>
              <a:t>15、AC /B项以大黎为出发点；D项从双方交流出发，E项以球迷俱乐部为出发点； A项显得宽泛，没有根植事件，“自私”的说法也有些过；C项显得宽泛，也缺乏论点（且过于简短，不够丰富）。</a:t>
            </a:r>
            <a:endParaRPr lang="en-US" sz="2400" b="1" dirty="0">
              <a:solidFill>
                <a:schemeClr val="tx1"/>
              </a:solidFill>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613410"/>
            <a:ext cx="11764645" cy="5631180"/>
          </a:xfrm>
          <a:prstGeom prst="rect">
            <a:avLst/>
          </a:prstGeom>
          <a:noFill/>
        </p:spPr>
        <p:txBody>
          <a:bodyPr wrap="square" rtlCol="0">
            <a:spAutoFit/>
          </a:bodyPr>
          <a:lstStyle/>
          <a:p>
            <a:pPr marL="0" marR="0" indent="0" algn="l" defTabSz="914400" rtl="0" eaLnBrk="1" fontAlgn="auto" latinLnBrk="0" hangingPunct="1">
              <a:lnSpc>
                <a:spcPct val="100000"/>
              </a:lnSpc>
              <a:spcBef>
                <a:spcPts val="0"/>
              </a:spcBef>
              <a:spcAft>
                <a:spcPts val="0"/>
              </a:spcAft>
              <a:buClrTx/>
              <a:buSzTx/>
              <a:buFontTx/>
              <a:buNone/>
              <a:defRPr/>
            </a:pPr>
            <a:r>
              <a:rPr lang="en-US" sz="2400" b="1" dirty="0">
                <a:sym typeface="+mn-ea"/>
              </a:rPr>
              <a:t>16、BC /B项是从赞同的角度立意；C项是从反对角度立意。均观点明确，切好材料。 A项立意流于肤浅，此题重心不在于“保护动物”，而在于“情”“理”“法”的关系；D项偏离材料的核心（偷鸟蛋获刑），材料并未提及“溺爱”；E项同样偏离材料核心。</a:t>
            </a:r>
            <a:endParaRPr lang="en-US" sz="2400" b="1" dirty="0">
              <a:solidFill>
                <a:schemeClr val="tx1"/>
              </a:solidFill>
            </a:endParaRPr>
          </a:p>
          <a:p>
            <a:pPr marL="0" marR="0" indent="0" algn="l" defTabSz="914400" rtl="0" eaLnBrk="1" fontAlgn="auto" latinLnBrk="0" hangingPunct="1">
              <a:lnSpc>
                <a:spcPct val="100000"/>
              </a:lnSpc>
              <a:spcBef>
                <a:spcPts val="0"/>
              </a:spcBef>
              <a:spcAft>
                <a:spcPts val="0"/>
              </a:spcAft>
              <a:buClrTx/>
              <a:buSzTx/>
              <a:buFontTx/>
              <a:buNone/>
              <a:defRPr/>
            </a:pPr>
            <a:r>
              <a:rPr lang="en-US" sz="2400" b="1" dirty="0">
                <a:sym typeface="+mn-ea"/>
              </a:rPr>
              <a:t>17、CE /A项是从赞成角度立意，B项是从反面角度立意，D项突出“文明”和“自律”的关系，均准确。C项是名词性短语，观点不明，不提倡，且“幸福”一词也不够准确。 D项显得宽泛，标题中最好有关键词“门” </a:t>
            </a:r>
            <a:r>
              <a:rPr lang="zh-CN" altLang="en-US" sz="2400" b="1" dirty="0">
                <a:sym typeface="+mn-ea"/>
              </a:rPr>
              <a:t>，</a:t>
            </a:r>
            <a:r>
              <a:rPr lang="en-US" sz="2400" b="1" dirty="0">
                <a:sym typeface="+mn-ea"/>
              </a:rPr>
              <a:t> E项写“爱护书籍”，流于表面，且偏移材料重心。</a:t>
            </a:r>
          </a:p>
          <a:p>
            <a:pPr marL="0" marR="0" algn="l" defTabSz="914400" rtl="0" eaLnBrk="1" latinLnBrk="0" hangingPunct="1">
              <a:lnSpc>
                <a:spcPct val="100000"/>
              </a:lnSpc>
              <a:spcBef>
                <a:spcPts val="0"/>
              </a:spcBef>
              <a:buClrTx/>
              <a:buSzTx/>
              <a:buFontTx/>
              <a:buNone/>
            </a:pPr>
            <a:r>
              <a:rPr lang="en-US" sz="2400" b="1" dirty="0">
                <a:sym typeface="+mn-ea"/>
              </a:rPr>
              <a:t>18、AB /AB分别</a:t>
            </a:r>
            <a:r>
              <a:rPr lang="zh-CN" sz="2400" b="1" dirty="0">
                <a:sym typeface="+mn-ea"/>
              </a:rPr>
              <a:t>切合</a:t>
            </a:r>
            <a:r>
              <a:rPr lang="en-US" sz="2400" b="1" dirty="0">
                <a:sym typeface="+mn-ea"/>
              </a:rPr>
              <a:t>“油条哥”</a:t>
            </a:r>
            <a:r>
              <a:rPr lang="zh-CN" altLang="en-US" sz="2400" b="1" dirty="0">
                <a:sym typeface="+mn-ea"/>
              </a:rPr>
              <a:t>不用</a:t>
            </a:r>
            <a:r>
              <a:rPr lang="en-US" sz="2400" b="1" dirty="0">
                <a:sym typeface="+mn-ea"/>
              </a:rPr>
              <a:t>“复炸油”</a:t>
            </a:r>
            <a:r>
              <a:rPr lang="zh-CN" altLang="en-US" sz="2400" b="1" dirty="0">
                <a:sym typeface="+mn-ea"/>
              </a:rPr>
              <a:t>的</a:t>
            </a:r>
            <a:r>
              <a:rPr lang="en-US" sz="2400" b="1" dirty="0">
                <a:sym typeface="+mn-ea"/>
              </a:rPr>
              <a:t>义举、老父亲理解儿子</a:t>
            </a:r>
            <a:r>
              <a:rPr lang="zh-CN" altLang="en-US" sz="2400" b="1" dirty="0">
                <a:sym typeface="+mn-ea"/>
              </a:rPr>
              <a:t>的暖心之举，</a:t>
            </a:r>
            <a:r>
              <a:rPr lang="en-US" sz="2400" b="1" dirty="0">
                <a:sym typeface="+mn-ea"/>
              </a:rPr>
              <a:t>角度</a:t>
            </a:r>
            <a:r>
              <a:rPr lang="zh-CN" altLang="en-US" sz="2400" b="1" dirty="0">
                <a:sym typeface="+mn-ea"/>
              </a:rPr>
              <a:t>选择得好，</a:t>
            </a:r>
            <a:r>
              <a:rPr lang="en-US" sz="2400" b="1" dirty="0">
                <a:sym typeface="+mn-ea"/>
              </a:rPr>
              <a:t>拟题有事件，有观点，也符合“暖闻”</a:t>
            </a:r>
            <a:r>
              <a:rPr lang="zh-CN" altLang="en-US" sz="2400" b="1" dirty="0">
                <a:sym typeface="+mn-ea"/>
              </a:rPr>
              <a:t>的</a:t>
            </a:r>
            <a:r>
              <a:rPr lang="en-US" sz="2400" b="1" dirty="0">
                <a:sym typeface="+mn-ea"/>
              </a:rPr>
              <a:t>栏目特点；C项太笼统，观点不明确，没有具体“选择一则”，没回答“哪一则更合适”，D项也太泛，作文任务不明确，E项谈到了“心理健康”，不是材料最核心的内容。</a:t>
            </a:r>
          </a:p>
          <a:p>
            <a:pPr marL="0" marR="0" algn="l" defTabSz="914400" rtl="0" eaLnBrk="1" latinLnBrk="0" hangingPunct="1">
              <a:lnSpc>
                <a:spcPct val="100000"/>
              </a:lnSpc>
              <a:spcBef>
                <a:spcPts val="0"/>
              </a:spcBef>
              <a:buClrTx/>
              <a:buSzTx/>
              <a:buFontTx/>
              <a:buNone/>
            </a:pPr>
            <a:r>
              <a:rPr lang="en-US" sz="2400" b="1">
                <a:sym typeface="+mn-ea"/>
              </a:rPr>
              <a:t>19</a:t>
            </a:r>
            <a:r>
              <a:rPr sz="2400" b="1">
                <a:sym typeface="+mn-ea"/>
              </a:rPr>
              <a:t>、</a:t>
            </a:r>
            <a:r>
              <a:rPr lang="en-US" sz="2400" b="1">
                <a:sym typeface="+mn-ea"/>
              </a:rPr>
              <a:t>BC/</a:t>
            </a:r>
            <a:r>
              <a:rPr sz="2400" b="1">
                <a:sym typeface="+mn-ea"/>
              </a:rPr>
              <a:t> AE抓住了关键词“尊重”</a:t>
            </a:r>
            <a:r>
              <a:rPr lang="zh-CN" sz="2400" b="1">
                <a:sym typeface="+mn-ea"/>
              </a:rPr>
              <a:t>，且表达准确到位，有深度，</a:t>
            </a:r>
            <a:r>
              <a:rPr sz="2400" b="1">
                <a:sym typeface="+mn-ea"/>
              </a:rPr>
              <a:t>B项断章取义，</a:t>
            </a:r>
            <a:r>
              <a:rPr lang="zh-CN" sz="2400" b="1">
                <a:sym typeface="+mn-ea"/>
              </a:rPr>
              <a:t>材料的核心不是</a:t>
            </a:r>
            <a:r>
              <a:rPr lang="en-US" altLang="zh-CN" sz="2400" b="1">
                <a:sym typeface="+mn-ea"/>
              </a:rPr>
              <a:t>“</a:t>
            </a:r>
            <a:r>
              <a:rPr lang="zh-CN" altLang="en-US" sz="2400" b="1">
                <a:sym typeface="+mn-ea"/>
              </a:rPr>
              <a:t>坚持</a:t>
            </a:r>
            <a:r>
              <a:rPr lang="en-US" altLang="zh-CN" sz="2400" b="1">
                <a:sym typeface="+mn-ea"/>
              </a:rPr>
              <a:t>”</a:t>
            </a:r>
            <a:r>
              <a:rPr lang="zh-CN" altLang="en-US" sz="2400" b="1">
                <a:sym typeface="+mn-ea"/>
              </a:rPr>
              <a:t>，</a:t>
            </a:r>
            <a:r>
              <a:rPr sz="2400" b="1">
                <a:sym typeface="+mn-ea"/>
              </a:rPr>
              <a:t>C项</a:t>
            </a:r>
            <a:r>
              <a:rPr lang="zh-CN" sz="2400" b="1">
                <a:sym typeface="+mn-ea"/>
              </a:rPr>
              <a:t>中，</a:t>
            </a:r>
            <a:r>
              <a:rPr lang="zh-CN" altLang="en-US" sz="2400" b="1">
                <a:sym typeface="+mn-ea"/>
              </a:rPr>
              <a:t>材料中只说到杭州图书馆，未提及</a:t>
            </a:r>
            <a:r>
              <a:rPr lang="en-US" altLang="zh-CN" sz="2400" b="1">
                <a:sym typeface="+mn-ea"/>
              </a:rPr>
              <a:t>“</a:t>
            </a:r>
            <a:r>
              <a:rPr lang="zh-CN" altLang="en-US" sz="2400" b="1">
                <a:sym typeface="+mn-ea"/>
              </a:rPr>
              <a:t>无处不在</a:t>
            </a:r>
            <a:r>
              <a:rPr lang="en-US" altLang="zh-CN" sz="2400" b="1">
                <a:sym typeface="+mn-ea"/>
              </a:rPr>
              <a:t>”</a:t>
            </a:r>
            <a:r>
              <a:rPr lang="zh-CN" altLang="en-US" sz="2400" b="1">
                <a:sym typeface="+mn-ea"/>
              </a:rPr>
              <a:t>这个信息，</a:t>
            </a:r>
            <a:r>
              <a:rPr sz="2400" b="1">
                <a:sym typeface="+mn-ea"/>
              </a:rPr>
              <a:t>D项“ 悦纳”</a:t>
            </a:r>
            <a:r>
              <a:rPr lang="zh-CN" sz="2400" b="1">
                <a:sym typeface="+mn-ea"/>
              </a:rPr>
              <a:t>从感到不满的</a:t>
            </a:r>
            <a:r>
              <a:rPr lang="en-US" altLang="zh-CN" sz="2400" b="1">
                <a:sym typeface="+mn-ea"/>
              </a:rPr>
              <a:t>“</a:t>
            </a:r>
            <a:r>
              <a:rPr lang="zh-CN" altLang="en-US" sz="2400" b="1">
                <a:sym typeface="+mn-ea"/>
              </a:rPr>
              <a:t>读者</a:t>
            </a:r>
            <a:r>
              <a:rPr lang="en-US" altLang="zh-CN" sz="2400" b="1">
                <a:sym typeface="+mn-ea"/>
              </a:rPr>
              <a:t>”</a:t>
            </a:r>
            <a:r>
              <a:rPr lang="zh-CN" altLang="en-US" sz="2400" b="1">
                <a:sym typeface="+mn-ea"/>
              </a:rPr>
              <a:t>角度出发，把</a:t>
            </a:r>
            <a:r>
              <a:rPr lang="en-US" altLang="zh-CN" sz="2400" b="1">
                <a:sym typeface="+mn-ea"/>
              </a:rPr>
              <a:t>“</a:t>
            </a:r>
            <a:r>
              <a:rPr lang="zh-CN" altLang="en-US" sz="2400" b="1">
                <a:sym typeface="+mn-ea"/>
              </a:rPr>
              <a:t>悦纳自己</a:t>
            </a:r>
            <a:r>
              <a:rPr lang="en-US" altLang="zh-CN" sz="2400" b="1">
                <a:sym typeface="+mn-ea"/>
              </a:rPr>
              <a:t>”</a:t>
            </a:r>
            <a:r>
              <a:rPr lang="zh-CN" altLang="en-US" sz="2400" b="1">
                <a:sym typeface="+mn-ea"/>
              </a:rPr>
              <a:t>和</a:t>
            </a:r>
            <a:r>
              <a:rPr sz="2400" b="1">
                <a:sym typeface="+mn-ea"/>
              </a:rPr>
              <a:t>“</a:t>
            </a:r>
            <a:r>
              <a:rPr lang="zh-CN" sz="2400" b="1">
                <a:sym typeface="+mn-ea"/>
              </a:rPr>
              <a:t>悦纳别人（</a:t>
            </a:r>
            <a:r>
              <a:rPr sz="2400" b="1">
                <a:sym typeface="+mn-ea"/>
              </a:rPr>
              <a:t>尊重社会成员</a:t>
            </a:r>
            <a:r>
              <a:rPr lang="zh-CN" sz="2400" b="1">
                <a:sym typeface="+mn-ea"/>
              </a:rPr>
              <a:t>）</a:t>
            </a:r>
            <a:r>
              <a:rPr sz="2400" b="1">
                <a:sym typeface="+mn-ea"/>
              </a:rPr>
              <a:t>”</a:t>
            </a:r>
            <a:r>
              <a:rPr lang="zh-CN" sz="2400" b="1">
                <a:sym typeface="+mn-ea"/>
              </a:rPr>
              <a:t>相结合，这样拟题未尝不可，</a:t>
            </a:r>
            <a:r>
              <a:rPr lang="zh-CN" altLang="en-US" sz="2400" b="1">
                <a:sym typeface="+mn-ea"/>
              </a:rPr>
              <a:t>但</a:t>
            </a:r>
            <a:r>
              <a:rPr sz="2400" b="1">
                <a:sym typeface="+mn-ea"/>
              </a:rPr>
              <a:t>比不上</a:t>
            </a:r>
            <a:r>
              <a:rPr lang="en-US" sz="2400" b="1">
                <a:sym typeface="+mn-ea"/>
              </a:rPr>
              <a:t>AE</a:t>
            </a:r>
            <a:r>
              <a:rPr lang="zh-CN" altLang="en-US" sz="2400" b="1">
                <a:sym typeface="+mn-ea"/>
              </a:rPr>
              <a:t>的</a:t>
            </a:r>
            <a:r>
              <a:rPr lang="en-US" sz="2400" b="1">
                <a:sym typeface="+mn-ea"/>
              </a:rPr>
              <a:t>“</a:t>
            </a:r>
            <a:r>
              <a:rPr sz="2400" b="1">
                <a:sym typeface="+mn-ea"/>
              </a:rPr>
              <a:t>尊重</a:t>
            </a:r>
            <a:r>
              <a:rPr lang="en-US" sz="2400" b="1">
                <a:sym typeface="+mn-ea"/>
              </a:rPr>
              <a:t>”</a:t>
            </a:r>
            <a:r>
              <a:rPr lang="zh-CN" sz="2400" b="1">
                <a:sym typeface="+mn-ea"/>
              </a:rPr>
              <a:t>。</a:t>
            </a:r>
            <a:endParaRPr lang="en-US" sz="2400" b="1" dirty="0">
              <a:solidFill>
                <a:schemeClr val="tx1"/>
              </a:solidFill>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213995" y="613410"/>
            <a:ext cx="11764645" cy="6000750"/>
          </a:xfrm>
          <a:prstGeom prst="rect">
            <a:avLst/>
          </a:prstGeom>
          <a:noFill/>
        </p:spPr>
        <p:txBody>
          <a:bodyPr wrap="square" rtlCol="0">
            <a:spAutoFit/>
          </a:bodyPr>
          <a:lstStyle/>
          <a:p>
            <a:pPr marL="0" marR="0" algn="l" defTabSz="914400" rtl="0" eaLnBrk="1" latinLnBrk="0" hangingPunct="1">
              <a:lnSpc>
                <a:spcPct val="100000"/>
              </a:lnSpc>
              <a:spcBef>
                <a:spcPts val="0"/>
              </a:spcBef>
              <a:buClrTx/>
              <a:buSzTx/>
              <a:buFontTx/>
              <a:buNone/>
            </a:pPr>
            <a:r>
              <a:rPr lang="en-US" sz="2400" b="1">
                <a:sym typeface="+mn-ea"/>
              </a:rPr>
              <a:t>20</a:t>
            </a:r>
            <a:r>
              <a:rPr sz="2400" b="1">
                <a:sym typeface="+mn-ea"/>
              </a:rPr>
              <a:t>、BC</a:t>
            </a:r>
            <a:r>
              <a:rPr lang="en-US" sz="2400" b="1">
                <a:sym typeface="+mn-ea"/>
              </a:rPr>
              <a:t>/</a:t>
            </a:r>
            <a:r>
              <a:rPr sz="2400" b="1">
                <a:sym typeface="+mn-ea"/>
              </a:rPr>
              <a:t>BC从罗琳角度出发，准确把握到“放下盛名”</a:t>
            </a:r>
            <a:r>
              <a:rPr lang="zh-CN" sz="2400" b="1">
                <a:sym typeface="+mn-ea"/>
              </a:rPr>
              <a:t>（符合罗琳的现状）、</a:t>
            </a:r>
            <a:r>
              <a:rPr sz="2400" b="1">
                <a:sym typeface="+mn-ea"/>
              </a:rPr>
              <a:t>“享受快乐”</a:t>
            </a:r>
            <a:r>
              <a:rPr lang="zh-CN" sz="2400" b="1">
                <a:sym typeface="+mn-ea"/>
              </a:rPr>
              <a:t>（材料中罗琳的自述）</a:t>
            </a:r>
            <a:r>
              <a:rPr sz="2400" b="1">
                <a:sym typeface="+mn-ea"/>
              </a:rPr>
              <a:t>的核心思想； A项</a:t>
            </a:r>
            <a:r>
              <a:rPr lang="zh-CN" sz="2400" b="1">
                <a:sym typeface="+mn-ea"/>
              </a:rPr>
              <a:t>不符合材料，罗琳隐瞒身份谈不上</a:t>
            </a:r>
            <a:r>
              <a:rPr lang="en-US" altLang="zh-CN" sz="2400" b="1">
                <a:sym typeface="+mn-ea"/>
              </a:rPr>
              <a:t>“</a:t>
            </a:r>
            <a:r>
              <a:rPr lang="zh-CN" altLang="en-US" sz="2400" b="1">
                <a:sym typeface="+mn-ea"/>
              </a:rPr>
              <a:t>真实的自己</a:t>
            </a:r>
            <a:r>
              <a:rPr lang="en-US" altLang="zh-CN" sz="2400" b="1">
                <a:sym typeface="+mn-ea"/>
              </a:rPr>
              <a:t>”</a:t>
            </a:r>
            <a:r>
              <a:rPr sz="2400" b="1">
                <a:sym typeface="+mn-ea"/>
              </a:rPr>
              <a:t>； D项是短语，观点不明，不提倡，</a:t>
            </a:r>
            <a:r>
              <a:rPr lang="zh-CN" sz="2400" b="1">
                <a:sym typeface="+mn-ea"/>
              </a:rPr>
              <a:t>不是合适的，</a:t>
            </a:r>
            <a:r>
              <a:rPr sz="2400" b="1">
                <a:sym typeface="+mn-ea"/>
              </a:rPr>
              <a:t>E项偏离题意</a:t>
            </a:r>
            <a:r>
              <a:rPr lang="zh-CN" sz="2400" b="1">
                <a:sym typeface="+mn-ea"/>
              </a:rPr>
              <a:t>，于文无据。</a:t>
            </a:r>
          </a:p>
          <a:p>
            <a:pPr marL="0" marR="0" indent="0" algn="l" defTabSz="914400" rtl="0" eaLnBrk="1" fontAlgn="auto" latinLnBrk="0" hangingPunct="1">
              <a:lnSpc>
                <a:spcPct val="100000"/>
              </a:lnSpc>
              <a:spcBef>
                <a:spcPts val="0"/>
              </a:spcBef>
              <a:spcAft>
                <a:spcPts val="0"/>
              </a:spcAft>
              <a:buClrTx/>
              <a:buSzTx/>
              <a:buFontTx/>
              <a:buNone/>
              <a:defRPr/>
            </a:pPr>
            <a:r>
              <a:rPr lang="en-US" sz="2400" b="1" dirty="0">
                <a:sym typeface="+mn-ea"/>
              </a:rPr>
              <a:t>21、AB/A项从舆论翻转角度立意</a:t>
            </a:r>
            <a:r>
              <a:rPr lang="zh-CN" sz="2400" b="1" dirty="0">
                <a:sym typeface="+mn-ea"/>
              </a:rPr>
              <a:t>，符合材料核心，</a:t>
            </a:r>
            <a:r>
              <a:rPr lang="en-US" sz="2400" b="1" dirty="0">
                <a:sym typeface="+mn-ea"/>
              </a:rPr>
              <a:t>B项从“列车员心疼山里百姓也就默许了”角度立意</a:t>
            </a:r>
            <a:r>
              <a:rPr lang="zh-CN" altLang="en-US" sz="2400" b="1" dirty="0">
                <a:sym typeface="+mn-ea"/>
              </a:rPr>
              <a:t>，指出</a:t>
            </a:r>
            <a:r>
              <a:rPr lang="en-US" altLang="zh-CN" sz="2400" b="1" dirty="0">
                <a:sym typeface="+mn-ea"/>
              </a:rPr>
              <a:t>“</a:t>
            </a:r>
            <a:r>
              <a:rPr lang="zh-CN" altLang="en-US" sz="2400" b="1" dirty="0">
                <a:sym typeface="+mn-ea"/>
              </a:rPr>
              <a:t>规则</a:t>
            </a:r>
            <a:r>
              <a:rPr lang="en-US" altLang="zh-CN" sz="2400" b="1" dirty="0">
                <a:sym typeface="+mn-ea"/>
              </a:rPr>
              <a:t>”</a:t>
            </a:r>
            <a:r>
              <a:rPr lang="zh-CN" altLang="en-US" sz="2400" b="1" dirty="0">
                <a:sym typeface="+mn-ea"/>
              </a:rPr>
              <a:t>的相对性和灵活性，</a:t>
            </a:r>
            <a:r>
              <a:rPr lang="en-US" sz="2400" b="1" dirty="0">
                <a:sym typeface="+mn-ea"/>
              </a:rPr>
              <a:t>C项另起炉灶，脱离材料</a:t>
            </a:r>
            <a:r>
              <a:rPr lang="zh-CN" altLang="en-US" sz="2400" b="1" dirty="0">
                <a:sym typeface="+mn-ea"/>
              </a:rPr>
              <a:t>，材料并不涉及</a:t>
            </a:r>
            <a:r>
              <a:rPr lang="en-US" altLang="zh-CN" sz="2400" b="1" dirty="0">
                <a:sym typeface="+mn-ea"/>
              </a:rPr>
              <a:t>“</a:t>
            </a:r>
            <a:r>
              <a:rPr lang="zh-CN" altLang="en-US" sz="2400" b="1" dirty="0">
                <a:sym typeface="+mn-ea"/>
              </a:rPr>
              <a:t>风俗</a:t>
            </a:r>
            <a:r>
              <a:rPr lang="en-US" altLang="zh-CN" sz="2400" b="1" dirty="0">
                <a:sym typeface="+mn-ea"/>
              </a:rPr>
              <a:t>”</a:t>
            </a:r>
            <a:r>
              <a:rPr lang="zh-CN" altLang="en-US" sz="2400" b="1" dirty="0">
                <a:sym typeface="+mn-ea"/>
              </a:rPr>
              <a:t>，</a:t>
            </a:r>
            <a:r>
              <a:rPr lang="en-US" sz="2400" b="1" dirty="0">
                <a:sym typeface="+mn-ea"/>
              </a:rPr>
              <a:t>D项是单个名词，观点不明，</a:t>
            </a:r>
            <a:r>
              <a:rPr lang="zh-CN" altLang="en-US" sz="2400" b="1" dirty="0">
                <a:sym typeface="+mn-ea"/>
              </a:rPr>
              <a:t>太单薄，</a:t>
            </a:r>
            <a:r>
              <a:rPr lang="en-US" sz="2400" b="1" dirty="0">
                <a:sym typeface="+mn-ea"/>
              </a:rPr>
              <a:t>不提倡</a:t>
            </a:r>
            <a:r>
              <a:rPr lang="zh-CN" altLang="en-US" sz="2400" b="1" dirty="0">
                <a:sym typeface="+mn-ea"/>
              </a:rPr>
              <a:t>，</a:t>
            </a:r>
            <a:r>
              <a:rPr lang="en-US" sz="2400" b="1" dirty="0">
                <a:sym typeface="+mn-ea"/>
              </a:rPr>
              <a:t>E项也含有“真相”，和材料沾边，但是后面的“并不遥远”，观点不明，不如A明确</a:t>
            </a:r>
            <a:r>
              <a:rPr lang="zh-CN" altLang="en-US" sz="2400" b="1" dirty="0">
                <a:sym typeface="+mn-ea"/>
              </a:rPr>
              <a:t>。</a:t>
            </a:r>
          </a:p>
          <a:p>
            <a:pPr marL="0" marR="0" indent="0" algn="l" defTabSz="914400" rtl="0" eaLnBrk="1" fontAlgn="auto" latinLnBrk="0" hangingPunct="1">
              <a:lnSpc>
                <a:spcPct val="100000"/>
              </a:lnSpc>
              <a:spcBef>
                <a:spcPts val="0"/>
              </a:spcBef>
              <a:spcAft>
                <a:spcPts val="0"/>
              </a:spcAft>
              <a:buClrTx/>
              <a:buSzTx/>
              <a:buFontTx/>
              <a:buNone/>
              <a:defRPr/>
            </a:pPr>
            <a:r>
              <a:rPr lang="en-US" sz="2400" b="1" dirty="0">
                <a:sym typeface="+mn-ea"/>
              </a:rPr>
              <a:t>22、CE/AB从上二本上高职高专</a:t>
            </a:r>
            <a:r>
              <a:rPr lang="zh-CN" altLang="en-US" sz="2400" b="1" dirty="0">
                <a:sym typeface="+mn-ea"/>
              </a:rPr>
              <a:t>的角度，</a:t>
            </a:r>
            <a:r>
              <a:rPr lang="en-US" sz="2400" b="1" dirty="0">
                <a:sym typeface="+mn-ea"/>
              </a:rPr>
              <a:t>D</a:t>
            </a:r>
            <a:r>
              <a:rPr lang="zh-CN" altLang="en-US" sz="2400" b="1" dirty="0">
                <a:sym typeface="+mn-ea"/>
              </a:rPr>
              <a:t>从</a:t>
            </a:r>
            <a:r>
              <a:rPr lang="zh-CN" sz="2400" b="1" dirty="0">
                <a:sym typeface="+mn-ea"/>
              </a:rPr>
              <a:t>选择</a:t>
            </a:r>
            <a:r>
              <a:rPr lang="en-US" sz="2400" b="1" dirty="0">
                <a:sym typeface="+mn-ea"/>
              </a:rPr>
              <a:t>复读</a:t>
            </a:r>
            <a:r>
              <a:rPr lang="zh-CN" altLang="en-US" sz="2400" b="1" dirty="0">
                <a:sym typeface="+mn-ea"/>
              </a:rPr>
              <a:t>的角度，切合材料，且合情合理，</a:t>
            </a:r>
            <a:r>
              <a:rPr lang="en-US" sz="2400" b="1" dirty="0">
                <a:sym typeface="+mn-ea"/>
              </a:rPr>
              <a:t>C项</a:t>
            </a:r>
            <a:r>
              <a:rPr lang="zh-CN" altLang="en-US" sz="2400" b="1" dirty="0">
                <a:sym typeface="+mn-ea"/>
              </a:rPr>
              <a:t>太泛，模棱两可，</a:t>
            </a:r>
            <a:r>
              <a:rPr lang="en-US" sz="2400" b="1" dirty="0">
                <a:sym typeface="+mn-ea"/>
              </a:rPr>
              <a:t>似乎是在谈复读，</a:t>
            </a:r>
            <a:r>
              <a:rPr lang="zh-CN" altLang="en-US" sz="2400" b="1" dirty="0">
                <a:sym typeface="+mn-ea"/>
              </a:rPr>
              <a:t>但又不够</a:t>
            </a:r>
            <a:r>
              <a:rPr lang="en-US" sz="2400" b="1" dirty="0">
                <a:sym typeface="+mn-ea"/>
              </a:rPr>
              <a:t>明确，</a:t>
            </a:r>
            <a:r>
              <a:rPr lang="zh-CN" altLang="en-US" sz="2400" b="1" dirty="0">
                <a:sym typeface="+mn-ea"/>
              </a:rPr>
              <a:t>不太合适，</a:t>
            </a:r>
            <a:r>
              <a:rPr lang="en-US" sz="2400" b="1" dirty="0">
                <a:sym typeface="+mn-ea"/>
              </a:rPr>
              <a:t>E项</a:t>
            </a:r>
            <a:r>
              <a:rPr lang="zh-CN" altLang="en-US" sz="2400" b="1" dirty="0">
                <a:sym typeface="+mn-ea"/>
              </a:rPr>
              <a:t>断章取义，上升为</a:t>
            </a:r>
            <a:r>
              <a:rPr lang="en-US" altLang="zh-CN" sz="2400" b="1" dirty="0">
                <a:sym typeface="+mn-ea"/>
              </a:rPr>
              <a:t>“</a:t>
            </a:r>
            <a:r>
              <a:rPr lang="zh-CN" altLang="en-US" sz="2400" b="1" dirty="0">
                <a:sym typeface="+mn-ea"/>
              </a:rPr>
              <a:t>难成大事</a:t>
            </a:r>
            <a:r>
              <a:rPr lang="en-US" altLang="zh-CN" sz="2400" b="1" dirty="0">
                <a:sym typeface="+mn-ea"/>
              </a:rPr>
              <a:t>”</a:t>
            </a:r>
            <a:r>
              <a:rPr lang="zh-CN" altLang="en-US" sz="2400" b="1" dirty="0">
                <a:sym typeface="+mn-ea"/>
              </a:rPr>
              <a:t>也有拔高。）</a:t>
            </a:r>
          </a:p>
          <a:p>
            <a:pPr marL="0" marR="0" indent="0" algn="l" defTabSz="914400" rtl="0" eaLnBrk="1" fontAlgn="auto" latinLnBrk="0" hangingPunct="1">
              <a:lnSpc>
                <a:spcPct val="100000"/>
              </a:lnSpc>
              <a:spcBef>
                <a:spcPts val="0"/>
              </a:spcBef>
              <a:spcAft>
                <a:spcPts val="0"/>
              </a:spcAft>
              <a:buClrTx/>
              <a:buSzTx/>
              <a:buFontTx/>
              <a:buNone/>
              <a:defRPr/>
            </a:pPr>
            <a:r>
              <a:rPr lang="en-US" sz="2400" b="1" dirty="0">
                <a:sym typeface="+mn-ea"/>
              </a:rPr>
              <a:t>23、AE/A项不是观点，</a:t>
            </a:r>
            <a:r>
              <a:rPr lang="zh-CN" altLang="en-US" sz="2400" b="1" dirty="0">
                <a:sym typeface="+mn-ea"/>
              </a:rPr>
              <a:t>只是陈述</a:t>
            </a:r>
            <a:r>
              <a:rPr lang="en-US" sz="2400" b="1" dirty="0">
                <a:sym typeface="+mn-ea"/>
              </a:rPr>
              <a:t>现象</a:t>
            </a:r>
            <a:r>
              <a:rPr lang="zh-CN" altLang="en-US" sz="2400" b="1" dirty="0">
                <a:sym typeface="+mn-ea"/>
              </a:rPr>
              <a:t>，不太适合做时评文章的标题，</a:t>
            </a:r>
            <a:r>
              <a:rPr lang="en-US" sz="2400" b="1" dirty="0">
                <a:sym typeface="+mn-ea"/>
              </a:rPr>
              <a:t>E项</a:t>
            </a:r>
            <a:r>
              <a:rPr lang="zh-CN" altLang="en-US" sz="2400" b="1" dirty="0">
                <a:sym typeface="+mn-ea"/>
              </a:rPr>
              <a:t>谈到</a:t>
            </a:r>
            <a:r>
              <a:rPr lang="en-US" altLang="zh-CN" sz="2400" b="1" dirty="0">
                <a:sym typeface="+mn-ea"/>
              </a:rPr>
              <a:t>“</a:t>
            </a:r>
            <a:r>
              <a:rPr lang="zh-CN" altLang="en-US" sz="2400" b="1" dirty="0">
                <a:sym typeface="+mn-ea"/>
              </a:rPr>
              <a:t>谦虚</a:t>
            </a:r>
            <a:r>
              <a:rPr lang="en-US" altLang="zh-CN" sz="2400" b="1" dirty="0">
                <a:sym typeface="+mn-ea"/>
              </a:rPr>
              <a:t>”</a:t>
            </a:r>
            <a:r>
              <a:rPr lang="zh-CN" altLang="en-US" sz="2400" b="1" dirty="0">
                <a:sym typeface="+mn-ea"/>
              </a:rPr>
              <a:t>，没有切中材料中心，没有完成写作任务。</a:t>
            </a:r>
          </a:p>
          <a:p>
            <a:pPr marL="0" marR="0" indent="0" algn="l" defTabSz="914400" rtl="0" eaLnBrk="1" fontAlgn="auto" latinLnBrk="0" hangingPunct="1">
              <a:lnSpc>
                <a:spcPct val="100000"/>
              </a:lnSpc>
              <a:spcBef>
                <a:spcPts val="0"/>
              </a:spcBef>
              <a:spcAft>
                <a:spcPts val="0"/>
              </a:spcAft>
              <a:buClrTx/>
              <a:buSzTx/>
              <a:buFontTx/>
              <a:buNone/>
              <a:defRPr/>
            </a:pPr>
            <a:r>
              <a:rPr lang="en-US" sz="2400" b="1" dirty="0">
                <a:sym typeface="+mn-ea"/>
              </a:rPr>
              <a:t>24、AB/A对“回乡教书</a:t>
            </a:r>
            <a:r>
              <a:rPr lang="zh-CN" altLang="en-US" sz="2400" b="1" dirty="0">
                <a:sym typeface="+mn-ea"/>
              </a:rPr>
              <a:t>，改变家乡</a:t>
            </a:r>
            <a:r>
              <a:rPr lang="en-US" sz="2400" b="1" dirty="0">
                <a:sym typeface="+mn-ea"/>
              </a:rPr>
              <a:t>”</a:t>
            </a:r>
            <a:r>
              <a:rPr lang="zh-CN" altLang="en-US" sz="2400" b="1" dirty="0">
                <a:sym typeface="+mn-ea"/>
              </a:rPr>
              <a:t>来谈，用</a:t>
            </a:r>
            <a:r>
              <a:rPr lang="en-US" altLang="zh-CN" sz="2400" b="1" dirty="0">
                <a:sym typeface="+mn-ea"/>
              </a:rPr>
              <a:t>“</a:t>
            </a:r>
            <a:r>
              <a:rPr lang="zh-CN" altLang="en-US" sz="2400" b="1" dirty="0">
                <a:sym typeface="+mn-ea"/>
              </a:rPr>
              <a:t>初心</a:t>
            </a:r>
            <a:r>
              <a:rPr lang="en-US" altLang="zh-CN" sz="2400" b="1" dirty="0">
                <a:sym typeface="+mn-ea"/>
              </a:rPr>
              <a:t>”</a:t>
            </a:r>
            <a:r>
              <a:rPr lang="zh-CN" altLang="en-US" sz="2400" b="1" dirty="0">
                <a:sym typeface="+mn-ea"/>
              </a:rPr>
              <a:t>一词可谓恰到好处，反映当下扶贫的热点，</a:t>
            </a:r>
            <a:r>
              <a:rPr lang="en-US" altLang="zh-CN" sz="2400" b="1" dirty="0">
                <a:sym typeface="+mn-ea"/>
              </a:rPr>
              <a:t>B</a:t>
            </a:r>
            <a:r>
              <a:rPr lang="zh-CN" altLang="en-US" sz="2400" b="1" dirty="0">
                <a:sym typeface="+mn-ea"/>
              </a:rPr>
              <a:t>项从</a:t>
            </a:r>
            <a:r>
              <a:rPr lang="en-US" sz="2400" b="1" dirty="0">
                <a:sym typeface="+mn-ea"/>
              </a:rPr>
              <a:t>“创业</a:t>
            </a:r>
            <a:r>
              <a:rPr lang="zh-CN" altLang="en-US" sz="2400" b="1" dirty="0">
                <a:sym typeface="+mn-ea"/>
              </a:rPr>
              <a:t>梦</a:t>
            </a:r>
            <a:r>
              <a:rPr lang="en-US" sz="2400" b="1" dirty="0">
                <a:sym typeface="+mn-ea"/>
              </a:rPr>
              <a:t>”</a:t>
            </a:r>
            <a:r>
              <a:rPr lang="zh-CN" altLang="en-US" sz="2400" b="1" dirty="0">
                <a:sym typeface="+mn-ea"/>
              </a:rPr>
              <a:t>的角度来写，完成了写作任务，且</a:t>
            </a:r>
            <a:r>
              <a:rPr lang="en-US" sz="2400" b="1" dirty="0">
                <a:sym typeface="+mn-ea"/>
              </a:rPr>
              <a:t>一语双关，很妙</a:t>
            </a:r>
            <a:r>
              <a:rPr lang="zh-CN" altLang="en-US" sz="2400" b="1" dirty="0">
                <a:sym typeface="+mn-ea"/>
              </a:rPr>
              <a:t>。</a:t>
            </a:r>
            <a:r>
              <a:rPr lang="en-US" sz="2400" b="1" dirty="0">
                <a:sym typeface="+mn-ea"/>
              </a:rPr>
              <a:t>C项观点不明，</a:t>
            </a:r>
            <a:r>
              <a:rPr lang="zh-CN" altLang="en-US" sz="2400" b="1" dirty="0">
                <a:sym typeface="+mn-ea"/>
              </a:rPr>
              <a:t>易泛泛而谈，</a:t>
            </a:r>
            <a:r>
              <a:rPr lang="en-US" sz="2400" b="1" dirty="0">
                <a:sym typeface="+mn-ea"/>
              </a:rPr>
              <a:t>不提倡</a:t>
            </a:r>
            <a:r>
              <a:rPr lang="zh-CN" altLang="en-US" sz="2400" b="1" dirty="0">
                <a:sym typeface="+mn-ea"/>
              </a:rPr>
              <a:t>，</a:t>
            </a:r>
            <a:r>
              <a:rPr lang="en-US" sz="2400" b="1" dirty="0">
                <a:sym typeface="+mn-ea"/>
              </a:rPr>
              <a:t>D项</a:t>
            </a:r>
            <a:r>
              <a:rPr lang="zh-CN" altLang="en-US" sz="2400" b="1" dirty="0">
                <a:sym typeface="+mn-ea"/>
              </a:rPr>
              <a:t>两个问号，没有直接解答，</a:t>
            </a:r>
            <a:r>
              <a:rPr lang="en-US" sz="2400" b="1" dirty="0">
                <a:sym typeface="+mn-ea"/>
              </a:rPr>
              <a:t>表意不明</a:t>
            </a:r>
            <a:r>
              <a:rPr lang="zh-CN" altLang="en-US" sz="2400" b="1" dirty="0">
                <a:sym typeface="+mn-ea"/>
              </a:rPr>
              <a:t>，非最合适，</a:t>
            </a:r>
            <a:r>
              <a:rPr lang="en-US" sz="2400" b="1" dirty="0">
                <a:sym typeface="+mn-ea"/>
              </a:rPr>
              <a:t>E项</a:t>
            </a:r>
            <a:r>
              <a:rPr lang="zh-CN" altLang="en-US" sz="2400" b="1" dirty="0">
                <a:sym typeface="+mn-ea"/>
              </a:rPr>
              <a:t>从</a:t>
            </a:r>
            <a:r>
              <a:rPr lang="en-US" altLang="zh-CN" sz="2400" b="1" dirty="0">
                <a:sym typeface="+mn-ea"/>
              </a:rPr>
              <a:t>“</a:t>
            </a:r>
            <a:r>
              <a:rPr lang="zh-CN" altLang="en-US" sz="2400" b="1" dirty="0">
                <a:sym typeface="+mn-ea"/>
              </a:rPr>
              <a:t>加盟外企</a:t>
            </a:r>
            <a:r>
              <a:rPr lang="en-US" altLang="zh-CN" sz="2400" b="1" dirty="0">
                <a:sym typeface="+mn-ea"/>
              </a:rPr>
              <a:t>”</a:t>
            </a:r>
            <a:r>
              <a:rPr lang="zh-CN" altLang="en-US" sz="2400" b="1" dirty="0">
                <a:sym typeface="+mn-ea"/>
              </a:rPr>
              <a:t>角度出发，但观点太过表面、肤浅，也非最合适。</a:t>
            </a:r>
            <a:endParaRPr lang="en-US" sz="2400" b="1" dirty="0">
              <a:solidFill>
                <a:schemeClr val="tx1"/>
              </a:solidFill>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矩形 398341"/>
          <p:cNvSpPr>
            <a:spLocks noTextEdit="1"/>
          </p:cNvSpPr>
          <p:nvPr/>
        </p:nvSpPr>
        <p:spPr>
          <a:xfrm>
            <a:off x="3291840" y="1154430"/>
            <a:ext cx="5946775" cy="4549140"/>
          </a:xfrm>
          <a:prstGeom prst="rect">
            <a:avLst/>
          </a:prstGeom>
        </p:spPr>
        <p:txBody>
          <a:bodyPr wrap="none" fromWordArt="1">
            <a:prstTxWarp prst="textPlain">
              <a:avLst>
                <a:gd name="adj" fmla="val 50000"/>
              </a:avLst>
            </a:prstTxWarp>
            <a:normAutofit/>
          </a:bodyPr>
          <a:lstStyle/>
          <a:p>
            <a:pPr algn="ctr"/>
            <a:endParaRPr lang="zh-CN" altLang="en-US" sz="2700" b="1">
              <a:ln w="9525" cap="flat" cmpd="sng">
                <a:solidFill>
                  <a:schemeClr val="bg1"/>
                </a:solidFill>
                <a:prstDash val="solid"/>
                <a:round/>
                <a:headEnd type="none" w="med" len="med"/>
                <a:tailEnd type="none" w="med" len="med"/>
              </a:ln>
              <a:solidFill>
                <a:srgbClr val="72BFC5"/>
              </a:solidFill>
              <a:effectLst>
                <a:outerShdw dist="45791" dir="2021404" algn="ctr" rotWithShape="0">
                  <a:srgbClr val="B2B2B2">
                    <a:alpha val="79999"/>
                  </a:srgbClr>
                </a:outerShdw>
              </a:effectLst>
              <a:latin typeface="黑体" panose="02010609060101010101" pitchFamily="49" charset="-122"/>
              <a:ea typeface="黑体" panose="02010609060101010101" pitchFamily="49" charset="-122"/>
            </a:endParaRPr>
          </a:p>
        </p:txBody>
      </p:sp>
      <p:sp>
        <p:nvSpPr>
          <p:cNvPr id="39943" name="矩形 177160"/>
          <p:cNvSpPr/>
          <p:nvPr/>
        </p:nvSpPr>
        <p:spPr>
          <a:xfrm>
            <a:off x="2356485" y="1171575"/>
            <a:ext cx="7209155" cy="4099560"/>
          </a:xfrm>
          <a:prstGeom prst="rect">
            <a:avLst/>
          </a:prstGeom>
        </p:spPr>
        <p:txBody>
          <a:bodyPr wrap="none" fromWordArt="1">
            <a:prstTxWarp prst="textPlain">
              <a:avLst>
                <a:gd name="adj" fmla="val 50000"/>
              </a:avLst>
            </a:prstTxWarp>
            <a:normAutofit/>
          </a:bodyPr>
          <a:lstStyle/>
          <a:p>
            <a:pPr algn="ctr">
              <a:buClrTx/>
              <a:buSzTx/>
              <a:buFontTx/>
            </a:pPr>
            <a:r>
              <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sym typeface="+mn-ea"/>
              </a:rPr>
              <a:t>任务驱动型作文拟题要诀</a:t>
            </a:r>
          </a:p>
          <a:p>
            <a:pPr algn="ctr">
              <a:buClrTx/>
              <a:buSzTx/>
              <a:buFontTx/>
            </a:pPr>
            <a:endPar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endParaRPr>
          </a:p>
          <a:p>
            <a:pPr algn="ctr">
              <a:buClrTx/>
              <a:buSzTx/>
              <a:buFontTx/>
            </a:pPr>
            <a:r>
              <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sym typeface="+mn-ea"/>
              </a:rPr>
              <a:t>紧扣材料，不另起炉灶</a:t>
            </a:r>
          </a:p>
          <a:p>
            <a:pPr algn="ctr">
              <a:buClrTx/>
              <a:buSzTx/>
              <a:buFontTx/>
            </a:pPr>
            <a:r>
              <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sym typeface="+mn-ea"/>
              </a:rPr>
              <a:t>就事说理，不泛泛而谈</a:t>
            </a:r>
            <a:endPar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endParaRPr>
          </a:p>
          <a:p>
            <a:pPr algn="ctr">
              <a:buClrTx/>
              <a:buSzTx/>
              <a:buFontTx/>
            </a:pPr>
            <a:r>
              <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sym typeface="+mn-ea"/>
              </a:rPr>
              <a:t>观点明确，不左右摇摆</a:t>
            </a:r>
            <a:endPar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endParaRPr>
          </a:p>
          <a:p>
            <a:pPr algn="ctr">
              <a:buClrTx/>
              <a:buSzTx/>
              <a:buFontTx/>
            </a:pPr>
            <a:r>
              <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sym typeface="+mn-ea"/>
              </a:rPr>
              <a:t>完成任务，不忽略要求</a:t>
            </a:r>
            <a:endParaRPr lang="zh-CN" altLang="en-US" sz="3600" spc="720">
              <a:ln w="9525" cap="flat" cmpd="sng">
                <a:solidFill>
                  <a:srgbClr val="800000"/>
                </a:solidFill>
                <a:prstDash val="solid"/>
                <a:round/>
                <a:headEnd type="none" w="med" len="med"/>
                <a:tailEnd type="none" w="med" len="med"/>
              </a:ln>
              <a:gradFill rotWithShape="0">
                <a:gsLst>
                  <a:gs pos="0">
                    <a:srgbClr val="AAAAAA"/>
                  </a:gs>
                  <a:gs pos="100000">
                    <a:srgbClr val="FFFFFF"/>
                  </a:gs>
                </a:gsLst>
                <a:lin ang="5400000" scaled="1"/>
                <a:tileRect/>
              </a:gradFill>
              <a:effectLst>
                <a:outerShdw dist="45791" dir="3378595" algn="ctr" rotWithShape="0">
                  <a:srgbClr val="4D4D4D">
                    <a:alpha val="79999"/>
                  </a:srgbClr>
                </a:outerShdw>
              </a:effectLst>
              <a:latin typeface="隶书" panose="02010509060101010101" charset="-122"/>
              <a:ea typeface="隶书" panose="02010509060101010101" charset="-122"/>
            </a:endParaRPr>
          </a:p>
        </p:txBody>
      </p:sp>
    </p:spTree>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KSO_WM_DOC_GUID" val="{19ebf6c9-125d-46e5-a9d9-f535ae111488}"/>
</p:tagLst>
</file>

<file path=ppt/theme/theme1.xml><?xml version="1.0" encoding="utf-8"?>
<a:theme xmlns:a="http://schemas.openxmlformats.org/drawingml/2006/main" name="默认设计模板">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390</TotalTime>
  <Words>6035</Words>
  <Application>Microsoft Office PowerPoint</Application>
  <PresentationFormat>宽屏</PresentationFormat>
  <Paragraphs>426</Paragraphs>
  <Slides>46</Slides>
  <Notes>34</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46</vt:i4>
      </vt:variant>
    </vt:vector>
  </HeadingPairs>
  <TitlesOfParts>
    <vt:vector size="57" baseType="lpstr">
      <vt:lpstr>PingFang SC</vt:lpstr>
      <vt:lpstr>simsun</vt:lpstr>
      <vt:lpstr>Times New Romance</vt:lpstr>
      <vt:lpstr>黑体</vt:lpstr>
      <vt:lpstr>华文新魏</vt:lpstr>
      <vt:lpstr>隶书</vt:lpstr>
      <vt:lpstr>宋体</vt:lpstr>
      <vt:lpstr>Arial</vt:lpstr>
      <vt:lpstr>Calibri</vt:lpstr>
      <vt:lpstr>Times New Roman</vt:lpstr>
      <vt:lpstr>默认设计模板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感受文采</dc:title>
  <dc:creator>tzl</dc:creator>
  <cp:lastModifiedBy>LJJ</cp:lastModifiedBy>
  <cp:revision>646</cp:revision>
  <dcterms:created xsi:type="dcterms:W3CDTF">2019-01-08T01:51:00Z</dcterms:created>
  <dcterms:modified xsi:type="dcterms:W3CDTF">2020-12-24T10:26:43Z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r8>1</vt:r8>
  </property>
  <property fmtid="{D5CDD505-2E9C-101B-9397-08002B2CF9AE}" pid="3" name="KSOProductBuildVer">
    <vt:lpwstr>2052-11.1.0.9339</vt:lpwstr>
  </property>
  <property fmtid="{D5CDD505-2E9C-101B-9397-08002B2CF9AE}" pid="4" name="KSORubyTemplateID">
    <vt:lpwstr>8</vt:lpwstr>
  </property>
</Properties>
</file>